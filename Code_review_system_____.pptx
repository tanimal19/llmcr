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143000" y="1047750"/>
            <a:ext cx="5205107" cy="300038"/>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8A8A86"/>
                </a:solidFill>
                <a:latin typeface="Helvetica" pitchFamily="34" charset="0"/>
                <a:ea typeface="Helvetica" pitchFamily="34" charset="-122"/>
                <a:cs typeface="Helvetica" pitchFamily="34" charset="-120"/>
              </a:rPr>
              <a:t>RESEARCH REPORT · JULY 2026</a:t>
            </a:r>
            <a:endParaRPr lang="en-US" sz="1800" dirty="0"/>
          </a:p>
        </p:txBody>
      </p:sp>
      <p:sp>
        <p:nvSpPr>
          <p:cNvPr id="3" name="Text 1"/>
          <p:cNvSpPr/>
          <p:nvPr/>
        </p:nvSpPr>
        <p:spPr>
          <a:xfrm>
            <a:off x="1143000" y="3170932"/>
            <a:ext cx="15304770" cy="1630561"/>
          </a:xfrm>
          <a:prstGeom prst="rect">
            <a:avLst/>
          </a:prstGeom>
          <a:noFill/>
          <a:ln/>
        </p:spPr>
        <p:txBody>
          <a:bodyPr wrap="square" lIns="25400" tIns="25400" rIns="25400" bIns="25400" rtlCol="0" anchor="t">
            <a:normAutofit/>
          </a:bodyPr>
          <a:lstStyle/>
          <a:p>
            <a:pPr algn="l" indent="0" marL="0">
              <a:lnSpc>
                <a:spcPct val="110000"/>
              </a:lnSpc>
              <a:buNone/>
            </a:pPr>
            <a:r>
              <a:rPr lang="en-US" sz="5700" b="1" spc="-85" kern="0" dirty="0">
                <a:solidFill>
                  <a:srgbClr val="141414"/>
                </a:solidFill>
                <a:latin typeface="Helvetica" pitchFamily="34" charset="0"/>
                <a:ea typeface="Helvetica" pitchFamily="34" charset="-122"/>
                <a:cs typeface="Helvetica" pitchFamily="34" charset="-120"/>
              </a:rPr>
              <a:t>Cultivar: A Decision-Model-Grounded, Multi-Agent Code Review System</a:t>
            </a:r>
            <a:endParaRPr lang="en-US" sz="5700" dirty="0"/>
          </a:p>
        </p:txBody>
      </p:sp>
      <p:sp>
        <p:nvSpPr>
          <p:cNvPr id="4" name="Shape 2"/>
          <p:cNvSpPr/>
          <p:nvPr/>
        </p:nvSpPr>
        <p:spPr>
          <a:xfrm>
            <a:off x="1143000" y="5106293"/>
            <a:ext cx="1619250" cy="28575"/>
          </a:xfrm>
          <a:prstGeom prst="rect">
            <a:avLst/>
          </a:prstGeom>
          <a:solidFill>
            <a:srgbClr val="141414"/>
          </a:solidFill>
          <a:ln/>
        </p:spPr>
      </p:sp>
      <p:sp>
        <p:nvSpPr>
          <p:cNvPr id="5" name="Text 3"/>
          <p:cNvSpPr/>
          <p:nvPr/>
        </p:nvSpPr>
        <p:spPr>
          <a:xfrm>
            <a:off x="1143000" y="5477768"/>
            <a:ext cx="13735050" cy="1866900"/>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55554F"/>
                </a:solidFill>
                <a:latin typeface="Helvetica" pitchFamily="34" charset="0"/>
                <a:ea typeface="Helvetica" pitchFamily="34" charset="-122"/>
                <a:cs typeface="Helvetica" pitchFamily="34" charset="-120"/>
              </a:rPr>
              <a:t>System design for automated code review with a small language model (8B), in which the architecture is derived from a cognitive model of human review decisions, and project-specific review judgment is acquired through reinforcement learning from AI feedback (RLAIF) over the project's review history.</a:t>
            </a:r>
            <a:endParaRPr lang="en-US" sz="2400" dirty="0"/>
          </a:p>
        </p:txBody>
      </p:sp>
      <p:sp>
        <p:nvSpPr>
          <p:cNvPr id="6" name="Text 4"/>
          <p:cNvSpPr/>
          <p:nvPr/>
        </p:nvSpPr>
        <p:spPr>
          <a:xfrm>
            <a:off x="1143000" y="9167813"/>
            <a:ext cx="253465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8A8A86"/>
                </a:solidFill>
                <a:latin typeface="Helvetica" pitchFamily="34" charset="0"/>
                <a:ea typeface="Helvetica" pitchFamily="34" charset="-122"/>
                <a:cs typeface="Helvetica" pitchFamily="34" charset="-120"/>
              </a:rPr>
              <a:t>Your Name · Institution</a:t>
            </a:r>
            <a:endParaRPr lang="en-US" sz="1800" dirty="0"/>
          </a:p>
        </p:txBody>
      </p:sp>
      <p:sp>
        <p:nvSpPr>
          <p:cNvPr id="7" name="Text 5"/>
          <p:cNvSpPr/>
          <p:nvPr/>
        </p:nvSpPr>
        <p:spPr>
          <a:xfrm>
            <a:off x="3828231" y="9167813"/>
            <a:ext cx="4514984" cy="300038"/>
          </a:xfrm>
          <a:prstGeom prst="rect">
            <a:avLst/>
          </a:prstGeom>
          <a:noFill/>
          <a:ln/>
        </p:spPr>
        <p:txBody>
          <a:bodyPr wrap="square" lIns="25400" tIns="25400" rIns="25400" bIns="25400" rtlCol="0" anchor="t">
            <a:normAutofit/>
          </a:bodyPr>
          <a:lstStyle/>
          <a:p>
            <a:pPr algn="l" indent="0" marL="0">
              <a:buNone/>
            </a:pPr>
            <a:r>
              <a:rPr lang="en-US" sz="1800" dirty="0">
                <a:solidFill>
                  <a:srgbClr val="8A8A86"/>
                </a:solidFill>
                <a:latin typeface="Helvetica" pitchFamily="34" charset="0"/>
                <a:ea typeface="Helvetica" pitchFamily="34" charset="-122"/>
                <a:cs typeface="Helvetica" pitchFamily="34" charset="-120"/>
              </a:rPr>
              <a:t>Based on design document Cultivar v2.1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410562"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INTRODUCTION</a:t>
            </a:r>
            <a:endParaRPr lang="en-US" sz="1800" dirty="0"/>
          </a:p>
        </p:txBody>
      </p:sp>
      <p:sp>
        <p:nvSpPr>
          <p:cNvPr id="3" name="Text 1"/>
          <p:cNvSpPr/>
          <p:nvPr/>
        </p:nvSpPr>
        <p:spPr>
          <a:xfrm>
            <a:off x="1047750" y="1252538"/>
            <a:ext cx="5568791"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Problem Statement</a:t>
            </a:r>
            <a:endParaRPr lang="en-US" sz="4500" dirty="0"/>
          </a:p>
        </p:txBody>
      </p:sp>
      <p:sp>
        <p:nvSpPr>
          <p:cNvPr id="4" name="Text 2"/>
          <p:cNvSpPr/>
          <p:nvPr/>
        </p:nvSpPr>
        <p:spPr>
          <a:xfrm>
            <a:off x="1047750" y="2593628"/>
            <a:ext cx="15304770"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41414"/>
                </a:solidFill>
                <a:latin typeface="Helvetica" pitchFamily="34" charset="0"/>
                <a:ea typeface="Helvetica" pitchFamily="34" charset="-122"/>
                <a:cs typeface="Helvetica" pitchFamily="34" charset="-120"/>
              </a:rPr>
              <a:t>Research question: how can an LLM acquire the project-specific expertise that code review requires?</a:t>
            </a:r>
            <a:endParaRPr lang="en-US" sz="2550" dirty="0"/>
          </a:p>
        </p:txBody>
      </p:sp>
      <p:sp>
        <p:nvSpPr>
          <p:cNvPr id="5" name="Text 3"/>
          <p:cNvSpPr/>
          <p:nvPr/>
        </p:nvSpPr>
        <p:spPr>
          <a:xfrm>
            <a:off x="1047750" y="4019401"/>
            <a:ext cx="49530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41414"/>
                </a:solidFill>
                <a:latin typeface="Helvetica" pitchFamily="34" charset="0"/>
                <a:ea typeface="Helvetica" pitchFamily="34" charset="-122"/>
                <a:cs typeface="Helvetica" pitchFamily="34" charset="-120"/>
              </a:rPr>
              <a:t>1.</a:t>
            </a:r>
            <a:endParaRPr lang="en-US" sz="2100" dirty="0"/>
          </a:p>
        </p:txBody>
      </p:sp>
      <p:sp>
        <p:nvSpPr>
          <p:cNvPr id="6" name="Text 4"/>
          <p:cNvSpPr/>
          <p:nvPr/>
        </p:nvSpPr>
        <p:spPr>
          <a:xfrm>
            <a:off x="1714500" y="3957489"/>
            <a:ext cx="15010447" cy="1281113"/>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141414"/>
                </a:solidFill>
                <a:latin typeface="Helvetica" pitchFamily="34" charset="0"/>
                <a:ea typeface="Helvetica" pitchFamily="34" charset="-122"/>
                <a:cs typeface="Helvetica" pitchFamily="34" charset="-120"/>
              </a:rPr>
              <a:t>Code review depends on project-specific judgment: what counts as an issue in this codebase, which conventions the team actually follows, when a plausible-looking finding is a false positive. This information is largely tacit — it is not written in any document that could be retrieved.</a:t>
            </a:r>
            <a:endParaRPr lang="en-US" sz="2175" dirty="0"/>
          </a:p>
        </p:txBody>
      </p:sp>
      <p:sp>
        <p:nvSpPr>
          <p:cNvPr id="7" name="Text 5"/>
          <p:cNvSpPr/>
          <p:nvPr/>
        </p:nvSpPr>
        <p:spPr>
          <a:xfrm>
            <a:off x="1047750" y="5548164"/>
            <a:ext cx="49530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41414"/>
                </a:solidFill>
                <a:latin typeface="Helvetica" pitchFamily="34" charset="0"/>
                <a:ea typeface="Helvetica" pitchFamily="34" charset="-122"/>
                <a:cs typeface="Helvetica" pitchFamily="34" charset="-120"/>
              </a:rPr>
              <a:t>2.</a:t>
            </a:r>
            <a:endParaRPr lang="en-US" sz="2100" dirty="0"/>
          </a:p>
        </p:txBody>
      </p:sp>
      <p:sp>
        <p:nvSpPr>
          <p:cNvPr id="8" name="Text 6"/>
          <p:cNvSpPr/>
          <p:nvPr/>
        </p:nvSpPr>
        <p:spPr>
          <a:xfrm>
            <a:off x="1714500" y="5486251"/>
            <a:ext cx="15010447" cy="1281113"/>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141414"/>
                </a:solidFill>
                <a:latin typeface="Helvetica" pitchFamily="34" charset="0"/>
                <a:ea typeface="Helvetica" pitchFamily="34" charset="-122"/>
                <a:cs typeface="Helvetica" pitchFamily="34" charset="-120"/>
              </a:rPr>
              <a:t>The same limitation is observed in humans: experienced programmers need up to a year to review effectively in a new codebase. General code comprehension transfers between projects; the accumulated index of project-specific patterns does not (Heander et al. 2025).</a:t>
            </a:r>
            <a:endParaRPr lang="en-US" sz="2175" dirty="0"/>
          </a:p>
        </p:txBody>
      </p:sp>
      <p:sp>
        <p:nvSpPr>
          <p:cNvPr id="9" name="Text 7"/>
          <p:cNvSpPr/>
          <p:nvPr/>
        </p:nvSpPr>
        <p:spPr>
          <a:xfrm>
            <a:off x="1047750" y="7076926"/>
            <a:ext cx="49530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41414"/>
                </a:solidFill>
                <a:latin typeface="Helvetica" pitchFamily="34" charset="0"/>
                <a:ea typeface="Helvetica" pitchFamily="34" charset="-122"/>
                <a:cs typeface="Helvetica" pitchFamily="34" charset="-120"/>
              </a:rPr>
              <a:t>3.</a:t>
            </a:r>
            <a:endParaRPr lang="en-US" sz="2100" dirty="0"/>
          </a:p>
        </p:txBody>
      </p:sp>
      <p:sp>
        <p:nvSpPr>
          <p:cNvPr id="10" name="Text 8"/>
          <p:cNvSpPr/>
          <p:nvPr/>
        </p:nvSpPr>
        <p:spPr>
          <a:xfrm>
            <a:off x="1714500" y="7015014"/>
            <a:ext cx="15010447" cy="866775"/>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141414"/>
                </a:solidFill>
                <a:latin typeface="Helvetica" pitchFamily="34" charset="0"/>
                <a:ea typeface="Helvetica" pitchFamily="34" charset="-122"/>
                <a:cs typeface="Helvetica" pitchFamily="34" charset="-120"/>
              </a:rPr>
              <a:t>The question therefore decomposes into two parts: (a) what kinds of information and skill does an expert reviewer use, and (b) through which mechanism should each kind enter an automated system.</a:t>
            </a:r>
            <a:endParaRPr lang="en-US" sz="2175" dirty="0"/>
          </a:p>
        </p:txBody>
      </p:sp>
      <p:sp>
        <p:nvSpPr>
          <p:cNvPr id="11" name="Shape 9"/>
          <p:cNvSpPr/>
          <p:nvPr/>
        </p:nvSpPr>
        <p:spPr>
          <a:xfrm>
            <a:off x="1047750" y="8338989"/>
            <a:ext cx="15925800" cy="1690688"/>
          </a:xfrm>
          <a:prstGeom prst="rect">
            <a:avLst/>
          </a:prstGeom>
          <a:ln w="19050">
            <a:solidFill>
              <a:srgbClr val="141414"/>
            </a:solidFill>
            <a:prstDash val="solid"/>
          </a:ln>
        </p:spPr>
      </p:sp>
      <p:sp>
        <p:nvSpPr>
          <p:cNvPr id="12" name="Text 10"/>
          <p:cNvSpPr/>
          <p:nvPr/>
        </p:nvSpPr>
        <p:spPr>
          <a:xfrm>
            <a:off x="1390650" y="8605689"/>
            <a:ext cx="15717774" cy="1195388"/>
          </a:xfrm>
          <a:prstGeom prst="rect">
            <a:avLst/>
          </a:prstGeom>
          <a:noFill/>
          <a:ln/>
        </p:spPr>
        <p:txBody>
          <a:bodyPr wrap="square" lIns="25400" tIns="25400" rIns="25400" bIns="25400" rtlCol="0" anchor="t">
            <a:normAutofit/>
          </a:bodyPr>
          <a:lstStyle/>
          <a:p>
            <a:pPr algn="l" indent="0" marL="0">
              <a:lnSpc>
                <a:spcPct val="150000"/>
              </a:lnSpc>
              <a:buNone/>
            </a:pPr>
            <a:r>
              <a:rPr lang="en-US" sz="2025" b="1" dirty="0">
                <a:solidFill>
                  <a:srgbClr val="141414"/>
                </a:solidFill>
                <a:latin typeface="Helvetica" pitchFamily="34" charset="0"/>
                <a:ea typeface="Helvetica" pitchFamily="34" charset="-122"/>
                <a:cs typeface="Helvetica" pitchFamily="34" charset="-120"/>
              </a:rPr>
              <a:t>Approach. </a:t>
            </a:r>
            <a:pPr algn="l" indent="0" marL="0">
              <a:lnSpc>
                <a:spcPct val="150000"/>
              </a:lnSpc>
              <a:buNone/>
            </a:pPr>
            <a:r>
              <a:rPr lang="en-US" sz="2025" dirty="0">
                <a:solidFill>
                  <a:srgbClr val="141414"/>
                </a:solidFill>
                <a:latin typeface="Helvetica" pitchFamily="34" charset="0"/>
                <a:ea typeface="Helvetica" pitchFamily="34" charset="-122"/>
                <a:cs typeface="Helvetica" pitchFamily="34" charset="-120"/>
              </a:rPr>
              <a:t>The architecture is derived from the CRDM model of human review decisions (Part 1–2). Factual knowledge is supplied by retrieval, the review procedure is implemented as fixed program logic, and review judgment is trained into per-project LoRA weights by RLAIF over replayed historical review episodes (Part 3). Evaluation and guardrails are described in Part 4.</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3852863"/>
            <a:ext cx="2229170" cy="323850"/>
          </a:xfrm>
          <a:prstGeom prst="rect">
            <a:avLst/>
          </a:prstGeom>
          <a:noFill/>
          <a:ln/>
        </p:spPr>
        <p:txBody>
          <a:bodyPr wrap="square" lIns="25400" tIns="25400" rIns="25400" bIns="25400" rtlCol="0" anchor="t">
            <a:normAutofit/>
          </a:bodyPr>
          <a:lstStyle/>
          <a:p>
            <a:pPr algn="l" indent="0" marL="0">
              <a:buNone/>
            </a:pPr>
            <a:r>
              <a:rPr lang="en-US" sz="1950" b="1" spc="390" kern="0" dirty="0">
                <a:solidFill>
                  <a:srgbClr val="8A8A86"/>
                </a:solidFill>
                <a:latin typeface="Helvetica" pitchFamily="34" charset="0"/>
                <a:ea typeface="Helvetica" pitchFamily="34" charset="-122"/>
                <a:cs typeface="Helvetica" pitchFamily="34" charset="-120"/>
              </a:rPr>
              <a:t>PART 1 OF 4</a:t>
            </a:r>
            <a:endParaRPr lang="en-US" sz="1950" dirty="0"/>
          </a:p>
        </p:txBody>
      </p:sp>
      <p:sp>
        <p:nvSpPr>
          <p:cNvPr id="3" name="Text 1"/>
          <p:cNvSpPr/>
          <p:nvPr/>
        </p:nvSpPr>
        <p:spPr>
          <a:xfrm>
            <a:off x="1143000" y="4424363"/>
            <a:ext cx="11098537" cy="878160"/>
          </a:xfrm>
          <a:prstGeom prst="rect">
            <a:avLst/>
          </a:prstGeom>
          <a:noFill/>
          <a:ln/>
        </p:spPr>
        <p:txBody>
          <a:bodyPr wrap="square" lIns="25400" tIns="25400" rIns="25400" bIns="25400" rtlCol="0" anchor="t">
            <a:normAutofit/>
          </a:bodyPr>
          <a:lstStyle/>
          <a:p>
            <a:pPr algn="l" indent="0" marL="0">
              <a:lnSpc>
                <a:spcPct val="105000"/>
              </a:lnSpc>
              <a:buNone/>
            </a:pPr>
            <a:r>
              <a:rPr lang="en-US" sz="6300" b="1" spc="-126" kern="0" dirty="0">
                <a:solidFill>
                  <a:srgbClr val="FDFDFB"/>
                </a:solidFill>
                <a:latin typeface="Helvetica" pitchFamily="34" charset="0"/>
                <a:ea typeface="Helvetica" pitchFamily="34" charset="-122"/>
                <a:cs typeface="Helvetica" pitchFamily="34" charset="-120"/>
              </a:rPr>
              <a:t>Decision-Model Foundation</a:t>
            </a:r>
            <a:endParaRPr lang="en-US" sz="6300" dirty="0"/>
          </a:p>
        </p:txBody>
      </p:sp>
      <p:sp>
        <p:nvSpPr>
          <p:cNvPr id="4" name="Text 2"/>
          <p:cNvSpPr/>
          <p:nvPr/>
        </p:nvSpPr>
        <p:spPr>
          <a:xfrm>
            <a:off x="1143000" y="5550173"/>
            <a:ext cx="12753975" cy="921990"/>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B9B8B2"/>
                </a:solidFill>
                <a:latin typeface="Helvetica" pitchFamily="34" charset="0"/>
                <a:ea typeface="Helvetica" pitchFamily="34" charset="-122"/>
                <a:cs typeface="Helvetica" pitchFamily="34" charset="-120"/>
              </a:rPr>
              <a:t>The CRDM model of code review, its RPD basis, and the three design principles derived from it.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57042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FOUNDATION · 1</a:t>
            </a:r>
            <a:endParaRPr lang="en-US" sz="1800" dirty="0"/>
          </a:p>
        </p:txBody>
      </p:sp>
      <p:sp>
        <p:nvSpPr>
          <p:cNvPr id="3" name="Text 1"/>
          <p:cNvSpPr/>
          <p:nvPr/>
        </p:nvSpPr>
        <p:spPr>
          <a:xfrm>
            <a:off x="1047750" y="1252538"/>
            <a:ext cx="9750623"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The CRDM Model of Code Review</a:t>
            </a:r>
            <a:endParaRPr lang="en-US" sz="4500" dirty="0"/>
          </a:p>
        </p:txBody>
      </p:sp>
      <p:sp>
        <p:nvSpPr>
          <p:cNvPr id="4" name="Text 2"/>
          <p:cNvSpPr/>
          <p:nvPr/>
        </p:nvSpPr>
        <p:spPr>
          <a:xfrm>
            <a:off x="1047750" y="2555528"/>
            <a:ext cx="15697200" cy="811411"/>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141414"/>
                </a:solidFill>
                <a:latin typeface="Helvetica" pitchFamily="34" charset="0"/>
                <a:ea typeface="Helvetica" pitchFamily="34" charset="-122"/>
                <a:cs typeface="Helvetica" pitchFamily="34" charset="-120"/>
              </a:rPr>
              <a:t>CRDM (Heander, Söderberg &amp; Rydenfält 2025, arXiv:2507.09637) is derived from a think-aloud study of 10 reviewers performing 34 reviews. It describes review as two phases with different dynamics.</a:t>
            </a:r>
            <a:endParaRPr lang="en-US" sz="2100" dirty="0"/>
          </a:p>
        </p:txBody>
      </p:sp>
      <p:sp>
        <p:nvSpPr>
          <p:cNvPr id="5" name="Shape 3"/>
          <p:cNvSpPr/>
          <p:nvPr/>
        </p:nvSpPr>
        <p:spPr>
          <a:xfrm>
            <a:off x="1047750" y="3709839"/>
            <a:ext cx="6744444" cy="5084118"/>
          </a:xfrm>
          <a:prstGeom prst="rect">
            <a:avLst/>
          </a:prstGeom>
          <a:ln w="19050">
            <a:solidFill>
              <a:srgbClr val="141414"/>
            </a:solidFill>
            <a:prstDash val="solid"/>
          </a:ln>
        </p:spPr>
      </p:sp>
      <p:sp>
        <p:nvSpPr>
          <p:cNvPr id="6" name="Text 4"/>
          <p:cNvSpPr/>
          <p:nvPr/>
        </p:nvSpPr>
        <p:spPr>
          <a:xfrm>
            <a:off x="1390650" y="4014639"/>
            <a:ext cx="6664509" cy="323850"/>
          </a:xfrm>
          <a:prstGeom prst="rect">
            <a:avLst/>
          </a:prstGeom>
          <a:noFill/>
          <a:ln/>
        </p:spPr>
        <p:txBody>
          <a:bodyPr wrap="square" lIns="25400" tIns="25400" rIns="25400" bIns="25400" rtlCol="0" anchor="t">
            <a:normAutofit/>
          </a:bodyPr>
          <a:lstStyle/>
          <a:p>
            <a:pPr algn="l" indent="0" marL="0">
              <a:buNone/>
            </a:pPr>
            <a:r>
              <a:rPr lang="en-US" sz="1950" b="1" spc="156" kern="0" dirty="0">
                <a:solidFill>
                  <a:srgbClr val="141414"/>
                </a:solidFill>
                <a:latin typeface="Helvetica" pitchFamily="34" charset="0"/>
                <a:ea typeface="Helvetica" pitchFamily="34" charset="-122"/>
                <a:cs typeface="Helvetica" pitchFamily="34" charset="-120"/>
              </a:rPr>
              <a:t>ORIENTATION PHASE</a:t>
            </a:r>
            <a:endParaRPr lang="en-US" sz="1950" dirty="0"/>
          </a:p>
        </p:txBody>
      </p:sp>
      <p:sp>
        <p:nvSpPr>
          <p:cNvPr id="7" name="Text 5"/>
          <p:cNvSpPr/>
          <p:nvPr/>
        </p:nvSpPr>
        <p:spPr>
          <a:xfrm>
            <a:off x="1390650" y="4471839"/>
            <a:ext cx="6664509" cy="300038"/>
          </a:xfrm>
          <a:prstGeom prst="rect">
            <a:avLst/>
          </a:prstGeom>
          <a:noFill/>
          <a:ln/>
        </p:spPr>
        <p:txBody>
          <a:bodyPr wrap="square" lIns="25400" tIns="25400" rIns="25400" bIns="25400" rtlCol="0" anchor="t">
            <a:normAutofit/>
          </a:bodyPr>
          <a:lstStyle/>
          <a:p>
            <a:pPr algn="l" indent="0" marL="0">
              <a:buNone/>
            </a:pPr>
            <a:r>
              <a:rPr lang="en-US" sz="1800" dirty="0">
                <a:solidFill>
                  <a:srgbClr val="8A8A86"/>
                </a:solidFill>
                <a:latin typeface="Helvetica" pitchFamily="34" charset="0"/>
                <a:ea typeface="Helvetica" pitchFamily="34" charset="-122"/>
                <a:cs typeface="Helvetica" pitchFamily="34" charset="-120"/>
              </a:rPr>
              <a:t>linear · ~27% of reviewer questions</a:t>
            </a:r>
            <a:endParaRPr lang="en-US" sz="1800" dirty="0"/>
          </a:p>
        </p:txBody>
      </p:sp>
      <p:sp>
        <p:nvSpPr>
          <p:cNvPr id="8" name="Shape 6"/>
          <p:cNvSpPr/>
          <p:nvPr/>
        </p:nvSpPr>
        <p:spPr>
          <a:xfrm>
            <a:off x="1390650" y="4905226"/>
            <a:ext cx="6058644" cy="591443"/>
          </a:xfrm>
          <a:prstGeom prst="rect">
            <a:avLst/>
          </a:prstGeom>
          <a:ln w="14288">
            <a:solidFill>
              <a:srgbClr val="55554F"/>
            </a:solidFill>
            <a:prstDash val="solid"/>
          </a:ln>
        </p:spPr>
      </p:sp>
      <p:sp>
        <p:nvSpPr>
          <p:cNvPr id="9" name="Text 7"/>
          <p:cNvSpPr/>
          <p:nvPr/>
        </p:nvSpPr>
        <p:spPr>
          <a:xfrm>
            <a:off x="1576388" y="5033814"/>
            <a:ext cx="5868928"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141414"/>
                </a:solidFill>
                <a:latin typeface="Helvetica" pitchFamily="34" charset="0"/>
                <a:ea typeface="Helvetica" pitchFamily="34" charset="-122"/>
                <a:cs typeface="Helvetica" pitchFamily="34" charset="-120"/>
              </a:rPr>
              <a:t>Selecting a review task</a:t>
            </a:r>
            <a:endParaRPr lang="en-US" sz="1950" dirty="0"/>
          </a:p>
        </p:txBody>
      </p:sp>
      <p:sp>
        <p:nvSpPr>
          <p:cNvPr id="10" name="Text 8"/>
          <p:cNvSpPr/>
          <p:nvPr/>
        </p:nvSpPr>
        <p:spPr>
          <a:xfrm>
            <a:off x="1087718" y="5591919"/>
            <a:ext cx="6664509" cy="346695"/>
          </a:xfrm>
          <a:prstGeom prst="rect">
            <a:avLst/>
          </a:prstGeom>
          <a:noFill/>
          <a:ln/>
        </p:spPr>
        <p:txBody>
          <a:bodyPr wrap="square" lIns="25400" tIns="25400" rIns="25400" bIns="25400" rtlCol="0" anchor="t">
            <a:normAutofit/>
          </a:bodyPr>
          <a:lstStyle/>
          <a:p>
            <a:pPr algn="ctr" indent="0" marL="0">
              <a:lnSpc>
                <a:spcPct val="135000"/>
              </a:lnSpc>
              <a:buNone/>
            </a:pPr>
            <a:r>
              <a:rPr lang="en-US" sz="1800" dirty="0">
                <a:solidFill>
                  <a:srgbClr val="8A8A86"/>
                </a:solidFill>
                <a:latin typeface="Helvetica" pitchFamily="34" charset="0"/>
                <a:ea typeface="Helvetica" pitchFamily="34" charset="-122"/>
                <a:cs typeface="Helvetica" pitchFamily="34" charset="-120"/>
              </a:rPr>
              <a:t>▼</a:t>
            </a:r>
            <a:endParaRPr lang="en-US" sz="1800" dirty="0"/>
          </a:p>
        </p:txBody>
      </p:sp>
      <p:sp>
        <p:nvSpPr>
          <p:cNvPr id="11" name="Shape 9"/>
          <p:cNvSpPr/>
          <p:nvPr/>
        </p:nvSpPr>
        <p:spPr>
          <a:xfrm>
            <a:off x="1390650" y="5995764"/>
            <a:ext cx="6058644" cy="591443"/>
          </a:xfrm>
          <a:prstGeom prst="rect">
            <a:avLst/>
          </a:prstGeom>
          <a:ln w="14288">
            <a:solidFill>
              <a:srgbClr val="55554F"/>
            </a:solidFill>
            <a:prstDash val="solid"/>
          </a:ln>
        </p:spPr>
      </p:sp>
      <p:sp>
        <p:nvSpPr>
          <p:cNvPr id="12" name="Text 10"/>
          <p:cNvSpPr/>
          <p:nvPr/>
        </p:nvSpPr>
        <p:spPr>
          <a:xfrm>
            <a:off x="1576388" y="6124352"/>
            <a:ext cx="5868928"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141414"/>
                </a:solidFill>
                <a:latin typeface="Helvetica" pitchFamily="34" charset="0"/>
                <a:ea typeface="Helvetica" pitchFamily="34" charset="-122"/>
                <a:cs typeface="Helvetica" pitchFamily="34" charset="-120"/>
              </a:rPr>
              <a:t>Understanding context </a:t>
            </a:r>
            <a:pPr algn="l" indent="0" marL="0">
              <a:lnSpc>
                <a:spcPct val="135000"/>
              </a:lnSpc>
              <a:buNone/>
            </a:pPr>
            <a:r>
              <a:rPr lang="en-US" sz="1725" dirty="0">
                <a:solidFill>
                  <a:srgbClr val="8A8A86"/>
                </a:solidFill>
                <a:latin typeface="Helvetica" pitchFamily="34" charset="0"/>
                <a:ea typeface="Helvetica" pitchFamily="34" charset="-122"/>
                <a:cs typeface="Helvetica" pitchFamily="34" charset="-120"/>
              </a:rPr>
              <a:t>(author, repo, change type)</a:t>
            </a:r>
            <a:endParaRPr lang="en-US" sz="1950" dirty="0"/>
          </a:p>
        </p:txBody>
      </p:sp>
      <p:sp>
        <p:nvSpPr>
          <p:cNvPr id="13" name="Text 11"/>
          <p:cNvSpPr/>
          <p:nvPr/>
        </p:nvSpPr>
        <p:spPr>
          <a:xfrm>
            <a:off x="1087718" y="6682457"/>
            <a:ext cx="6664509" cy="346695"/>
          </a:xfrm>
          <a:prstGeom prst="rect">
            <a:avLst/>
          </a:prstGeom>
          <a:noFill/>
          <a:ln/>
        </p:spPr>
        <p:txBody>
          <a:bodyPr wrap="square" lIns="25400" tIns="25400" rIns="25400" bIns="25400" rtlCol="0" anchor="t">
            <a:normAutofit/>
          </a:bodyPr>
          <a:lstStyle/>
          <a:p>
            <a:pPr algn="ctr" indent="0" marL="0">
              <a:lnSpc>
                <a:spcPct val="135000"/>
              </a:lnSpc>
              <a:buNone/>
            </a:pPr>
            <a:r>
              <a:rPr lang="en-US" sz="1800" dirty="0">
                <a:solidFill>
                  <a:srgbClr val="8A8A86"/>
                </a:solidFill>
                <a:latin typeface="Helvetica" pitchFamily="34" charset="0"/>
                <a:ea typeface="Helvetica" pitchFamily="34" charset="-122"/>
                <a:cs typeface="Helvetica" pitchFamily="34" charset="-120"/>
              </a:rPr>
              <a:t>▼</a:t>
            </a:r>
            <a:endParaRPr lang="en-US" sz="1800" dirty="0"/>
          </a:p>
        </p:txBody>
      </p:sp>
      <p:sp>
        <p:nvSpPr>
          <p:cNvPr id="14" name="Shape 12"/>
          <p:cNvSpPr/>
          <p:nvPr/>
        </p:nvSpPr>
        <p:spPr>
          <a:xfrm>
            <a:off x="1390650" y="7086302"/>
            <a:ext cx="6058644" cy="591443"/>
          </a:xfrm>
          <a:prstGeom prst="rect">
            <a:avLst/>
          </a:prstGeom>
          <a:ln w="14288">
            <a:solidFill>
              <a:srgbClr val="55554F"/>
            </a:solidFill>
            <a:prstDash val="solid"/>
          </a:ln>
        </p:spPr>
      </p:sp>
      <p:sp>
        <p:nvSpPr>
          <p:cNvPr id="15" name="Text 13"/>
          <p:cNvSpPr/>
          <p:nvPr/>
        </p:nvSpPr>
        <p:spPr>
          <a:xfrm>
            <a:off x="1576388" y="7214890"/>
            <a:ext cx="5868928"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141414"/>
                </a:solidFill>
                <a:latin typeface="Helvetica" pitchFamily="34" charset="0"/>
                <a:ea typeface="Helvetica" pitchFamily="34" charset="-122"/>
                <a:cs typeface="Helvetica" pitchFamily="34" charset="-120"/>
              </a:rPr>
              <a:t>Understanding rationale </a:t>
            </a:r>
            <a:pPr algn="l" indent="0" marL="0">
              <a:lnSpc>
                <a:spcPct val="135000"/>
              </a:lnSpc>
              <a:buNone/>
            </a:pPr>
            <a:r>
              <a:rPr lang="en-US" sz="1725" dirty="0">
                <a:solidFill>
                  <a:srgbClr val="8A8A86"/>
                </a:solidFill>
                <a:latin typeface="Helvetica" pitchFamily="34" charset="0"/>
                <a:ea typeface="Helvetica" pitchFamily="34" charset="-122"/>
                <a:cs typeface="Helvetica" pitchFamily="34" charset="-120"/>
              </a:rPr>
              <a:t>(what the PR does and why)</a:t>
            </a:r>
            <a:endParaRPr lang="en-US" sz="1950" dirty="0"/>
          </a:p>
        </p:txBody>
      </p:sp>
      <p:sp>
        <p:nvSpPr>
          <p:cNvPr id="16" name="Text 14"/>
          <p:cNvSpPr/>
          <p:nvPr/>
        </p:nvSpPr>
        <p:spPr>
          <a:xfrm>
            <a:off x="1390650" y="7849195"/>
            <a:ext cx="624040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5554F"/>
                </a:solidFill>
                <a:latin typeface="Helvetica" pitchFamily="34" charset="0"/>
                <a:ea typeface="Helvetica" pitchFamily="34" charset="-122"/>
                <a:cs typeface="Helvetica" pitchFamily="34" charset="-120"/>
              </a:rPr>
              <a:t>Output, in RPD terms: expectancies, plausible goals, plausible actions.</a:t>
            </a:r>
            <a:endParaRPr lang="en-US" sz="1800" dirty="0"/>
          </a:p>
        </p:txBody>
      </p:sp>
      <p:sp>
        <p:nvSpPr>
          <p:cNvPr id="17" name="Shape 15"/>
          <p:cNvSpPr/>
          <p:nvPr/>
        </p:nvSpPr>
        <p:spPr>
          <a:xfrm>
            <a:off x="8135094" y="3709839"/>
            <a:ext cx="9105156" cy="5084118"/>
          </a:xfrm>
          <a:prstGeom prst="rect">
            <a:avLst/>
          </a:prstGeom>
          <a:ln w="19050">
            <a:solidFill>
              <a:srgbClr val="141414"/>
            </a:solidFill>
            <a:prstDash val="solid"/>
          </a:ln>
        </p:spPr>
      </p:sp>
      <p:sp>
        <p:nvSpPr>
          <p:cNvPr id="18" name="Text 16"/>
          <p:cNvSpPr/>
          <p:nvPr/>
        </p:nvSpPr>
        <p:spPr>
          <a:xfrm>
            <a:off x="8477994" y="4014639"/>
            <a:ext cx="9261291" cy="323850"/>
          </a:xfrm>
          <a:prstGeom prst="rect">
            <a:avLst/>
          </a:prstGeom>
          <a:noFill/>
          <a:ln/>
        </p:spPr>
        <p:txBody>
          <a:bodyPr wrap="square" lIns="25400" tIns="25400" rIns="25400" bIns="25400" rtlCol="0" anchor="t">
            <a:normAutofit/>
          </a:bodyPr>
          <a:lstStyle/>
          <a:p>
            <a:pPr algn="l" indent="0" marL="0">
              <a:buNone/>
            </a:pPr>
            <a:r>
              <a:rPr lang="en-US" sz="1950" b="1" spc="156" kern="0" dirty="0">
                <a:solidFill>
                  <a:srgbClr val="141414"/>
                </a:solidFill>
                <a:latin typeface="Helvetica" pitchFamily="34" charset="0"/>
                <a:ea typeface="Helvetica" pitchFamily="34" charset="-122"/>
                <a:cs typeface="Helvetica" pitchFamily="34" charset="-120"/>
              </a:rPr>
              <a:t>ANALYTICAL PHASE</a:t>
            </a:r>
            <a:endParaRPr lang="en-US" sz="1950" dirty="0"/>
          </a:p>
        </p:txBody>
      </p:sp>
      <p:sp>
        <p:nvSpPr>
          <p:cNvPr id="19" name="Text 17"/>
          <p:cNvSpPr/>
          <p:nvPr/>
        </p:nvSpPr>
        <p:spPr>
          <a:xfrm>
            <a:off x="8477994" y="4471839"/>
            <a:ext cx="9261291" cy="300038"/>
          </a:xfrm>
          <a:prstGeom prst="rect">
            <a:avLst/>
          </a:prstGeom>
          <a:noFill/>
          <a:ln/>
        </p:spPr>
        <p:txBody>
          <a:bodyPr wrap="square" lIns="25400" tIns="25400" rIns="25400" bIns="25400" rtlCol="0" anchor="t">
            <a:normAutofit/>
          </a:bodyPr>
          <a:lstStyle/>
          <a:p>
            <a:pPr algn="l" indent="0" marL="0">
              <a:buNone/>
            </a:pPr>
            <a:r>
              <a:rPr lang="en-US" sz="1800" dirty="0">
                <a:solidFill>
                  <a:srgbClr val="8A8A86"/>
                </a:solidFill>
                <a:latin typeface="Helvetica" pitchFamily="34" charset="0"/>
                <a:ea typeface="Helvetica" pitchFamily="34" charset="-122"/>
                <a:cs typeface="Helvetica" pitchFamily="34" charset="-120"/>
              </a:rPr>
              <a:t>iterative · ~73% of reviewer questions</a:t>
            </a:r>
            <a:endParaRPr lang="en-US" sz="1800" dirty="0"/>
          </a:p>
        </p:txBody>
      </p:sp>
      <p:sp>
        <p:nvSpPr>
          <p:cNvPr id="20" name="Shape 18"/>
          <p:cNvSpPr/>
          <p:nvPr/>
        </p:nvSpPr>
        <p:spPr>
          <a:xfrm>
            <a:off x="8477994" y="4905226"/>
            <a:ext cx="4152528" cy="591443"/>
          </a:xfrm>
          <a:prstGeom prst="rect">
            <a:avLst/>
          </a:prstGeom>
          <a:ln w="14288">
            <a:solidFill>
              <a:srgbClr val="55554F"/>
            </a:solidFill>
            <a:prstDash val="solid"/>
          </a:ln>
        </p:spPr>
      </p:sp>
      <p:sp>
        <p:nvSpPr>
          <p:cNvPr id="21" name="Text 19"/>
          <p:cNvSpPr/>
          <p:nvPr/>
        </p:nvSpPr>
        <p:spPr>
          <a:xfrm>
            <a:off x="8663732" y="5033814"/>
            <a:ext cx="3905629"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141414"/>
                </a:solidFill>
                <a:latin typeface="Helvetica" pitchFamily="34" charset="0"/>
                <a:ea typeface="Helvetica" pitchFamily="34" charset="-122"/>
                <a:cs typeface="Helvetica" pitchFamily="34" charset="-120"/>
              </a:rPr>
              <a:t>Understanding implementation</a:t>
            </a:r>
            <a:endParaRPr lang="en-US" sz="1950" dirty="0"/>
          </a:p>
        </p:txBody>
      </p:sp>
      <p:sp>
        <p:nvSpPr>
          <p:cNvPr id="22" name="Shape 20"/>
          <p:cNvSpPr/>
          <p:nvPr/>
        </p:nvSpPr>
        <p:spPr>
          <a:xfrm>
            <a:off x="12744822" y="4905226"/>
            <a:ext cx="4152528" cy="591443"/>
          </a:xfrm>
          <a:prstGeom prst="rect">
            <a:avLst/>
          </a:prstGeom>
          <a:ln w="14288">
            <a:solidFill>
              <a:srgbClr val="55554F"/>
            </a:solidFill>
            <a:prstDash val="solid"/>
          </a:ln>
        </p:spPr>
      </p:sp>
      <p:sp>
        <p:nvSpPr>
          <p:cNvPr id="23" name="Text 21"/>
          <p:cNvSpPr/>
          <p:nvPr/>
        </p:nvSpPr>
        <p:spPr>
          <a:xfrm>
            <a:off x="12930560" y="5033814"/>
            <a:ext cx="3905629"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141414"/>
                </a:solidFill>
                <a:latin typeface="Helvetica" pitchFamily="34" charset="0"/>
                <a:ea typeface="Helvetica" pitchFamily="34" charset="-122"/>
                <a:cs typeface="Helvetica" pitchFamily="34" charset="-120"/>
              </a:rPr>
              <a:t>Assessing implementation</a:t>
            </a:r>
            <a:endParaRPr lang="en-US" sz="1950" dirty="0"/>
          </a:p>
        </p:txBody>
      </p:sp>
      <p:sp>
        <p:nvSpPr>
          <p:cNvPr id="24" name="Shape 22"/>
          <p:cNvSpPr/>
          <p:nvPr/>
        </p:nvSpPr>
        <p:spPr>
          <a:xfrm>
            <a:off x="8477994" y="5610969"/>
            <a:ext cx="4152528" cy="591443"/>
          </a:xfrm>
          <a:prstGeom prst="rect">
            <a:avLst/>
          </a:prstGeom>
          <a:ln w="14288">
            <a:solidFill>
              <a:srgbClr val="55554F"/>
            </a:solidFill>
            <a:prstDash val="solid"/>
          </a:ln>
        </p:spPr>
      </p:sp>
      <p:sp>
        <p:nvSpPr>
          <p:cNvPr id="25" name="Text 23"/>
          <p:cNvSpPr/>
          <p:nvPr/>
        </p:nvSpPr>
        <p:spPr>
          <a:xfrm>
            <a:off x="8663732" y="5739557"/>
            <a:ext cx="3905629"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141414"/>
                </a:solidFill>
                <a:latin typeface="Helvetica" pitchFamily="34" charset="0"/>
                <a:ea typeface="Helvetica" pitchFamily="34" charset="-122"/>
                <a:cs typeface="Helvetica" pitchFamily="34" charset="-120"/>
              </a:rPr>
              <a:t>Selecting next action</a:t>
            </a:r>
            <a:endParaRPr lang="en-US" sz="1950" dirty="0"/>
          </a:p>
        </p:txBody>
      </p:sp>
      <p:sp>
        <p:nvSpPr>
          <p:cNvPr id="26" name="Shape 24"/>
          <p:cNvSpPr/>
          <p:nvPr/>
        </p:nvSpPr>
        <p:spPr>
          <a:xfrm>
            <a:off x="12744822" y="5610969"/>
            <a:ext cx="4152528" cy="591443"/>
          </a:xfrm>
          <a:prstGeom prst="rect">
            <a:avLst/>
          </a:prstGeom>
          <a:ln w="14288">
            <a:solidFill>
              <a:srgbClr val="55554F"/>
            </a:solidFill>
            <a:prstDash val="solid"/>
          </a:ln>
        </p:spPr>
      </p:sp>
      <p:sp>
        <p:nvSpPr>
          <p:cNvPr id="27" name="Text 25"/>
          <p:cNvSpPr/>
          <p:nvPr/>
        </p:nvSpPr>
        <p:spPr>
          <a:xfrm>
            <a:off x="12930560" y="5739557"/>
            <a:ext cx="3905629"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141414"/>
                </a:solidFill>
                <a:latin typeface="Helvetica" pitchFamily="34" charset="0"/>
                <a:ea typeface="Helvetica" pitchFamily="34" charset="-122"/>
                <a:cs typeface="Helvetica" pitchFamily="34" charset="-120"/>
              </a:rPr>
              <a:t>Assessing change</a:t>
            </a:r>
            <a:endParaRPr lang="en-US" sz="1950" dirty="0"/>
          </a:p>
        </p:txBody>
      </p:sp>
      <p:sp>
        <p:nvSpPr>
          <p:cNvPr id="28" name="Text 26"/>
          <p:cNvSpPr/>
          <p:nvPr/>
        </p:nvSpPr>
        <p:spPr>
          <a:xfrm>
            <a:off x="8477994" y="6373862"/>
            <a:ext cx="8671937"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5554F"/>
                </a:solidFill>
                <a:latin typeface="Helvetica" pitchFamily="34" charset="0"/>
                <a:ea typeface="Helvetica" pitchFamily="34" charset="-122"/>
                <a:cs typeface="Helvetica" pitchFamily="34" charset="-120"/>
              </a:rPr>
              <a:t>A loop over the four themes, repeated until the reviewer decides to end the review, usually with a vote and a comment summary.</a:t>
            </a:r>
            <a:endParaRPr lang="en-US" sz="1800" dirty="0"/>
          </a:p>
        </p:txBody>
      </p:sp>
      <p:sp>
        <p:nvSpPr>
          <p:cNvPr id="29" name="Text 27"/>
          <p:cNvSpPr/>
          <p:nvPr/>
        </p:nvSpPr>
        <p:spPr>
          <a:xfrm>
            <a:off x="1047750" y="9155906"/>
            <a:ext cx="15697200" cy="809625"/>
          </a:xfrm>
          <a:prstGeom prst="rect">
            <a:avLst/>
          </a:prstGeom>
          <a:noFill/>
          <a:ln/>
        </p:spPr>
        <p:txBody>
          <a:bodyPr wrap="square" lIns="25400" tIns="25400" rIns="25400" bIns="25400" rtlCol="0" anchor="t">
            <a:normAutofit/>
          </a:bodyPr>
          <a:lstStyle/>
          <a:p>
            <a:pPr algn="l" indent="0" marL="0">
              <a:lnSpc>
                <a:spcPct val="150000"/>
              </a:lnSpc>
              <a:buNone/>
            </a:pPr>
            <a:r>
              <a:rPr lang="en-US" sz="2025" dirty="0">
                <a:solidFill>
                  <a:srgbClr val="141414"/>
                </a:solidFill>
                <a:latin typeface="Helvetica" pitchFamily="34" charset="0"/>
                <a:ea typeface="Helvetica" pitchFamily="34" charset="-122"/>
                <a:cs typeface="Helvetica" pitchFamily="34" charset="-120"/>
              </a:rPr>
              <a:t>The study observes that transitions from orientation to analysis are essentially one-way: reviewers rarely return to orientation once they leave it. This property is used directly in the pipeline design (P3, slide 7).</a:t>
            </a:r>
            <a:endParaRPr lang="en-US" sz="20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57042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FOUNDATION · 2</a:t>
            </a:r>
            <a:endParaRPr lang="en-US" sz="1800" dirty="0"/>
          </a:p>
        </p:txBody>
      </p:sp>
      <p:sp>
        <p:nvSpPr>
          <p:cNvPr id="3" name="Text 1"/>
          <p:cNvSpPr/>
          <p:nvPr/>
        </p:nvSpPr>
        <p:spPr>
          <a:xfrm>
            <a:off x="1047750" y="1252538"/>
            <a:ext cx="11701403"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The Recognition-Primed Decision Model</a:t>
            </a:r>
            <a:endParaRPr lang="en-US" sz="4500" dirty="0"/>
          </a:p>
        </p:txBody>
      </p:sp>
      <p:sp>
        <p:nvSpPr>
          <p:cNvPr id="4" name="Shape 2"/>
          <p:cNvSpPr/>
          <p:nvPr/>
        </p:nvSpPr>
        <p:spPr>
          <a:xfrm>
            <a:off x="1047750" y="2155478"/>
            <a:ext cx="16192500" cy="19050"/>
          </a:xfrm>
          <a:prstGeom prst="rect">
            <a:avLst/>
          </a:prstGeom>
          <a:solidFill>
            <a:srgbClr val="141414"/>
          </a:solidFill>
          <a:ln/>
        </p:spPr>
      </p:sp>
      <p:sp>
        <p:nvSpPr>
          <p:cNvPr id="5" name="Text 3"/>
          <p:cNvSpPr/>
          <p:nvPr/>
        </p:nvSpPr>
        <p:spPr>
          <a:xfrm>
            <a:off x="1047750" y="2574578"/>
            <a:ext cx="15697200"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41414"/>
                </a:solidFill>
                <a:latin typeface="Helvetica" pitchFamily="34" charset="0"/>
                <a:ea typeface="Helvetica" pitchFamily="34" charset="-122"/>
                <a:cs typeface="Helvetica" pitchFamily="34" charset="-120"/>
              </a:rPr>
              <a:t>CRDM maps review onto Klein's Recognition-Primed Decision (RPD) model of expert decision-making. Under RPD, experts do not enumerate and compare options. Instead:</a:t>
            </a:r>
            <a:endParaRPr lang="en-US" sz="2100" dirty="0"/>
          </a:p>
        </p:txBody>
      </p:sp>
      <p:sp>
        <p:nvSpPr>
          <p:cNvPr id="6" name="Shape 4"/>
          <p:cNvSpPr/>
          <p:nvPr/>
        </p:nvSpPr>
        <p:spPr>
          <a:xfrm>
            <a:off x="1047750" y="3793778"/>
            <a:ext cx="4348832" cy="1817191"/>
          </a:xfrm>
          <a:prstGeom prst="rect">
            <a:avLst/>
          </a:prstGeom>
          <a:ln w="19050">
            <a:solidFill>
              <a:srgbClr val="141414"/>
            </a:solidFill>
            <a:prstDash val="solid"/>
          </a:ln>
        </p:spPr>
      </p:sp>
      <p:sp>
        <p:nvSpPr>
          <p:cNvPr id="7" name="Text 5"/>
          <p:cNvSpPr/>
          <p:nvPr/>
        </p:nvSpPr>
        <p:spPr>
          <a:xfrm>
            <a:off x="1333500" y="4041428"/>
            <a:ext cx="415506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141414"/>
                </a:solidFill>
                <a:latin typeface="Helvetica" pitchFamily="34" charset="0"/>
                <a:ea typeface="Helvetica" pitchFamily="34" charset="-122"/>
                <a:cs typeface="Helvetica" pitchFamily="34" charset="-120"/>
              </a:rPr>
              <a:t>Cues</a:t>
            </a:r>
            <a:endParaRPr lang="en-US" sz="1950" dirty="0"/>
          </a:p>
        </p:txBody>
      </p:sp>
      <p:sp>
        <p:nvSpPr>
          <p:cNvPr id="8" name="Text 6"/>
          <p:cNvSpPr/>
          <p:nvPr/>
        </p:nvSpPr>
        <p:spPr>
          <a:xfrm>
            <a:off x="1333500" y="4403378"/>
            <a:ext cx="3890652"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5554F"/>
                </a:solidFill>
                <a:latin typeface="Helvetica" pitchFamily="34" charset="0"/>
                <a:ea typeface="Helvetica" pitchFamily="34" charset="-122"/>
                <a:cs typeface="Helvetica" pitchFamily="34" charset="-120"/>
              </a:rPr>
              <a:t>features of the situation as perceived, e.g. an expectancy that is violated</a:t>
            </a:r>
            <a:endParaRPr lang="en-US" sz="1800" dirty="0"/>
          </a:p>
        </p:txBody>
      </p:sp>
      <p:sp>
        <p:nvSpPr>
          <p:cNvPr id="9" name="Text 7"/>
          <p:cNvSpPr/>
          <p:nvPr/>
        </p:nvSpPr>
        <p:spPr>
          <a:xfrm>
            <a:off x="5568032" y="3793778"/>
            <a:ext cx="361950" cy="1855291"/>
          </a:xfrm>
          <a:prstGeom prst="rect">
            <a:avLst/>
          </a:prstGeom>
          <a:noFill/>
          <a:ln/>
        </p:spPr>
        <p:txBody>
          <a:bodyPr wrap="square" lIns="25400" tIns="25400" rIns="25400" bIns="25400" rtlCol="0" anchor="ctr">
            <a:normAutofit/>
          </a:bodyPr>
          <a:lstStyle/>
          <a:p>
            <a:pPr algn="l" indent="0" marL="0">
              <a:buNone/>
            </a:pPr>
            <a:r>
              <a:rPr lang="en-US" sz="2250" dirty="0">
                <a:solidFill>
                  <a:srgbClr val="8A8A86"/>
                </a:solidFill>
                <a:latin typeface="Helvetica" pitchFamily="34" charset="0"/>
                <a:ea typeface="Helvetica" pitchFamily="34" charset="-122"/>
                <a:cs typeface="Helvetica" pitchFamily="34" charset="-120"/>
              </a:rPr>
              <a:t>→</a:t>
            </a:r>
            <a:endParaRPr lang="en-US" sz="2250" dirty="0"/>
          </a:p>
        </p:txBody>
      </p:sp>
      <p:sp>
        <p:nvSpPr>
          <p:cNvPr id="10" name="Shape 8"/>
          <p:cNvSpPr/>
          <p:nvPr/>
        </p:nvSpPr>
        <p:spPr>
          <a:xfrm>
            <a:off x="6025232" y="3793778"/>
            <a:ext cx="5293221" cy="1817191"/>
          </a:xfrm>
          <a:prstGeom prst="rect">
            <a:avLst/>
          </a:prstGeom>
          <a:solidFill>
            <a:srgbClr val="141414"/>
          </a:solidFill>
          <a:ln w="19050">
            <a:solidFill>
              <a:srgbClr val="141414"/>
            </a:solidFill>
            <a:prstDash val="solid"/>
          </a:ln>
        </p:spPr>
      </p:sp>
      <p:sp>
        <p:nvSpPr>
          <p:cNvPr id="11" name="Text 9"/>
          <p:cNvSpPr/>
          <p:nvPr/>
        </p:nvSpPr>
        <p:spPr>
          <a:xfrm>
            <a:off x="6310982" y="4041428"/>
            <a:ext cx="5193893"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DFDFB"/>
                </a:solidFill>
                <a:latin typeface="Helvetica" pitchFamily="34" charset="0"/>
                <a:ea typeface="Helvetica" pitchFamily="34" charset="-122"/>
                <a:cs typeface="Helvetica" pitchFamily="34" charset="-120"/>
              </a:rPr>
              <a:t>Recognition</a:t>
            </a:r>
            <a:endParaRPr lang="en-US" sz="1950" dirty="0"/>
          </a:p>
        </p:txBody>
      </p:sp>
      <p:sp>
        <p:nvSpPr>
          <p:cNvPr id="12" name="Text 10"/>
          <p:cNvSpPr/>
          <p:nvPr/>
        </p:nvSpPr>
        <p:spPr>
          <a:xfrm>
            <a:off x="6310982" y="4403378"/>
            <a:ext cx="4863373"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B9B8B2"/>
                </a:solidFill>
                <a:latin typeface="Helvetica" pitchFamily="34" charset="0"/>
                <a:ea typeface="Helvetica" pitchFamily="34" charset="-122"/>
                <a:cs typeface="Helvetica" pitchFamily="34" charset="-120"/>
              </a:rPr>
              <a:t>pattern memory, built from experience, matches the situation as typical or anomalous and directly suggests an action</a:t>
            </a:r>
            <a:endParaRPr lang="en-US" sz="1800" dirty="0"/>
          </a:p>
        </p:txBody>
      </p:sp>
      <p:sp>
        <p:nvSpPr>
          <p:cNvPr id="13" name="Text 11"/>
          <p:cNvSpPr/>
          <p:nvPr/>
        </p:nvSpPr>
        <p:spPr>
          <a:xfrm>
            <a:off x="11489903" y="3793778"/>
            <a:ext cx="361950" cy="1855291"/>
          </a:xfrm>
          <a:prstGeom prst="rect">
            <a:avLst/>
          </a:prstGeom>
          <a:noFill/>
          <a:ln/>
        </p:spPr>
        <p:txBody>
          <a:bodyPr wrap="square" lIns="25400" tIns="25400" rIns="25400" bIns="25400" rtlCol="0" anchor="ctr">
            <a:normAutofit/>
          </a:bodyPr>
          <a:lstStyle/>
          <a:p>
            <a:pPr algn="l" indent="0" marL="0">
              <a:buNone/>
            </a:pPr>
            <a:r>
              <a:rPr lang="en-US" sz="2250" dirty="0">
                <a:solidFill>
                  <a:srgbClr val="8A8A86"/>
                </a:solidFill>
                <a:latin typeface="Helvetica" pitchFamily="34" charset="0"/>
                <a:ea typeface="Helvetica" pitchFamily="34" charset="-122"/>
                <a:cs typeface="Helvetica" pitchFamily="34" charset="-120"/>
              </a:rPr>
              <a:t>→</a:t>
            </a:r>
            <a:endParaRPr lang="en-US" sz="2250" dirty="0"/>
          </a:p>
        </p:txBody>
      </p:sp>
      <p:sp>
        <p:nvSpPr>
          <p:cNvPr id="14" name="Shape 12"/>
          <p:cNvSpPr/>
          <p:nvPr/>
        </p:nvSpPr>
        <p:spPr>
          <a:xfrm>
            <a:off x="11947103" y="3793778"/>
            <a:ext cx="5293147" cy="1817191"/>
          </a:xfrm>
          <a:prstGeom prst="rect">
            <a:avLst/>
          </a:prstGeom>
          <a:ln w="19050">
            <a:solidFill>
              <a:srgbClr val="141414"/>
            </a:solidFill>
            <a:prstDash val="solid"/>
          </a:ln>
        </p:spPr>
      </p:sp>
      <p:sp>
        <p:nvSpPr>
          <p:cNvPr id="15" name="Text 13"/>
          <p:cNvSpPr/>
          <p:nvPr/>
        </p:nvSpPr>
        <p:spPr>
          <a:xfrm>
            <a:off x="12232853" y="4041428"/>
            <a:ext cx="5193811"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141414"/>
                </a:solidFill>
                <a:latin typeface="Helvetica" pitchFamily="34" charset="0"/>
                <a:ea typeface="Helvetica" pitchFamily="34" charset="-122"/>
                <a:cs typeface="Helvetica" pitchFamily="34" charset="-120"/>
              </a:rPr>
              <a:t>Mental simulation</a:t>
            </a:r>
            <a:endParaRPr lang="en-US" sz="1950" dirty="0"/>
          </a:p>
        </p:txBody>
      </p:sp>
      <p:sp>
        <p:nvSpPr>
          <p:cNvPr id="16" name="Text 14"/>
          <p:cNvSpPr/>
          <p:nvPr/>
        </p:nvSpPr>
        <p:spPr>
          <a:xfrm>
            <a:off x="12232853" y="4403378"/>
            <a:ext cx="4863296"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5554F"/>
                </a:solidFill>
                <a:latin typeface="Helvetica" pitchFamily="34" charset="0"/>
                <a:ea typeface="Helvetica" pitchFamily="34" charset="-122"/>
                <a:cs typeface="Helvetica" pitchFamily="34" charset="-120"/>
              </a:rPr>
              <a:t>the suggested action is verified before committing, including targeted information seeking</a:t>
            </a:r>
            <a:endParaRPr lang="en-US" sz="1800" dirty="0"/>
          </a:p>
        </p:txBody>
      </p:sp>
      <p:sp>
        <p:nvSpPr>
          <p:cNvPr id="17" name="Text 15"/>
          <p:cNvSpPr/>
          <p:nvPr/>
        </p:nvSpPr>
        <p:spPr>
          <a:xfrm>
            <a:off x="1047750" y="6115794"/>
            <a:ext cx="361950"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141414"/>
                </a:solidFill>
                <a:latin typeface="Helvetica" pitchFamily="34" charset="0"/>
                <a:ea typeface="Helvetica" pitchFamily="34" charset="-122"/>
                <a:cs typeface="Helvetica" pitchFamily="34" charset="-120"/>
              </a:rPr>
              <a:t>·</a:t>
            </a:r>
            <a:endParaRPr lang="en-US" sz="2175" dirty="0"/>
          </a:p>
        </p:txBody>
      </p:sp>
      <p:sp>
        <p:nvSpPr>
          <p:cNvPr id="18" name="Text 16"/>
          <p:cNvSpPr/>
          <p:nvPr/>
        </p:nvSpPr>
        <p:spPr>
          <a:xfrm>
            <a:off x="1543050" y="6068169"/>
            <a:ext cx="15187041" cy="866775"/>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141414"/>
                </a:solidFill>
                <a:latin typeface="Helvetica" pitchFamily="34" charset="0"/>
                <a:ea typeface="Helvetica" pitchFamily="34" charset="-122"/>
                <a:cs typeface="Helvetica" pitchFamily="34" charset="-120"/>
              </a:rPr>
              <a:t>Example of a recognition cue in review: "this change should have touched the retry logic but didn't." The finding arises from a violated expectancy, not from exhaustive analysis of the diff.</a:t>
            </a:r>
            <a:endParaRPr lang="en-US" sz="2175" dirty="0"/>
          </a:p>
        </p:txBody>
      </p:sp>
      <p:sp>
        <p:nvSpPr>
          <p:cNvPr id="19" name="Text 17"/>
          <p:cNvSpPr/>
          <p:nvPr/>
        </p:nvSpPr>
        <p:spPr>
          <a:xfrm>
            <a:off x="1047750" y="7192119"/>
            <a:ext cx="361950"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141414"/>
                </a:solidFill>
                <a:latin typeface="Helvetica" pitchFamily="34" charset="0"/>
                <a:ea typeface="Helvetica" pitchFamily="34" charset="-122"/>
                <a:cs typeface="Helvetica" pitchFamily="34" charset="-120"/>
              </a:rPr>
              <a:t>·</a:t>
            </a:r>
            <a:endParaRPr lang="en-US" sz="2175" dirty="0"/>
          </a:p>
        </p:txBody>
      </p:sp>
      <p:sp>
        <p:nvSpPr>
          <p:cNvPr id="20" name="Text 18"/>
          <p:cNvSpPr/>
          <p:nvPr/>
        </p:nvSpPr>
        <p:spPr>
          <a:xfrm>
            <a:off x="1543050" y="7144494"/>
            <a:ext cx="15187041" cy="866775"/>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141414"/>
                </a:solidFill>
                <a:latin typeface="Helvetica" pitchFamily="34" charset="0"/>
                <a:ea typeface="Helvetica" pitchFamily="34" charset="-122"/>
                <a:cs typeface="Helvetica" pitchFamily="34" charset="-120"/>
              </a:rPr>
              <a:t>Recognition and verification have different engineering requirements. Recognition needs a fixed perceptual field and internalized patterns; verification needs targeted evidence gathering and a binary commit/abort decision.</a:t>
            </a:r>
            <a:endParaRPr lang="en-US" sz="2175" dirty="0"/>
          </a:p>
        </p:txBody>
      </p:sp>
      <p:sp>
        <p:nvSpPr>
          <p:cNvPr id="21" name="Text 19"/>
          <p:cNvSpPr/>
          <p:nvPr/>
        </p:nvSpPr>
        <p:spPr>
          <a:xfrm>
            <a:off x="1047750" y="8268444"/>
            <a:ext cx="361950"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141414"/>
                </a:solidFill>
                <a:latin typeface="Helvetica" pitchFamily="34" charset="0"/>
                <a:ea typeface="Helvetica" pitchFamily="34" charset="-122"/>
                <a:cs typeface="Helvetica" pitchFamily="34" charset="-120"/>
              </a:rPr>
              <a:t>·</a:t>
            </a:r>
            <a:endParaRPr lang="en-US" sz="2175" dirty="0"/>
          </a:p>
        </p:txBody>
      </p:sp>
      <p:sp>
        <p:nvSpPr>
          <p:cNvPr id="22" name="Text 20"/>
          <p:cNvSpPr/>
          <p:nvPr/>
        </p:nvSpPr>
        <p:spPr>
          <a:xfrm>
            <a:off x="1543050" y="8220819"/>
            <a:ext cx="15187041" cy="866775"/>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141414"/>
                </a:solidFill>
                <a:latin typeface="Helvetica" pitchFamily="34" charset="0"/>
                <a:ea typeface="Helvetica" pitchFamily="34" charset="-122"/>
                <a:cs typeface="Helvetica" pitchFamily="34" charset="-120"/>
              </a:rPr>
              <a:t>RPD also accounts for the one-year ramp-up observation: comprehension ability transfers between projects, but the pattern index is project-specific and is rebuilt through experience in each new codebase.</a:t>
            </a:r>
            <a:endParaRPr lang="en-US" sz="21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57042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FOUNDATION · 3</a:t>
            </a:r>
            <a:endParaRPr lang="en-US" sz="1800" dirty="0"/>
          </a:p>
        </p:txBody>
      </p:sp>
      <p:sp>
        <p:nvSpPr>
          <p:cNvPr id="3" name="Text 1"/>
          <p:cNvSpPr/>
          <p:nvPr/>
        </p:nvSpPr>
        <p:spPr>
          <a:xfrm>
            <a:off x="1047750" y="1252538"/>
            <a:ext cx="10919110"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Decomposition of Reviewer Expertise</a:t>
            </a:r>
            <a:endParaRPr lang="en-US" sz="4500" dirty="0"/>
          </a:p>
        </p:txBody>
      </p:sp>
      <p:sp>
        <p:nvSpPr>
          <p:cNvPr id="4" name="Text 2"/>
          <p:cNvSpPr/>
          <p:nvPr/>
        </p:nvSpPr>
        <p:spPr>
          <a:xfrm>
            <a:off x="1047750" y="2517428"/>
            <a:ext cx="15697200"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41414"/>
                </a:solidFill>
                <a:latin typeface="Helvetica" pitchFamily="34" charset="0"/>
                <a:ea typeface="Helvetica" pitchFamily="34" charset="-122"/>
                <a:cs typeface="Helvetica" pitchFamily="34" charset="-120"/>
              </a:rPr>
              <a:t>What a reviewer brings to a review decomposes into three components with different properties. Each is injected into the system through a different mechanism.</a:t>
            </a:r>
            <a:endParaRPr lang="en-US" sz="2100" dirty="0"/>
          </a:p>
        </p:txBody>
      </p:sp>
      <p:sp>
        <p:nvSpPr>
          <p:cNvPr id="5" name="Shape 3"/>
          <p:cNvSpPr/>
          <p:nvPr/>
        </p:nvSpPr>
        <p:spPr>
          <a:xfrm>
            <a:off x="1047750" y="4024759"/>
            <a:ext cx="2266950" cy="23813"/>
          </a:xfrm>
          <a:prstGeom prst="rect">
            <a:avLst/>
          </a:prstGeom>
          <a:solidFill>
            <a:srgbClr val="141414"/>
          </a:solidFill>
          <a:ln/>
        </p:spPr>
      </p:sp>
      <p:sp>
        <p:nvSpPr>
          <p:cNvPr id="6" name="Shape 4"/>
          <p:cNvSpPr/>
          <p:nvPr/>
        </p:nvSpPr>
        <p:spPr>
          <a:xfrm>
            <a:off x="3314700" y="4024759"/>
            <a:ext cx="4549899" cy="23813"/>
          </a:xfrm>
          <a:prstGeom prst="rect">
            <a:avLst/>
          </a:prstGeom>
          <a:solidFill>
            <a:srgbClr val="141414"/>
          </a:solidFill>
          <a:ln/>
        </p:spPr>
      </p:sp>
      <p:sp>
        <p:nvSpPr>
          <p:cNvPr id="7" name="Text 5"/>
          <p:cNvSpPr/>
          <p:nvPr/>
        </p:nvSpPr>
        <p:spPr>
          <a:xfrm>
            <a:off x="3486150" y="3641378"/>
            <a:ext cx="4343496" cy="288131"/>
          </a:xfrm>
          <a:prstGeom prst="rect">
            <a:avLst/>
          </a:prstGeom>
          <a:noFill/>
          <a:ln/>
        </p:spPr>
        <p:txBody>
          <a:bodyPr wrap="square" lIns="25400" tIns="25400" rIns="25400" bIns="25400" rtlCol="0" anchor="ctr">
            <a:normAutofit/>
          </a:bodyPr>
          <a:lstStyle/>
          <a:p>
            <a:pPr algn="l" indent="0" marL="0">
              <a:buNone/>
            </a:pPr>
            <a:r>
              <a:rPr lang="en-US" sz="1800" b="1" spc="108" kern="0" dirty="0">
                <a:solidFill>
                  <a:srgbClr val="141414"/>
                </a:solidFill>
                <a:latin typeface="Helvetica" pitchFamily="34" charset="0"/>
                <a:ea typeface="Helvetica" pitchFamily="34" charset="-122"/>
                <a:cs typeface="Helvetica" pitchFamily="34" charset="-120"/>
              </a:rPr>
              <a:t>CONTENT</a:t>
            </a:r>
            <a:endParaRPr lang="en-US" sz="1800" dirty="0"/>
          </a:p>
        </p:txBody>
      </p:sp>
      <p:sp>
        <p:nvSpPr>
          <p:cNvPr id="8" name="Shape 6"/>
          <p:cNvSpPr/>
          <p:nvPr/>
        </p:nvSpPr>
        <p:spPr>
          <a:xfrm>
            <a:off x="7864599" y="4024759"/>
            <a:ext cx="4679826" cy="23813"/>
          </a:xfrm>
          <a:prstGeom prst="rect">
            <a:avLst/>
          </a:prstGeom>
          <a:solidFill>
            <a:srgbClr val="141414"/>
          </a:solidFill>
          <a:ln/>
        </p:spPr>
      </p:sp>
      <p:sp>
        <p:nvSpPr>
          <p:cNvPr id="9" name="Text 7"/>
          <p:cNvSpPr/>
          <p:nvPr/>
        </p:nvSpPr>
        <p:spPr>
          <a:xfrm>
            <a:off x="8036049" y="3641378"/>
            <a:ext cx="4477321" cy="288131"/>
          </a:xfrm>
          <a:prstGeom prst="rect">
            <a:avLst/>
          </a:prstGeom>
          <a:noFill/>
          <a:ln/>
        </p:spPr>
        <p:txBody>
          <a:bodyPr wrap="square" lIns="25400" tIns="25400" rIns="25400" bIns="25400" rtlCol="0" anchor="ctr">
            <a:normAutofit/>
          </a:bodyPr>
          <a:lstStyle/>
          <a:p>
            <a:pPr algn="l" indent="0" marL="0">
              <a:buNone/>
            </a:pPr>
            <a:r>
              <a:rPr lang="en-US" sz="1800" b="1" spc="108" kern="0" dirty="0">
                <a:solidFill>
                  <a:srgbClr val="141414"/>
                </a:solidFill>
                <a:latin typeface="Helvetica" pitchFamily="34" charset="0"/>
                <a:ea typeface="Helvetica" pitchFamily="34" charset="-122"/>
                <a:cs typeface="Helvetica" pitchFamily="34" charset="-120"/>
              </a:rPr>
              <a:t>PROPERTIES</a:t>
            </a:r>
            <a:endParaRPr lang="en-US" sz="1800" dirty="0"/>
          </a:p>
        </p:txBody>
      </p:sp>
      <p:sp>
        <p:nvSpPr>
          <p:cNvPr id="10" name="Shape 8"/>
          <p:cNvSpPr/>
          <p:nvPr/>
        </p:nvSpPr>
        <p:spPr>
          <a:xfrm>
            <a:off x="12544425" y="4024759"/>
            <a:ext cx="4695825" cy="23813"/>
          </a:xfrm>
          <a:prstGeom prst="rect">
            <a:avLst/>
          </a:prstGeom>
          <a:solidFill>
            <a:srgbClr val="141414"/>
          </a:solidFill>
          <a:ln/>
        </p:spPr>
      </p:sp>
      <p:sp>
        <p:nvSpPr>
          <p:cNvPr id="11" name="Text 9"/>
          <p:cNvSpPr/>
          <p:nvPr/>
        </p:nvSpPr>
        <p:spPr>
          <a:xfrm>
            <a:off x="12715875" y="3641378"/>
            <a:ext cx="4665250" cy="288131"/>
          </a:xfrm>
          <a:prstGeom prst="rect">
            <a:avLst/>
          </a:prstGeom>
          <a:noFill/>
          <a:ln/>
        </p:spPr>
        <p:txBody>
          <a:bodyPr wrap="square" lIns="25400" tIns="25400" rIns="25400" bIns="25400" rtlCol="0" anchor="ctr">
            <a:normAutofit/>
          </a:bodyPr>
          <a:lstStyle/>
          <a:p>
            <a:pPr algn="l" indent="0" marL="0">
              <a:buNone/>
            </a:pPr>
            <a:r>
              <a:rPr lang="en-US" sz="1800" b="1" spc="108" kern="0" dirty="0">
                <a:solidFill>
                  <a:srgbClr val="141414"/>
                </a:solidFill>
                <a:latin typeface="Helvetica" pitchFamily="34" charset="0"/>
                <a:ea typeface="Helvetica" pitchFamily="34" charset="-122"/>
                <a:cs typeface="Helvetica" pitchFamily="34" charset="-120"/>
              </a:rPr>
              <a:t>INJECTION MECHANISM</a:t>
            </a:r>
            <a:endParaRPr lang="en-US" sz="1800" dirty="0"/>
          </a:p>
        </p:txBody>
      </p:sp>
      <p:sp>
        <p:nvSpPr>
          <p:cNvPr id="12" name="Shape 10"/>
          <p:cNvSpPr/>
          <p:nvPr/>
        </p:nvSpPr>
        <p:spPr>
          <a:xfrm>
            <a:off x="1047750" y="5472559"/>
            <a:ext cx="2266950" cy="14288"/>
          </a:xfrm>
          <a:prstGeom prst="rect">
            <a:avLst/>
          </a:prstGeom>
          <a:solidFill>
            <a:srgbClr val="DAD9D4"/>
          </a:solidFill>
          <a:ln/>
        </p:spPr>
      </p:sp>
      <p:sp>
        <p:nvSpPr>
          <p:cNvPr id="13" name="Text 11"/>
          <p:cNvSpPr/>
          <p:nvPr/>
        </p:nvSpPr>
        <p:spPr>
          <a:xfrm>
            <a:off x="1047750" y="4258121"/>
            <a:ext cx="2171700" cy="1042988"/>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Knowledge</a:t>
            </a:r>
            <a:endParaRPr lang="en-US" sz="2025" dirty="0"/>
          </a:p>
        </p:txBody>
      </p:sp>
      <p:sp>
        <p:nvSpPr>
          <p:cNvPr id="14" name="Shape 12"/>
          <p:cNvSpPr/>
          <p:nvPr/>
        </p:nvSpPr>
        <p:spPr>
          <a:xfrm>
            <a:off x="3314700" y="5472559"/>
            <a:ext cx="4549899" cy="14288"/>
          </a:xfrm>
          <a:prstGeom prst="rect">
            <a:avLst/>
          </a:prstGeom>
          <a:solidFill>
            <a:srgbClr val="DAD9D4"/>
          </a:solidFill>
          <a:ln/>
        </p:spPr>
      </p:sp>
      <p:sp>
        <p:nvSpPr>
          <p:cNvPr id="15" name="Text 13"/>
          <p:cNvSpPr/>
          <p:nvPr/>
        </p:nvSpPr>
        <p:spPr>
          <a:xfrm>
            <a:off x="3486150" y="4258121"/>
            <a:ext cx="4343496" cy="1042988"/>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141414"/>
                </a:solidFill>
                <a:latin typeface="Helvetica" pitchFamily="34" charset="0"/>
                <a:ea typeface="Helvetica" pitchFamily="34" charset="-122"/>
                <a:cs typeface="Helvetica" pitchFamily="34" charset="-120"/>
              </a:rPr>
              <a:t>Current facts about the project: package layout, dependency structure, issue and ADR content</a:t>
            </a:r>
            <a:endParaRPr lang="en-US" sz="1875" dirty="0"/>
          </a:p>
        </p:txBody>
      </p:sp>
      <p:sp>
        <p:nvSpPr>
          <p:cNvPr id="16" name="Shape 14"/>
          <p:cNvSpPr/>
          <p:nvPr/>
        </p:nvSpPr>
        <p:spPr>
          <a:xfrm>
            <a:off x="7864599" y="5472559"/>
            <a:ext cx="4679826" cy="14288"/>
          </a:xfrm>
          <a:prstGeom prst="rect">
            <a:avLst/>
          </a:prstGeom>
          <a:solidFill>
            <a:srgbClr val="DAD9D4"/>
          </a:solidFill>
          <a:ln/>
        </p:spPr>
      </p:sp>
      <p:sp>
        <p:nvSpPr>
          <p:cNvPr id="17" name="Text 15"/>
          <p:cNvSpPr/>
          <p:nvPr/>
        </p:nvSpPr>
        <p:spPr>
          <a:xfrm>
            <a:off x="8036049" y="4258121"/>
            <a:ext cx="4477321" cy="1042988"/>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141414"/>
                </a:solidFill>
                <a:latin typeface="Helvetica" pitchFamily="34" charset="0"/>
                <a:ea typeface="Helvetica" pitchFamily="34" charset="-122"/>
                <a:cs typeface="Helvetica" pitchFamily="34" charset="-120"/>
              </a:rPr>
              <a:t>Changes with every commit; verifiable; must never be stale</a:t>
            </a:r>
            <a:endParaRPr lang="en-US" sz="1875" dirty="0"/>
          </a:p>
        </p:txBody>
      </p:sp>
      <p:sp>
        <p:nvSpPr>
          <p:cNvPr id="18" name="Shape 16"/>
          <p:cNvSpPr/>
          <p:nvPr/>
        </p:nvSpPr>
        <p:spPr>
          <a:xfrm>
            <a:off x="12544425" y="5472559"/>
            <a:ext cx="4695825" cy="14288"/>
          </a:xfrm>
          <a:prstGeom prst="rect">
            <a:avLst/>
          </a:prstGeom>
          <a:solidFill>
            <a:srgbClr val="DAD9D4"/>
          </a:solidFill>
          <a:ln/>
        </p:spPr>
      </p:sp>
      <p:sp>
        <p:nvSpPr>
          <p:cNvPr id="19" name="Text 17"/>
          <p:cNvSpPr/>
          <p:nvPr/>
        </p:nvSpPr>
        <p:spPr>
          <a:xfrm>
            <a:off x="12715875" y="4258121"/>
            <a:ext cx="4665250" cy="1042988"/>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141414"/>
                </a:solidFill>
                <a:latin typeface="Helvetica" pitchFamily="34" charset="0"/>
                <a:ea typeface="Helvetica" pitchFamily="34" charset="-122"/>
                <a:cs typeface="Helvetica" pitchFamily="34" charset="-120"/>
              </a:rPr>
              <a:t>Retrieval: deterministic context assembly + on-demand RAG (doc/issue/codesearch)</a:t>
            </a:r>
            <a:endParaRPr lang="en-US" sz="1875" dirty="0"/>
          </a:p>
        </p:txBody>
      </p:sp>
      <p:sp>
        <p:nvSpPr>
          <p:cNvPr id="20" name="Shape 18"/>
          <p:cNvSpPr/>
          <p:nvPr/>
        </p:nvSpPr>
        <p:spPr>
          <a:xfrm>
            <a:off x="1047750" y="7239446"/>
            <a:ext cx="2266950" cy="14288"/>
          </a:xfrm>
          <a:prstGeom prst="rect">
            <a:avLst/>
          </a:prstGeom>
          <a:solidFill>
            <a:srgbClr val="DAD9D4"/>
          </a:solidFill>
          <a:ln/>
        </p:spPr>
      </p:sp>
      <p:sp>
        <p:nvSpPr>
          <p:cNvPr id="21" name="Text 19"/>
          <p:cNvSpPr/>
          <p:nvPr/>
        </p:nvSpPr>
        <p:spPr>
          <a:xfrm>
            <a:off x="1047750" y="5696396"/>
            <a:ext cx="2171700" cy="1371600"/>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Experience</a:t>
            </a:r>
            <a:endParaRPr lang="en-US" sz="2025" dirty="0"/>
          </a:p>
        </p:txBody>
      </p:sp>
      <p:sp>
        <p:nvSpPr>
          <p:cNvPr id="22" name="Shape 20"/>
          <p:cNvSpPr/>
          <p:nvPr/>
        </p:nvSpPr>
        <p:spPr>
          <a:xfrm>
            <a:off x="3314700" y="7239446"/>
            <a:ext cx="4549899" cy="14288"/>
          </a:xfrm>
          <a:prstGeom prst="rect">
            <a:avLst/>
          </a:prstGeom>
          <a:solidFill>
            <a:srgbClr val="DAD9D4"/>
          </a:solidFill>
          <a:ln/>
        </p:spPr>
      </p:sp>
      <p:sp>
        <p:nvSpPr>
          <p:cNvPr id="23" name="Text 21"/>
          <p:cNvSpPr/>
          <p:nvPr/>
        </p:nvSpPr>
        <p:spPr>
          <a:xfrm>
            <a:off x="3486150" y="5696396"/>
            <a:ext cx="4343496" cy="137160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141414"/>
                </a:solidFill>
                <a:latin typeface="Helvetica" pitchFamily="34" charset="0"/>
                <a:ea typeface="Helvetica" pitchFamily="34" charset="-122"/>
                <a:cs typeface="Helvetica" pitchFamily="34" charset="-120"/>
              </a:rPr>
              <a:t>Judgment patterns: what counts as an issue in this project; which conventions actually hold; when a flagged issue is a false positive</a:t>
            </a:r>
            <a:endParaRPr lang="en-US" sz="1875" dirty="0"/>
          </a:p>
        </p:txBody>
      </p:sp>
      <p:sp>
        <p:nvSpPr>
          <p:cNvPr id="24" name="Shape 22"/>
          <p:cNvSpPr/>
          <p:nvPr/>
        </p:nvSpPr>
        <p:spPr>
          <a:xfrm>
            <a:off x="7864599" y="7239446"/>
            <a:ext cx="4679826" cy="14288"/>
          </a:xfrm>
          <a:prstGeom prst="rect">
            <a:avLst/>
          </a:prstGeom>
          <a:solidFill>
            <a:srgbClr val="DAD9D4"/>
          </a:solidFill>
          <a:ln/>
        </p:spPr>
      </p:sp>
      <p:sp>
        <p:nvSpPr>
          <p:cNvPr id="25" name="Text 23"/>
          <p:cNvSpPr/>
          <p:nvPr/>
        </p:nvSpPr>
        <p:spPr>
          <a:xfrm>
            <a:off x="8036049" y="5696396"/>
            <a:ext cx="4477321" cy="137160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141414"/>
                </a:solidFill>
                <a:latin typeface="Helvetica" pitchFamily="34" charset="0"/>
                <a:ea typeface="Helvetica" pitchFamily="34" charset="-122"/>
                <a:cs typeface="Helvetica" pitchFamily="34" charset="-120"/>
              </a:rPr>
              <a:t>Stable over months; distributional (a convention is a prevalence over the codebase, not a fact in any document); not retrievable</a:t>
            </a:r>
            <a:endParaRPr lang="en-US" sz="1875" dirty="0"/>
          </a:p>
        </p:txBody>
      </p:sp>
      <p:sp>
        <p:nvSpPr>
          <p:cNvPr id="26" name="Shape 24"/>
          <p:cNvSpPr/>
          <p:nvPr/>
        </p:nvSpPr>
        <p:spPr>
          <a:xfrm>
            <a:off x="12544425" y="7239446"/>
            <a:ext cx="4695825" cy="14288"/>
          </a:xfrm>
          <a:prstGeom prst="rect">
            <a:avLst/>
          </a:prstGeom>
          <a:solidFill>
            <a:srgbClr val="DAD9D4"/>
          </a:solidFill>
          <a:ln/>
        </p:spPr>
      </p:sp>
      <p:sp>
        <p:nvSpPr>
          <p:cNvPr id="27" name="Text 25"/>
          <p:cNvSpPr/>
          <p:nvPr/>
        </p:nvSpPr>
        <p:spPr>
          <a:xfrm>
            <a:off x="12715875" y="5696396"/>
            <a:ext cx="4665250" cy="137160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141414"/>
                </a:solidFill>
                <a:latin typeface="Helvetica" pitchFamily="34" charset="0"/>
                <a:ea typeface="Helvetica" pitchFamily="34" charset="-122"/>
                <a:cs typeface="Helvetica" pitchFamily="34" charset="-120"/>
              </a:rPr>
              <a:t>Fine-tuned weights: per-project LoRA, trained by RLAIF over replayed review episodes (Part 3)</a:t>
            </a:r>
            <a:endParaRPr lang="en-US" sz="1875" dirty="0"/>
          </a:p>
        </p:txBody>
      </p:sp>
      <p:sp>
        <p:nvSpPr>
          <p:cNvPr id="28" name="Shape 26"/>
          <p:cNvSpPr/>
          <p:nvPr/>
        </p:nvSpPr>
        <p:spPr>
          <a:xfrm>
            <a:off x="1047750" y="8672959"/>
            <a:ext cx="2266950" cy="14288"/>
          </a:xfrm>
          <a:prstGeom prst="rect">
            <a:avLst/>
          </a:prstGeom>
          <a:solidFill>
            <a:srgbClr val="DAD9D4"/>
          </a:solidFill>
          <a:ln/>
        </p:spPr>
      </p:sp>
      <p:sp>
        <p:nvSpPr>
          <p:cNvPr id="29" name="Text 27"/>
          <p:cNvSpPr/>
          <p:nvPr/>
        </p:nvSpPr>
        <p:spPr>
          <a:xfrm>
            <a:off x="1047750" y="7463284"/>
            <a:ext cx="2171700" cy="103822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Procedure</a:t>
            </a:r>
            <a:endParaRPr lang="en-US" sz="2025" dirty="0"/>
          </a:p>
        </p:txBody>
      </p:sp>
      <p:sp>
        <p:nvSpPr>
          <p:cNvPr id="30" name="Shape 28"/>
          <p:cNvSpPr/>
          <p:nvPr/>
        </p:nvSpPr>
        <p:spPr>
          <a:xfrm>
            <a:off x="3314700" y="8672959"/>
            <a:ext cx="4549899" cy="14288"/>
          </a:xfrm>
          <a:prstGeom prst="rect">
            <a:avLst/>
          </a:prstGeom>
          <a:solidFill>
            <a:srgbClr val="DAD9D4"/>
          </a:solidFill>
          <a:ln/>
        </p:spPr>
      </p:sp>
      <p:sp>
        <p:nvSpPr>
          <p:cNvPr id="31" name="Text 29"/>
          <p:cNvSpPr/>
          <p:nvPr/>
        </p:nvSpPr>
        <p:spPr>
          <a:xfrm>
            <a:off x="3486150" y="7463284"/>
            <a:ext cx="4343496" cy="103822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141414"/>
                </a:solidFill>
                <a:latin typeface="Helvetica" pitchFamily="34" charset="0"/>
                <a:ea typeface="Helvetica" pitchFamily="34" charset="-122"/>
                <a:cs typeface="Helvetica" pitchFamily="34" charset="-120"/>
              </a:rPr>
              <a:t>The review process: hunk reading order, stopping criteria, tool budgets, mapping of issues to a verdict</a:t>
            </a:r>
            <a:endParaRPr lang="en-US" sz="1875" dirty="0"/>
          </a:p>
        </p:txBody>
      </p:sp>
      <p:sp>
        <p:nvSpPr>
          <p:cNvPr id="32" name="Shape 30"/>
          <p:cNvSpPr/>
          <p:nvPr/>
        </p:nvSpPr>
        <p:spPr>
          <a:xfrm>
            <a:off x="7864599" y="8672959"/>
            <a:ext cx="4679826" cy="14288"/>
          </a:xfrm>
          <a:prstGeom prst="rect">
            <a:avLst/>
          </a:prstGeom>
          <a:solidFill>
            <a:srgbClr val="DAD9D4"/>
          </a:solidFill>
          <a:ln/>
        </p:spPr>
      </p:sp>
      <p:sp>
        <p:nvSpPr>
          <p:cNvPr id="33" name="Text 31"/>
          <p:cNvSpPr/>
          <p:nvPr/>
        </p:nvSpPr>
        <p:spPr>
          <a:xfrm>
            <a:off x="8036049" y="7463284"/>
            <a:ext cx="4477321" cy="103822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141414"/>
                </a:solidFill>
                <a:latin typeface="Helvetica" pitchFamily="34" charset="0"/>
                <a:ea typeface="Helvetica" pitchFamily="34" charset="-122"/>
                <a:cs typeface="Helvetica" pitchFamily="34" charset="-120"/>
              </a:rPr>
              <a:t>Fully explicit; expressible as deterministic rules</a:t>
            </a:r>
            <a:endParaRPr lang="en-US" sz="1875" dirty="0"/>
          </a:p>
        </p:txBody>
      </p:sp>
      <p:sp>
        <p:nvSpPr>
          <p:cNvPr id="34" name="Shape 32"/>
          <p:cNvSpPr/>
          <p:nvPr/>
        </p:nvSpPr>
        <p:spPr>
          <a:xfrm>
            <a:off x="12544425" y="8672959"/>
            <a:ext cx="4695825" cy="14288"/>
          </a:xfrm>
          <a:prstGeom prst="rect">
            <a:avLst/>
          </a:prstGeom>
          <a:solidFill>
            <a:srgbClr val="DAD9D4"/>
          </a:solidFill>
          <a:ln/>
        </p:spPr>
      </p:sp>
      <p:sp>
        <p:nvSpPr>
          <p:cNvPr id="35" name="Text 33"/>
          <p:cNvSpPr/>
          <p:nvPr/>
        </p:nvSpPr>
        <p:spPr>
          <a:xfrm>
            <a:off x="12715875" y="7463284"/>
            <a:ext cx="4665250" cy="103822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141414"/>
                </a:solidFill>
                <a:latin typeface="Helvetica" pitchFamily="34" charset="0"/>
                <a:ea typeface="Helvetica" pitchFamily="34" charset="-122"/>
                <a:cs typeface="Helvetica" pitchFamily="34" charset="-120"/>
              </a:rPr>
              <a:t>Hard-coded pipeline: planning algorithm, fixed DAG, tool budgets, verdict rule</a:t>
            </a:r>
            <a:endParaRPr lang="en-US" sz="1875" dirty="0"/>
          </a:p>
        </p:txBody>
      </p:sp>
      <p:sp>
        <p:nvSpPr>
          <p:cNvPr id="36" name="Text 34"/>
          <p:cNvSpPr/>
          <p:nvPr/>
        </p:nvSpPr>
        <p:spPr>
          <a:xfrm>
            <a:off x="1047750" y="9018240"/>
            <a:ext cx="16187738" cy="1145381"/>
          </a:xfrm>
          <a:prstGeom prst="rect">
            <a:avLst/>
          </a:prstGeom>
          <a:noFill/>
          <a:ln/>
        </p:spPr>
        <p:txBody>
          <a:bodyPr wrap="square" lIns="25400" tIns="25400" rIns="25400" bIns="25400" rtlCol="0" anchor="t">
            <a:normAutofit/>
          </a:bodyPr>
          <a:lstStyle/>
          <a:p>
            <a:pPr algn="l" indent="0" marL="0">
              <a:lnSpc>
                <a:spcPct val="155000"/>
              </a:lnSpc>
              <a:buNone/>
            </a:pPr>
            <a:r>
              <a:rPr lang="en-US" sz="1875" b="1" dirty="0">
                <a:solidFill>
                  <a:srgbClr val="141414"/>
                </a:solidFill>
                <a:latin typeface="Helvetica" pitchFamily="34" charset="0"/>
                <a:ea typeface="Helvetica" pitchFamily="34" charset="-122"/>
                <a:cs typeface="Helvetica" pitchFamily="34" charset="-120"/>
              </a:rPr>
              <a:t>Why the assignments are not interchangeable: </a:t>
            </a:r>
            <a:pPr algn="l" indent="0" marL="0">
              <a:lnSpc>
                <a:spcPct val="155000"/>
              </a:lnSpc>
              <a:buNone/>
            </a:pPr>
            <a:r>
              <a:rPr lang="en-US" sz="1875" dirty="0">
                <a:solidFill>
                  <a:srgbClr val="55554F"/>
                </a:solidFill>
                <a:latin typeface="Helvetica" pitchFamily="34" charset="0"/>
                <a:ea typeface="Helvetica" pitchFamily="34" charset="-122"/>
                <a:cs typeface="Helvetica" pitchFamily="34" charset="-120"/>
              </a:rPr>
              <a:t>fine-tuning knowledge into weights produces confidently stated stale facts, because facts drift between retraining batches. Retrieving experience via RAG is not possible, because judgment is tacit and distributional. Letting the model control the procedure relies on metacognition, which is the weakest capability of an 8B model.</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57042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FOUNDATION · 4</a:t>
            </a:r>
            <a:endParaRPr lang="en-US" sz="1800" dirty="0"/>
          </a:p>
        </p:txBody>
      </p:sp>
      <p:sp>
        <p:nvSpPr>
          <p:cNvPr id="3" name="Text 1"/>
          <p:cNvSpPr/>
          <p:nvPr/>
        </p:nvSpPr>
        <p:spPr>
          <a:xfrm>
            <a:off x="1047750" y="1252538"/>
            <a:ext cx="11058183"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Design Principles Derived from CRDM</a:t>
            </a:r>
            <a:endParaRPr lang="en-US" sz="4500" dirty="0"/>
          </a:p>
        </p:txBody>
      </p:sp>
      <p:sp>
        <p:nvSpPr>
          <p:cNvPr id="4" name="Shape 2"/>
          <p:cNvSpPr/>
          <p:nvPr/>
        </p:nvSpPr>
        <p:spPr>
          <a:xfrm>
            <a:off x="1047750" y="2155478"/>
            <a:ext cx="16192500" cy="19050"/>
          </a:xfrm>
          <a:prstGeom prst="rect">
            <a:avLst/>
          </a:prstGeom>
          <a:solidFill>
            <a:srgbClr val="141414"/>
          </a:solidFill>
          <a:ln/>
        </p:spPr>
      </p:sp>
      <p:sp>
        <p:nvSpPr>
          <p:cNvPr id="5" name="Text 3"/>
          <p:cNvSpPr/>
          <p:nvPr/>
        </p:nvSpPr>
        <p:spPr>
          <a:xfrm>
            <a:off x="1047750" y="2650778"/>
            <a:ext cx="1219200"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dirty="0">
                <a:solidFill>
                  <a:srgbClr val="141414"/>
                </a:solidFill>
                <a:latin typeface="Helvetica" pitchFamily="34" charset="0"/>
                <a:ea typeface="Helvetica" pitchFamily="34" charset="-122"/>
                <a:cs typeface="Helvetica" pitchFamily="34" charset="-120"/>
              </a:rPr>
              <a:t>P1</a:t>
            </a:r>
            <a:endParaRPr lang="en-US" sz="3900" dirty="0"/>
          </a:p>
        </p:txBody>
      </p:sp>
      <p:sp>
        <p:nvSpPr>
          <p:cNvPr id="6" name="Text 4"/>
          <p:cNvSpPr/>
          <p:nvPr/>
        </p:nvSpPr>
        <p:spPr>
          <a:xfrm>
            <a:off x="2514600" y="2650778"/>
            <a:ext cx="16198215" cy="421928"/>
          </a:xfrm>
          <a:prstGeom prst="rect">
            <a:avLst/>
          </a:prstGeom>
          <a:noFill/>
          <a:ln/>
        </p:spPr>
        <p:txBody>
          <a:bodyPr wrap="square" lIns="25400" tIns="25400" rIns="25400" bIns="25400" rtlCol="0" anchor="t">
            <a:normAutofit/>
          </a:bodyPr>
          <a:lstStyle/>
          <a:p>
            <a:pPr algn="l" indent="0" marL="0">
              <a:lnSpc>
                <a:spcPct val="130000"/>
              </a:lnSpc>
              <a:buNone/>
            </a:pPr>
            <a:r>
              <a:rPr lang="en-US" sz="2325" b="1" dirty="0">
                <a:solidFill>
                  <a:srgbClr val="141414"/>
                </a:solidFill>
                <a:latin typeface="Helvetica" pitchFamily="34" charset="0"/>
                <a:ea typeface="Helvetica" pitchFamily="34" charset="-122"/>
                <a:cs typeface="Helvetica" pitchFamily="34" charset="-120"/>
              </a:rPr>
              <a:t>Recognition and simulation are different operations and are assigned to different agents.</a:t>
            </a:r>
            <a:endParaRPr lang="en-US" sz="2325" dirty="0"/>
          </a:p>
        </p:txBody>
      </p:sp>
      <p:sp>
        <p:nvSpPr>
          <p:cNvPr id="7" name="Text 5"/>
          <p:cNvSpPr/>
          <p:nvPr/>
        </p:nvSpPr>
        <p:spPr>
          <a:xfrm>
            <a:off x="2514600" y="3129855"/>
            <a:ext cx="15167420" cy="1195388"/>
          </a:xfrm>
          <a:prstGeom prst="rect">
            <a:avLst/>
          </a:prstGeom>
          <a:noFill/>
          <a:ln/>
        </p:spPr>
        <p:txBody>
          <a:bodyPr wrap="square" lIns="25400" tIns="25400" rIns="25400" bIns="25400" rtlCol="0" anchor="t">
            <a:normAutofit/>
          </a:bodyPr>
          <a:lstStyle/>
          <a:p>
            <a:pPr algn="l" indent="0" marL="0">
              <a:lnSpc>
                <a:spcPct val="150000"/>
              </a:lnSpc>
              <a:buNone/>
            </a:pPr>
            <a:r>
              <a:rPr lang="en-US" sz="2025" dirty="0">
                <a:solidFill>
                  <a:srgbClr val="55554F"/>
                </a:solidFill>
                <a:latin typeface="Helvetica" pitchFamily="34" charset="0"/>
                <a:ea typeface="Helvetica" pitchFamily="34" charset="-122"/>
                <a:cs typeface="Helvetica" pitchFamily="34" charset="-120"/>
              </a:rPr>
              <a:t>Recognition requires a fixed perceptual field and internalized patterns (fine-tuned weights, fixed context, no tools, high recall tolerated). Verification requires targeted evidence gathering and a binary commit/abort decision (bounded tools, precision-oriented). This yields the draft-then-prune structure: drafting implements recognition, pruning implements mental simulation.</a:t>
            </a:r>
            <a:endParaRPr lang="en-US" sz="2025" dirty="0"/>
          </a:p>
        </p:txBody>
      </p:sp>
      <p:sp>
        <p:nvSpPr>
          <p:cNvPr id="8" name="Text 6"/>
          <p:cNvSpPr/>
          <p:nvPr/>
        </p:nvSpPr>
        <p:spPr>
          <a:xfrm>
            <a:off x="1047750" y="4668143"/>
            <a:ext cx="1219200"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dirty="0">
                <a:solidFill>
                  <a:srgbClr val="141414"/>
                </a:solidFill>
                <a:latin typeface="Helvetica" pitchFamily="34" charset="0"/>
                <a:ea typeface="Helvetica" pitchFamily="34" charset="-122"/>
                <a:cs typeface="Helvetica" pitchFamily="34" charset="-120"/>
              </a:rPr>
              <a:t>P2</a:t>
            </a:r>
            <a:endParaRPr lang="en-US" sz="3900" dirty="0"/>
          </a:p>
        </p:txBody>
      </p:sp>
      <p:sp>
        <p:nvSpPr>
          <p:cNvPr id="9" name="Text 7"/>
          <p:cNvSpPr/>
          <p:nvPr/>
        </p:nvSpPr>
        <p:spPr>
          <a:xfrm>
            <a:off x="2514600" y="4668143"/>
            <a:ext cx="16198215" cy="421928"/>
          </a:xfrm>
          <a:prstGeom prst="rect">
            <a:avLst/>
          </a:prstGeom>
          <a:noFill/>
          <a:ln/>
        </p:spPr>
        <p:txBody>
          <a:bodyPr wrap="square" lIns="25400" tIns="25400" rIns="25400" bIns="25400" rtlCol="0" anchor="t">
            <a:normAutofit/>
          </a:bodyPr>
          <a:lstStyle/>
          <a:p>
            <a:pPr algn="l" indent="0" marL="0">
              <a:lnSpc>
                <a:spcPct val="130000"/>
              </a:lnSpc>
              <a:buNone/>
            </a:pPr>
            <a:r>
              <a:rPr lang="en-US" sz="2325" b="1" dirty="0">
                <a:solidFill>
                  <a:srgbClr val="141414"/>
                </a:solidFill>
                <a:latin typeface="Helvetica" pitchFamily="34" charset="0"/>
                <a:ea typeface="Helvetica" pitchFamily="34" charset="-122"/>
                <a:cs typeface="Helvetica" pitchFamily="34" charset="-120"/>
              </a:rPr>
              <a:t>Knowledge, experience, and procedure enter through separate channels.</a:t>
            </a:r>
            <a:endParaRPr lang="en-US" sz="2325" dirty="0"/>
          </a:p>
        </p:txBody>
      </p:sp>
      <p:sp>
        <p:nvSpPr>
          <p:cNvPr id="10" name="Text 8"/>
          <p:cNvSpPr/>
          <p:nvPr/>
        </p:nvSpPr>
        <p:spPr>
          <a:xfrm>
            <a:off x="2514600" y="5147221"/>
            <a:ext cx="15167420" cy="1195388"/>
          </a:xfrm>
          <a:prstGeom prst="rect">
            <a:avLst/>
          </a:prstGeom>
          <a:noFill/>
          <a:ln/>
        </p:spPr>
        <p:txBody>
          <a:bodyPr wrap="square" lIns="25400" tIns="25400" rIns="25400" bIns="25400" rtlCol="0" anchor="t">
            <a:normAutofit/>
          </a:bodyPr>
          <a:lstStyle/>
          <a:p>
            <a:pPr algn="l" indent="0" marL="0">
              <a:lnSpc>
                <a:spcPct val="150000"/>
              </a:lnSpc>
              <a:buNone/>
            </a:pPr>
            <a:r>
              <a:rPr lang="en-US" sz="2025" dirty="0">
                <a:solidFill>
                  <a:srgbClr val="55554F"/>
                </a:solidFill>
                <a:latin typeface="Helvetica" pitchFamily="34" charset="0"/>
                <a:ea typeface="Helvetica" pitchFamily="34" charset="-122"/>
                <a:cs typeface="Helvetica" pitchFamily="34" charset="-120"/>
              </a:rPr>
              <a:t>Retrieval for facts, trained weights for judgment, fixed program logic for process (previous slide). In RPD, experience is acquired through consequential action and feedback; reinforcement over replayed historical episodes reproduces that acquisition process, whereas supervised imitation of fixed answers does not (§ Part 3).</a:t>
            </a:r>
            <a:endParaRPr lang="en-US" sz="2025" dirty="0"/>
          </a:p>
        </p:txBody>
      </p:sp>
      <p:sp>
        <p:nvSpPr>
          <p:cNvPr id="11" name="Text 9"/>
          <p:cNvSpPr/>
          <p:nvPr/>
        </p:nvSpPr>
        <p:spPr>
          <a:xfrm>
            <a:off x="1047750" y="6685508"/>
            <a:ext cx="1219200"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dirty="0">
                <a:solidFill>
                  <a:srgbClr val="141414"/>
                </a:solidFill>
                <a:latin typeface="Helvetica" pitchFamily="34" charset="0"/>
                <a:ea typeface="Helvetica" pitchFamily="34" charset="-122"/>
                <a:cs typeface="Helvetica" pitchFamily="34" charset="-120"/>
              </a:rPr>
              <a:t>P3</a:t>
            </a:r>
            <a:endParaRPr lang="en-US" sz="3900" dirty="0"/>
          </a:p>
        </p:txBody>
      </p:sp>
      <p:sp>
        <p:nvSpPr>
          <p:cNvPr id="12" name="Text 10"/>
          <p:cNvSpPr/>
          <p:nvPr/>
        </p:nvSpPr>
        <p:spPr>
          <a:xfrm>
            <a:off x="2514600" y="6685508"/>
            <a:ext cx="16198215" cy="421928"/>
          </a:xfrm>
          <a:prstGeom prst="rect">
            <a:avLst/>
          </a:prstGeom>
          <a:noFill/>
          <a:ln/>
        </p:spPr>
        <p:txBody>
          <a:bodyPr wrap="square" lIns="25400" tIns="25400" rIns="25400" bIns="25400" rtlCol="0" anchor="t">
            <a:normAutofit/>
          </a:bodyPr>
          <a:lstStyle/>
          <a:p>
            <a:pPr algn="l" indent="0" marL="0">
              <a:lnSpc>
                <a:spcPct val="130000"/>
              </a:lnSpc>
              <a:buNone/>
            </a:pPr>
            <a:r>
              <a:rPr lang="en-US" sz="2325" b="1" dirty="0">
                <a:solidFill>
                  <a:srgbClr val="141414"/>
                </a:solidFill>
                <a:latin typeface="Helvetica" pitchFamily="34" charset="0"/>
                <a:ea typeface="Helvetica" pitchFamily="34" charset="-122"/>
                <a:cs typeface="Helvetica" pitchFamily="34" charset="-120"/>
              </a:rPr>
              <a:t>Orientation runs once, up front, and flows forward only.</a:t>
            </a:r>
            <a:endParaRPr lang="en-US" sz="2325" dirty="0"/>
          </a:p>
        </p:txBody>
      </p:sp>
      <p:sp>
        <p:nvSpPr>
          <p:cNvPr id="13" name="Text 11"/>
          <p:cNvSpPr/>
          <p:nvPr/>
        </p:nvSpPr>
        <p:spPr>
          <a:xfrm>
            <a:off x="2514600" y="7164586"/>
            <a:ext cx="15167420" cy="1581150"/>
          </a:xfrm>
          <a:prstGeom prst="rect">
            <a:avLst/>
          </a:prstGeom>
          <a:noFill/>
          <a:ln/>
        </p:spPr>
        <p:txBody>
          <a:bodyPr wrap="square" lIns="25400" tIns="25400" rIns="25400" bIns="25400" rtlCol="0" anchor="t">
            <a:normAutofit/>
          </a:bodyPr>
          <a:lstStyle/>
          <a:p>
            <a:pPr algn="l" indent="0" marL="0">
              <a:lnSpc>
                <a:spcPct val="150000"/>
              </a:lnSpc>
              <a:buNone/>
            </a:pPr>
            <a:r>
              <a:rPr lang="en-US" sz="2025" dirty="0">
                <a:solidFill>
                  <a:srgbClr val="55554F"/>
                </a:solidFill>
                <a:latin typeface="Helvetica" pitchFamily="34" charset="0"/>
                <a:ea typeface="Helvetica" pitchFamily="34" charset="-122"/>
                <a:cs typeface="Helvetica" pitchFamily="34" charset="-120"/>
              </a:rPr>
              <a:t>The study shows orientation→analysis transitions are essentially one-way. The pipeline is therefore strictly feed-forward: interpretation runs once, its output is embedded in every downstream fixed context, and no downstream agent can re-open orientation. This removes a class of agent-loop failure modes and keeps the fine-tuned contexts byte-stable between training and inference.</a:t>
            </a:r>
            <a:endParaRPr lang="en-US" sz="20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3852863"/>
            <a:ext cx="2229170" cy="323850"/>
          </a:xfrm>
          <a:prstGeom prst="rect">
            <a:avLst/>
          </a:prstGeom>
          <a:noFill/>
          <a:ln/>
        </p:spPr>
        <p:txBody>
          <a:bodyPr wrap="square" lIns="25400" tIns="25400" rIns="25400" bIns="25400" rtlCol="0" anchor="t">
            <a:normAutofit/>
          </a:bodyPr>
          <a:lstStyle/>
          <a:p>
            <a:pPr algn="l" indent="0" marL="0">
              <a:buNone/>
            </a:pPr>
            <a:r>
              <a:rPr lang="en-US" sz="1950" b="1" spc="390" kern="0" dirty="0">
                <a:solidFill>
                  <a:srgbClr val="8A8A86"/>
                </a:solidFill>
                <a:latin typeface="Helvetica" pitchFamily="34" charset="0"/>
                <a:ea typeface="Helvetica" pitchFamily="34" charset="-122"/>
                <a:cs typeface="Helvetica" pitchFamily="34" charset="-120"/>
              </a:rPr>
              <a:t>PART 2 OF 4</a:t>
            </a:r>
            <a:endParaRPr lang="en-US" sz="1950" dirty="0"/>
          </a:p>
        </p:txBody>
      </p:sp>
      <p:sp>
        <p:nvSpPr>
          <p:cNvPr id="3" name="Text 1"/>
          <p:cNvSpPr/>
          <p:nvPr/>
        </p:nvSpPr>
        <p:spPr>
          <a:xfrm>
            <a:off x="1143000" y="4424363"/>
            <a:ext cx="8193405" cy="878160"/>
          </a:xfrm>
          <a:prstGeom prst="rect">
            <a:avLst/>
          </a:prstGeom>
          <a:noFill/>
          <a:ln/>
        </p:spPr>
        <p:txBody>
          <a:bodyPr wrap="square" lIns="25400" tIns="25400" rIns="25400" bIns="25400" rtlCol="0" anchor="t">
            <a:normAutofit/>
          </a:bodyPr>
          <a:lstStyle/>
          <a:p>
            <a:pPr algn="l" indent="0" marL="0">
              <a:lnSpc>
                <a:spcPct val="105000"/>
              </a:lnSpc>
              <a:buNone/>
            </a:pPr>
            <a:r>
              <a:rPr lang="en-US" sz="6300" b="1" spc="-126" kern="0" dirty="0">
                <a:solidFill>
                  <a:srgbClr val="FDFDFB"/>
                </a:solidFill>
                <a:latin typeface="Helvetica" pitchFamily="34" charset="0"/>
                <a:ea typeface="Helvetica" pitchFamily="34" charset="-122"/>
                <a:cs typeface="Helvetica" pitchFamily="34" charset="-120"/>
              </a:rPr>
              <a:t>System Architecture</a:t>
            </a:r>
            <a:endParaRPr lang="en-US" sz="6300" dirty="0"/>
          </a:p>
        </p:txBody>
      </p:sp>
      <p:sp>
        <p:nvSpPr>
          <p:cNvPr id="4" name="Text 2"/>
          <p:cNvSpPr/>
          <p:nvPr/>
        </p:nvSpPr>
        <p:spPr>
          <a:xfrm>
            <a:off x="1143000" y="5550173"/>
            <a:ext cx="12753975" cy="921990"/>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B9B8B2"/>
                </a:solidFill>
                <a:latin typeface="Helvetica" pitchFamily="34" charset="0"/>
                <a:ea typeface="Helvetica" pitchFamily="34" charset="-122"/>
                <a:cs typeface="Helvetica" pitchFamily="34" charset="-120"/>
              </a:rPr>
              <a:t>A feed-forward pipeline: deterministic context assembly, one interpretation pass, then an unrolled draft-then-prune loop and a rule-based verdict.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666750"/>
            <a:ext cx="5612175" cy="572988"/>
          </a:xfrm>
          <a:prstGeom prst="rect">
            <a:avLst/>
          </a:prstGeom>
          <a:noFill/>
          <a:ln/>
        </p:spPr>
        <p:txBody>
          <a:bodyPr wrap="square" lIns="25400" tIns="25400" rIns="25400" bIns="25400" rtlCol="0" anchor="t">
            <a:normAutofit/>
          </a:bodyPr>
          <a:lstStyle/>
          <a:p>
            <a:pPr algn="l" indent="0" marL="0">
              <a:lnSpc>
                <a:spcPct val="108000"/>
              </a:lnSpc>
              <a:buNone/>
            </a:pPr>
            <a:r>
              <a:rPr lang="en-US" sz="3900" b="1" spc="-58" kern="0" dirty="0">
                <a:solidFill>
                  <a:srgbClr val="141414"/>
                </a:solidFill>
                <a:latin typeface="Helvetica" pitchFamily="34" charset="0"/>
                <a:ea typeface="Helvetica" pitchFamily="34" charset="-122"/>
                <a:cs typeface="Helvetica" pitchFamily="34" charset="-120"/>
              </a:rPr>
              <a:t>Architecture Overview</a:t>
            </a:r>
            <a:endParaRPr lang="en-US" sz="3900" dirty="0"/>
          </a:p>
        </p:txBody>
      </p:sp>
      <p:sp>
        <p:nvSpPr>
          <p:cNvPr id="3" name="Text 1"/>
          <p:cNvSpPr/>
          <p:nvPr/>
        </p:nvSpPr>
        <p:spPr>
          <a:xfrm>
            <a:off x="6435477" y="895350"/>
            <a:ext cx="7890703" cy="300038"/>
          </a:xfrm>
          <a:prstGeom prst="rect">
            <a:avLst/>
          </a:prstGeom>
          <a:noFill/>
          <a:ln/>
        </p:spPr>
        <p:txBody>
          <a:bodyPr wrap="square" lIns="25400" tIns="25400" rIns="25400" bIns="25400" rtlCol="0" anchor="t">
            <a:normAutofit/>
          </a:bodyPr>
          <a:lstStyle/>
          <a:p>
            <a:pPr algn="l" indent="0" marL="0">
              <a:buNone/>
            </a:pPr>
            <a:r>
              <a:rPr lang="en-US" sz="1800" dirty="0">
                <a:solidFill>
                  <a:srgbClr val="8A8A86"/>
                </a:solidFill>
                <a:latin typeface="Helvetica" pitchFamily="34" charset="0"/>
                <a:ea typeface="Helvetica" pitchFamily="34" charset="-122"/>
                <a:cs typeface="Helvetica" pitchFamily="34" charset="-120"/>
              </a:rPr>
              <a:t>shaded boxes = learned components; all other stages are deterministic</a:t>
            </a:r>
            <a:endParaRPr lang="en-US" sz="1800" dirty="0"/>
          </a:p>
        </p:txBody>
      </p:sp>
      <p:sp>
        <p:nvSpPr>
          <p:cNvPr id="4" name="Shape 2"/>
          <p:cNvSpPr/>
          <p:nvPr/>
        </p:nvSpPr>
        <p:spPr>
          <a:xfrm>
            <a:off x="1047750" y="1411188"/>
            <a:ext cx="16192500" cy="19050"/>
          </a:xfrm>
          <a:prstGeom prst="rect">
            <a:avLst/>
          </a:prstGeom>
          <a:solidFill>
            <a:srgbClr val="141414"/>
          </a:solidFill>
          <a:ln/>
        </p:spPr>
      </p:sp>
      <p:sp>
        <p:nvSpPr>
          <p:cNvPr id="5" name="Shape 3"/>
          <p:cNvSpPr/>
          <p:nvPr/>
        </p:nvSpPr>
        <p:spPr>
          <a:xfrm>
            <a:off x="1047750" y="1715988"/>
            <a:ext cx="16192500" cy="1726853"/>
          </a:xfrm>
          <a:prstGeom prst="rect">
            <a:avLst/>
          </a:prstGeom>
          <a:ln w="19050">
            <a:solidFill>
              <a:srgbClr val="8A8A86"/>
            </a:solidFill>
            <a:prstDash val="dash"/>
          </a:ln>
        </p:spPr>
      </p:sp>
      <p:sp>
        <p:nvSpPr>
          <p:cNvPr id="6" name="Text 4"/>
          <p:cNvSpPr/>
          <p:nvPr/>
        </p:nvSpPr>
        <p:spPr>
          <a:xfrm>
            <a:off x="1314450" y="1925538"/>
            <a:ext cx="1722501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5554F"/>
                </a:solidFill>
                <a:latin typeface="Helvetica" pitchFamily="34" charset="0"/>
                <a:ea typeface="Helvetica" pitchFamily="34" charset="-122"/>
                <a:cs typeface="Helvetica" pitchFamily="34" charset="-120"/>
              </a:rPr>
              <a:t>OFFLINE BUILD — REBUILT AUTOMATICALLY AS THE CODEBASE EVOLVES</a:t>
            </a:r>
            <a:endParaRPr lang="en-US" sz="1800" dirty="0"/>
          </a:p>
        </p:txBody>
      </p:sp>
      <p:sp>
        <p:nvSpPr>
          <p:cNvPr id="7" name="Shape 5"/>
          <p:cNvSpPr/>
          <p:nvPr/>
        </p:nvSpPr>
        <p:spPr>
          <a:xfrm>
            <a:off x="1314450" y="2320826"/>
            <a:ext cx="5105400" cy="912465"/>
          </a:xfrm>
          <a:prstGeom prst="rect">
            <a:avLst/>
          </a:prstGeom>
          <a:ln w="14288">
            <a:solidFill>
              <a:srgbClr val="141414"/>
            </a:solidFill>
            <a:prstDash val="solid"/>
          </a:ln>
        </p:spPr>
      </p:sp>
      <p:sp>
        <p:nvSpPr>
          <p:cNvPr id="8" name="Text 6"/>
          <p:cNvSpPr/>
          <p:nvPr/>
        </p:nvSpPr>
        <p:spPr>
          <a:xfrm>
            <a:off x="1519238" y="2468463"/>
            <a:ext cx="4848987" cy="65529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41414"/>
                </a:solidFill>
                <a:latin typeface="Helvetica" pitchFamily="34" charset="0"/>
                <a:ea typeface="Helvetica" pitchFamily="34" charset="-122"/>
                <a:cs typeface="Helvetica" pitchFamily="34" charset="-120"/>
              </a:rPr>
              <a:t>Source code </a:t>
            </a:r>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 Hierarchical Summary + Code Graph, rebuilt per commit</a:t>
            </a:r>
            <a:endParaRPr lang="en-US" sz="1800" dirty="0"/>
          </a:p>
        </p:txBody>
      </p:sp>
      <p:sp>
        <p:nvSpPr>
          <p:cNvPr id="9" name="Shape 7"/>
          <p:cNvSpPr/>
          <p:nvPr/>
        </p:nvSpPr>
        <p:spPr>
          <a:xfrm>
            <a:off x="6591300" y="2320826"/>
            <a:ext cx="5105400" cy="912465"/>
          </a:xfrm>
          <a:prstGeom prst="rect">
            <a:avLst/>
          </a:prstGeom>
          <a:ln w="14288">
            <a:solidFill>
              <a:srgbClr val="141414"/>
            </a:solidFill>
            <a:prstDash val="solid"/>
          </a:ln>
        </p:spPr>
      </p:sp>
      <p:sp>
        <p:nvSpPr>
          <p:cNvPr id="10" name="Text 8"/>
          <p:cNvSpPr/>
          <p:nvPr/>
        </p:nvSpPr>
        <p:spPr>
          <a:xfrm>
            <a:off x="6796087" y="2468463"/>
            <a:ext cx="4848987" cy="65529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41414"/>
                </a:solidFill>
                <a:latin typeface="Helvetica" pitchFamily="34" charset="0"/>
                <a:ea typeface="Helvetica" pitchFamily="34" charset="-122"/>
                <a:cs typeface="Helvetica" pitchFamily="34" charset="-120"/>
              </a:rPr>
              <a:t>PRs / issues / docs </a:t>
            </a:r>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 docsearch and issuesearch indexes, incl. extracted ADRs</a:t>
            </a:r>
            <a:endParaRPr lang="en-US" sz="1800" dirty="0"/>
          </a:p>
        </p:txBody>
      </p:sp>
      <p:sp>
        <p:nvSpPr>
          <p:cNvPr id="11" name="Shape 9"/>
          <p:cNvSpPr/>
          <p:nvPr/>
        </p:nvSpPr>
        <p:spPr>
          <a:xfrm>
            <a:off x="11868150" y="2320826"/>
            <a:ext cx="5105400" cy="912465"/>
          </a:xfrm>
          <a:prstGeom prst="rect">
            <a:avLst/>
          </a:prstGeom>
          <a:ln w="14288">
            <a:solidFill>
              <a:srgbClr val="141414"/>
            </a:solidFill>
            <a:prstDash val="solid"/>
          </a:ln>
        </p:spPr>
      </p:sp>
      <p:sp>
        <p:nvSpPr>
          <p:cNvPr id="12" name="Text 10"/>
          <p:cNvSpPr/>
          <p:nvPr/>
        </p:nvSpPr>
        <p:spPr>
          <a:xfrm>
            <a:off x="12072938" y="2468463"/>
            <a:ext cx="4848987" cy="65529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41414"/>
                </a:solidFill>
                <a:latin typeface="Helvetica" pitchFamily="34" charset="0"/>
                <a:ea typeface="Helvetica" pitchFamily="34" charset="-122"/>
                <a:cs typeface="Helvetica" pitchFamily="34" charset="-120"/>
              </a:rPr>
              <a:t>Review history </a:t>
            </a:r>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 Review Gym (episodes) → RLAIF loop → per-project LoRA</a:t>
            </a:r>
            <a:endParaRPr lang="en-US" sz="1800" dirty="0"/>
          </a:p>
        </p:txBody>
      </p:sp>
      <p:sp>
        <p:nvSpPr>
          <p:cNvPr id="13" name="Text 11"/>
          <p:cNvSpPr/>
          <p:nvPr/>
        </p:nvSpPr>
        <p:spPr>
          <a:xfrm>
            <a:off x="238125" y="3519041"/>
            <a:ext cx="17811750" cy="300038"/>
          </a:xfrm>
          <a:prstGeom prst="rect">
            <a:avLst/>
          </a:prstGeom>
          <a:noFill/>
          <a:ln/>
        </p:spPr>
        <p:txBody>
          <a:bodyPr wrap="square" lIns="25400" tIns="25400" rIns="25400" bIns="25400" rtlCol="0" anchor="t">
            <a:normAutofit/>
          </a:bodyPr>
          <a:lstStyle/>
          <a:p>
            <a:pPr algn="ctr" indent="0" marL="0">
              <a:buNone/>
            </a:pPr>
            <a:r>
              <a:rPr lang="en-US" sz="1800" dirty="0">
                <a:solidFill>
                  <a:srgbClr val="8A8A86"/>
                </a:solidFill>
                <a:latin typeface="Helvetica" pitchFamily="34" charset="0"/>
                <a:ea typeface="Helvetica" pitchFamily="34" charset="-122"/>
                <a:cs typeface="Helvetica" pitchFamily="34" charset="-120"/>
              </a:rPr>
              <a:t>▼</a:t>
            </a:r>
            <a:endParaRPr lang="en-US" sz="1800" dirty="0"/>
          </a:p>
        </p:txBody>
      </p:sp>
      <p:sp>
        <p:nvSpPr>
          <p:cNvPr id="14" name="Shape 12"/>
          <p:cNvSpPr/>
          <p:nvPr/>
        </p:nvSpPr>
        <p:spPr>
          <a:xfrm>
            <a:off x="1047750" y="3857179"/>
            <a:ext cx="16192500" cy="2035448"/>
          </a:xfrm>
          <a:prstGeom prst="rect">
            <a:avLst/>
          </a:prstGeom>
          <a:ln w="19050">
            <a:solidFill>
              <a:srgbClr val="141414"/>
            </a:solidFill>
            <a:prstDash val="solid"/>
          </a:ln>
        </p:spPr>
      </p:sp>
      <p:sp>
        <p:nvSpPr>
          <p:cNvPr id="15" name="Text 13"/>
          <p:cNvSpPr/>
          <p:nvPr/>
        </p:nvSpPr>
        <p:spPr>
          <a:xfrm>
            <a:off x="1314450" y="4066729"/>
            <a:ext cx="1722501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5554F"/>
                </a:solidFill>
                <a:latin typeface="Helvetica" pitchFamily="34" charset="0"/>
                <a:ea typeface="Helvetica" pitchFamily="34" charset="-122"/>
                <a:cs typeface="Helvetica" pitchFamily="34" charset="-120"/>
              </a:rPr>
              <a:t>ORIENTATION PHASE — LINEAR, ONCE PER REVIEW</a:t>
            </a:r>
            <a:endParaRPr lang="en-US" sz="1800" dirty="0"/>
          </a:p>
        </p:txBody>
      </p:sp>
      <p:sp>
        <p:nvSpPr>
          <p:cNvPr id="16" name="Shape 14"/>
          <p:cNvSpPr/>
          <p:nvPr/>
        </p:nvSpPr>
        <p:spPr>
          <a:xfrm>
            <a:off x="1314450" y="4462016"/>
            <a:ext cx="7553325" cy="1221060"/>
          </a:xfrm>
          <a:prstGeom prst="rect">
            <a:avLst/>
          </a:prstGeom>
          <a:ln w="14288">
            <a:solidFill>
              <a:srgbClr val="141414"/>
            </a:solidFill>
            <a:prstDash val="solid"/>
          </a:ln>
        </p:spPr>
      </p:sp>
      <p:sp>
        <p:nvSpPr>
          <p:cNvPr id="17" name="Text 15"/>
          <p:cNvSpPr/>
          <p:nvPr/>
        </p:nvSpPr>
        <p:spPr>
          <a:xfrm>
            <a:off x="1519238" y="4609654"/>
            <a:ext cx="7370350" cy="963885"/>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41414"/>
                </a:solidFill>
                <a:latin typeface="Helvetica" pitchFamily="34" charset="0"/>
                <a:ea typeface="Helvetica" pitchFamily="34" charset="-122"/>
                <a:cs typeface="Helvetica" pitchFamily="34" charset="-120"/>
              </a:rPr>
              <a:t>Context Assembly </a:t>
            </a:r>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(deterministic, no LLM): diff → symbol extraction → Code Graph 1-hop neighbors → [Project Summary] + [Related Classes]</a:t>
            </a:r>
            <a:endParaRPr lang="en-US" sz="1800" dirty="0"/>
          </a:p>
        </p:txBody>
      </p:sp>
      <p:sp>
        <p:nvSpPr>
          <p:cNvPr id="18" name="Text 16"/>
          <p:cNvSpPr/>
          <p:nvPr/>
        </p:nvSpPr>
        <p:spPr>
          <a:xfrm>
            <a:off x="9020175" y="4929634"/>
            <a:ext cx="3238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8A8A86"/>
                </a:solidFill>
                <a:latin typeface="Helvetica" pitchFamily="34" charset="0"/>
                <a:ea typeface="Helvetica" pitchFamily="34" charset="-122"/>
                <a:cs typeface="Helvetica" pitchFamily="34" charset="-120"/>
              </a:rPr>
              <a:t>→</a:t>
            </a:r>
            <a:endParaRPr lang="en-US" sz="1950" dirty="0"/>
          </a:p>
        </p:txBody>
      </p:sp>
      <p:sp>
        <p:nvSpPr>
          <p:cNvPr id="19" name="Shape 17"/>
          <p:cNvSpPr/>
          <p:nvPr/>
        </p:nvSpPr>
        <p:spPr>
          <a:xfrm>
            <a:off x="9420225" y="4616276"/>
            <a:ext cx="7553325" cy="912465"/>
          </a:xfrm>
          <a:prstGeom prst="rect">
            <a:avLst/>
          </a:prstGeom>
          <a:solidFill>
            <a:srgbClr val="141414"/>
          </a:solidFill>
          <a:ln w="14288">
            <a:solidFill>
              <a:srgbClr val="141414"/>
            </a:solidFill>
            <a:prstDash val="solid"/>
          </a:ln>
        </p:spPr>
      </p:sp>
      <p:sp>
        <p:nvSpPr>
          <p:cNvPr id="20" name="Text 18"/>
          <p:cNvSpPr/>
          <p:nvPr/>
        </p:nvSpPr>
        <p:spPr>
          <a:xfrm>
            <a:off x="9625013" y="4763914"/>
            <a:ext cx="7370350" cy="65529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FDFDFB"/>
                </a:solidFill>
                <a:latin typeface="Helvetica" pitchFamily="34" charset="0"/>
                <a:ea typeface="Helvetica" pitchFamily="34" charset="-122"/>
                <a:cs typeface="Helvetica" pitchFamily="34" charset="-120"/>
              </a:rPr>
              <a:t>Interpretation Agent </a:t>
            </a:r>
            <a:pPr algn="l" indent="0" marL="0">
              <a:lnSpc>
                <a:spcPct val="135000"/>
              </a:lnSpc>
              <a:buNone/>
            </a:pPr>
            <a:r>
              <a:rPr lang="en-US" sz="1800" dirty="0">
                <a:solidFill>
                  <a:srgbClr val="FDFDFB"/>
                </a:solidFill>
                <a:highlight>
                  <a:srgbClr val="141414"/>
                </a:highlight>
                <a:latin typeface="Helvetica" pitchFamily="34" charset="0"/>
                <a:ea typeface="Helvetica" pitchFamily="34" charset="-122"/>
                <a:cs typeface="Helvetica" pitchFamily="34" charset="-120"/>
              </a:rPr>
              <a:t>(LLM, once; issue/doc/codesearch, ≤5 calls): outputs Interpretation (what &amp; why) + Expectancies</a:t>
            </a:r>
            <a:endParaRPr lang="en-US" sz="1800" dirty="0"/>
          </a:p>
        </p:txBody>
      </p:sp>
      <p:sp>
        <p:nvSpPr>
          <p:cNvPr id="21" name="Text 19"/>
          <p:cNvSpPr/>
          <p:nvPr/>
        </p:nvSpPr>
        <p:spPr>
          <a:xfrm>
            <a:off x="238125" y="5968826"/>
            <a:ext cx="17811750" cy="300038"/>
          </a:xfrm>
          <a:prstGeom prst="rect">
            <a:avLst/>
          </a:prstGeom>
          <a:noFill/>
          <a:ln/>
        </p:spPr>
        <p:txBody>
          <a:bodyPr wrap="square" lIns="25400" tIns="25400" rIns="25400" bIns="25400" rtlCol="0" anchor="t">
            <a:normAutofit/>
          </a:bodyPr>
          <a:lstStyle/>
          <a:p>
            <a:pPr algn="ctr" indent="0" marL="0">
              <a:buNone/>
            </a:pPr>
            <a:r>
              <a:rPr lang="en-US" sz="1800" dirty="0">
                <a:solidFill>
                  <a:srgbClr val="8A8A86"/>
                </a:solidFill>
                <a:latin typeface="Helvetica" pitchFamily="34" charset="0"/>
                <a:ea typeface="Helvetica" pitchFamily="34" charset="-122"/>
                <a:cs typeface="Helvetica" pitchFamily="34" charset="-120"/>
              </a:rPr>
              <a:t>▼</a:t>
            </a:r>
            <a:endParaRPr lang="en-US" sz="1800" dirty="0"/>
          </a:p>
        </p:txBody>
      </p:sp>
      <p:sp>
        <p:nvSpPr>
          <p:cNvPr id="22" name="Shape 20"/>
          <p:cNvSpPr/>
          <p:nvPr/>
        </p:nvSpPr>
        <p:spPr>
          <a:xfrm>
            <a:off x="1047750" y="6306964"/>
            <a:ext cx="16192500" cy="2344043"/>
          </a:xfrm>
          <a:prstGeom prst="rect">
            <a:avLst/>
          </a:prstGeom>
          <a:ln w="19050">
            <a:solidFill>
              <a:srgbClr val="141414"/>
            </a:solidFill>
            <a:prstDash val="solid"/>
          </a:ln>
        </p:spPr>
      </p:sp>
      <p:sp>
        <p:nvSpPr>
          <p:cNvPr id="23" name="Text 21"/>
          <p:cNvSpPr/>
          <p:nvPr/>
        </p:nvSpPr>
        <p:spPr>
          <a:xfrm>
            <a:off x="1314450" y="6516514"/>
            <a:ext cx="1722501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5554F"/>
                </a:solidFill>
                <a:latin typeface="Helvetica" pitchFamily="34" charset="0"/>
                <a:ea typeface="Helvetica" pitchFamily="34" charset="-122"/>
                <a:cs typeface="Helvetica" pitchFamily="34" charset="-120"/>
              </a:rPr>
              <a:t>ANALYTICAL PHASE — UNROLLED LOOP OVER STEPS AND ISSUES</a:t>
            </a:r>
            <a:endParaRPr lang="en-US" sz="1800" dirty="0"/>
          </a:p>
        </p:txBody>
      </p:sp>
      <p:sp>
        <p:nvSpPr>
          <p:cNvPr id="24" name="Shape 22"/>
          <p:cNvSpPr/>
          <p:nvPr/>
        </p:nvSpPr>
        <p:spPr>
          <a:xfrm>
            <a:off x="1314450" y="6911801"/>
            <a:ext cx="3500438" cy="1529655"/>
          </a:xfrm>
          <a:prstGeom prst="rect">
            <a:avLst/>
          </a:prstGeom>
          <a:ln w="14288">
            <a:solidFill>
              <a:srgbClr val="141414"/>
            </a:solidFill>
            <a:prstDash val="solid"/>
          </a:ln>
        </p:spPr>
      </p:sp>
      <p:sp>
        <p:nvSpPr>
          <p:cNvPr id="25" name="Text 23"/>
          <p:cNvSpPr/>
          <p:nvPr/>
        </p:nvSpPr>
        <p:spPr>
          <a:xfrm>
            <a:off x="1519238" y="7059439"/>
            <a:ext cx="3195876" cy="127248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41414"/>
                </a:solidFill>
                <a:latin typeface="Helvetica" pitchFamily="34" charset="0"/>
                <a:ea typeface="Helvetica" pitchFamily="34" charset="-122"/>
                <a:cs typeface="Helvetica" pitchFamily="34" charset="-120"/>
              </a:rPr>
              <a:t>Planning </a:t>
            </a:r>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(algorithm, no LLM): hunks + Code Graph → topologically sorted review steps</a:t>
            </a:r>
            <a:endParaRPr lang="en-US" sz="1800" dirty="0"/>
          </a:p>
        </p:txBody>
      </p:sp>
      <p:sp>
        <p:nvSpPr>
          <p:cNvPr id="26" name="Text 24"/>
          <p:cNvSpPr/>
          <p:nvPr/>
        </p:nvSpPr>
        <p:spPr>
          <a:xfrm>
            <a:off x="4967288" y="6911801"/>
            <a:ext cx="323850" cy="1567755"/>
          </a:xfrm>
          <a:prstGeom prst="rect">
            <a:avLst/>
          </a:prstGeom>
          <a:noFill/>
          <a:ln/>
        </p:spPr>
        <p:txBody>
          <a:bodyPr wrap="square" lIns="25400" tIns="25400" rIns="25400" bIns="25400" rtlCol="0" anchor="ctr">
            <a:normAutofit/>
          </a:bodyPr>
          <a:lstStyle/>
          <a:p>
            <a:pPr algn="l" indent="0" marL="0">
              <a:buNone/>
            </a:pPr>
            <a:r>
              <a:rPr lang="en-US" sz="1950" dirty="0">
                <a:solidFill>
                  <a:srgbClr val="8A8A86"/>
                </a:solidFill>
                <a:latin typeface="Helvetica" pitchFamily="34" charset="0"/>
                <a:ea typeface="Helvetica" pitchFamily="34" charset="-122"/>
                <a:cs typeface="Helvetica" pitchFamily="34" charset="-120"/>
              </a:rPr>
              <a:t>→</a:t>
            </a:r>
            <a:endParaRPr lang="en-US" sz="1950" dirty="0"/>
          </a:p>
        </p:txBody>
      </p:sp>
      <p:sp>
        <p:nvSpPr>
          <p:cNvPr id="27" name="Shape 25"/>
          <p:cNvSpPr/>
          <p:nvPr/>
        </p:nvSpPr>
        <p:spPr>
          <a:xfrm>
            <a:off x="5367338" y="6911801"/>
            <a:ext cx="3500438" cy="1529655"/>
          </a:xfrm>
          <a:prstGeom prst="rect">
            <a:avLst/>
          </a:prstGeom>
          <a:solidFill>
            <a:srgbClr val="141414"/>
          </a:solidFill>
          <a:ln w="14288">
            <a:solidFill>
              <a:srgbClr val="141414"/>
            </a:solidFill>
            <a:prstDash val="solid"/>
          </a:ln>
        </p:spPr>
      </p:sp>
      <p:sp>
        <p:nvSpPr>
          <p:cNvPr id="28" name="Text 26"/>
          <p:cNvSpPr/>
          <p:nvPr/>
        </p:nvSpPr>
        <p:spPr>
          <a:xfrm>
            <a:off x="5572125" y="7059439"/>
            <a:ext cx="3195876" cy="127248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FDFDFB"/>
                </a:solidFill>
                <a:latin typeface="Helvetica" pitchFamily="34" charset="0"/>
                <a:ea typeface="Helvetica" pitchFamily="34" charset="-122"/>
                <a:cs typeface="Helvetica" pitchFamily="34" charset="-120"/>
              </a:rPr>
              <a:t>Drafting Agent </a:t>
            </a:r>
            <a:pPr algn="l" indent="0" marL="0">
              <a:lnSpc>
                <a:spcPct val="135000"/>
              </a:lnSpc>
              <a:buNone/>
            </a:pPr>
            <a:r>
              <a:rPr lang="en-US" sz="1800" dirty="0">
                <a:solidFill>
                  <a:srgbClr val="FDFDFB"/>
                </a:solidFill>
                <a:highlight>
                  <a:srgbClr val="141414"/>
                </a:highlight>
                <a:latin typeface="Helvetica" pitchFamily="34" charset="0"/>
                <a:ea typeface="Helvetica" pitchFamily="34" charset="-122"/>
                <a:cs typeface="Helvetica" pitchFamily="34" charset="-120"/>
              </a:rPr>
              <a:t>(RLAIF-trained; once per step; no tools): draft issues, tuned for recall</a:t>
            </a:r>
            <a:endParaRPr lang="en-US" sz="1800" dirty="0"/>
          </a:p>
        </p:txBody>
      </p:sp>
      <p:sp>
        <p:nvSpPr>
          <p:cNvPr id="29" name="Text 27"/>
          <p:cNvSpPr/>
          <p:nvPr/>
        </p:nvSpPr>
        <p:spPr>
          <a:xfrm>
            <a:off x="9020175" y="6911801"/>
            <a:ext cx="323850" cy="1567755"/>
          </a:xfrm>
          <a:prstGeom prst="rect">
            <a:avLst/>
          </a:prstGeom>
          <a:noFill/>
          <a:ln/>
        </p:spPr>
        <p:txBody>
          <a:bodyPr wrap="square" lIns="25400" tIns="25400" rIns="25400" bIns="25400" rtlCol="0" anchor="ctr">
            <a:normAutofit/>
          </a:bodyPr>
          <a:lstStyle/>
          <a:p>
            <a:pPr algn="l" indent="0" marL="0">
              <a:buNone/>
            </a:pPr>
            <a:r>
              <a:rPr lang="en-US" sz="1950" dirty="0">
                <a:solidFill>
                  <a:srgbClr val="8A8A86"/>
                </a:solidFill>
                <a:latin typeface="Helvetica" pitchFamily="34" charset="0"/>
                <a:ea typeface="Helvetica" pitchFamily="34" charset="-122"/>
                <a:cs typeface="Helvetica" pitchFamily="34" charset="-120"/>
              </a:rPr>
              <a:t>→</a:t>
            </a:r>
            <a:endParaRPr lang="en-US" sz="1950" dirty="0"/>
          </a:p>
        </p:txBody>
      </p:sp>
      <p:sp>
        <p:nvSpPr>
          <p:cNvPr id="30" name="Shape 28"/>
          <p:cNvSpPr/>
          <p:nvPr/>
        </p:nvSpPr>
        <p:spPr>
          <a:xfrm>
            <a:off x="9420225" y="6911801"/>
            <a:ext cx="3500438" cy="1529655"/>
          </a:xfrm>
          <a:prstGeom prst="rect">
            <a:avLst/>
          </a:prstGeom>
          <a:solidFill>
            <a:srgbClr val="141414"/>
          </a:solidFill>
          <a:ln w="14288">
            <a:solidFill>
              <a:srgbClr val="141414"/>
            </a:solidFill>
            <a:prstDash val="solid"/>
          </a:ln>
        </p:spPr>
      </p:sp>
      <p:sp>
        <p:nvSpPr>
          <p:cNvPr id="31" name="Text 29"/>
          <p:cNvSpPr/>
          <p:nvPr/>
        </p:nvSpPr>
        <p:spPr>
          <a:xfrm>
            <a:off x="9625013" y="7059439"/>
            <a:ext cx="3195876" cy="127248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FDFDFB"/>
                </a:solidFill>
                <a:latin typeface="Helvetica" pitchFamily="34" charset="0"/>
                <a:ea typeface="Helvetica" pitchFamily="34" charset="-122"/>
                <a:cs typeface="Helvetica" pitchFamily="34" charset="-120"/>
              </a:rPr>
              <a:t>Pruning Agent </a:t>
            </a:r>
            <a:pPr algn="l" indent="0" marL="0">
              <a:lnSpc>
                <a:spcPct val="135000"/>
              </a:lnSpc>
              <a:buNone/>
            </a:pPr>
            <a:r>
              <a:rPr lang="en-US" sz="1800" dirty="0">
                <a:solidFill>
                  <a:srgbClr val="FDFDFB"/>
                </a:solidFill>
                <a:highlight>
                  <a:srgbClr val="141414"/>
                </a:highlight>
                <a:latin typeface="Helvetica" pitchFamily="34" charset="0"/>
                <a:ea typeface="Helvetica" pitchFamily="34" charset="-122"/>
                <a:cs typeface="Helvetica" pitchFamily="34" charset="-120"/>
              </a:rPr>
              <a:t>(RLAIF-trained; once per issue; ≤3 tool calls): keep/discard + reason, tuned for precision</a:t>
            </a:r>
            <a:endParaRPr lang="en-US" sz="1800" dirty="0"/>
          </a:p>
        </p:txBody>
      </p:sp>
      <p:sp>
        <p:nvSpPr>
          <p:cNvPr id="32" name="Text 30"/>
          <p:cNvSpPr/>
          <p:nvPr/>
        </p:nvSpPr>
        <p:spPr>
          <a:xfrm>
            <a:off x="13073063" y="6911801"/>
            <a:ext cx="323850" cy="1567755"/>
          </a:xfrm>
          <a:prstGeom prst="rect">
            <a:avLst/>
          </a:prstGeom>
          <a:noFill/>
          <a:ln/>
        </p:spPr>
        <p:txBody>
          <a:bodyPr wrap="square" lIns="25400" tIns="25400" rIns="25400" bIns="25400" rtlCol="0" anchor="ctr">
            <a:normAutofit/>
          </a:bodyPr>
          <a:lstStyle/>
          <a:p>
            <a:pPr algn="l" indent="0" marL="0">
              <a:buNone/>
            </a:pPr>
            <a:r>
              <a:rPr lang="en-US" sz="1950" dirty="0">
                <a:solidFill>
                  <a:srgbClr val="8A8A86"/>
                </a:solidFill>
                <a:latin typeface="Helvetica" pitchFamily="34" charset="0"/>
                <a:ea typeface="Helvetica" pitchFamily="34" charset="-122"/>
                <a:cs typeface="Helvetica" pitchFamily="34" charset="-120"/>
              </a:rPr>
              <a:t>→</a:t>
            </a:r>
            <a:endParaRPr lang="en-US" sz="1950" dirty="0"/>
          </a:p>
        </p:txBody>
      </p:sp>
      <p:sp>
        <p:nvSpPr>
          <p:cNvPr id="33" name="Shape 31"/>
          <p:cNvSpPr/>
          <p:nvPr/>
        </p:nvSpPr>
        <p:spPr>
          <a:xfrm>
            <a:off x="13473113" y="6911801"/>
            <a:ext cx="3500438" cy="1529655"/>
          </a:xfrm>
          <a:prstGeom prst="rect">
            <a:avLst/>
          </a:prstGeom>
          <a:ln w="14288">
            <a:solidFill>
              <a:srgbClr val="141414"/>
            </a:solidFill>
            <a:prstDash val="solid"/>
          </a:ln>
        </p:spPr>
      </p:sp>
      <p:sp>
        <p:nvSpPr>
          <p:cNvPr id="34" name="Text 32"/>
          <p:cNvSpPr/>
          <p:nvPr/>
        </p:nvSpPr>
        <p:spPr>
          <a:xfrm>
            <a:off x="13677900" y="7059439"/>
            <a:ext cx="3195876" cy="127248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41414"/>
                </a:solidFill>
                <a:latin typeface="Helvetica" pitchFamily="34" charset="0"/>
                <a:ea typeface="Helvetica" pitchFamily="34" charset="-122"/>
                <a:cs typeface="Helvetica" pitchFamily="34" charset="-120"/>
              </a:rPr>
              <a:t>Verdict </a:t>
            </a:r>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(rule, no LLM) + </a:t>
            </a:r>
            <a:pPr algn="l" indent="0" marL="0">
              <a:lnSpc>
                <a:spcPct val="135000"/>
              </a:lnSpc>
              <a:buNone/>
            </a:pPr>
            <a:r>
              <a:rPr lang="en-US" sz="1800" b="1" dirty="0">
                <a:solidFill>
                  <a:srgbClr val="141414"/>
                </a:solidFill>
                <a:latin typeface="Helvetica" pitchFamily="34" charset="0"/>
                <a:ea typeface="Helvetica" pitchFamily="34" charset="-122"/>
                <a:cs typeface="Helvetica" pitchFamily="34" charset="-120"/>
              </a:rPr>
              <a:t>Summary </a:t>
            </a:r>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(LLM, once): approve / comment / request-changes + report</a:t>
            </a:r>
            <a:endParaRPr lang="en-US" sz="1800" dirty="0"/>
          </a:p>
        </p:txBody>
      </p:sp>
      <p:sp>
        <p:nvSpPr>
          <p:cNvPr id="35" name="Text 33"/>
          <p:cNvSpPr/>
          <p:nvPr/>
        </p:nvSpPr>
        <p:spPr>
          <a:xfrm>
            <a:off x="1047750" y="8898657"/>
            <a:ext cx="16678275"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55554F"/>
                </a:solidFill>
                <a:latin typeface="Helvetica" pitchFamily="34" charset="0"/>
                <a:ea typeface="Helvetica" pitchFamily="34" charset="-122"/>
                <a:cs typeface="Helvetica" pitchFamily="34" charset="-120"/>
              </a:rPr>
              <a:t>The division follows P2: only the two stages that need review judgment (Drafting, Pruning) are learned; context assembly, planning, and the verdict are implemented as rules because they require no judgment.</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97692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ARCHITECTURE · 1</a:t>
            </a:r>
            <a:endParaRPr lang="en-US" sz="1800" dirty="0"/>
          </a:p>
        </p:txBody>
      </p:sp>
      <p:sp>
        <p:nvSpPr>
          <p:cNvPr id="3" name="Text 1"/>
          <p:cNvSpPr/>
          <p:nvPr/>
        </p:nvSpPr>
        <p:spPr>
          <a:xfrm>
            <a:off x="1047750" y="1252538"/>
            <a:ext cx="5219514"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Orientation Phase</a:t>
            </a:r>
            <a:endParaRPr lang="en-US" sz="4500" dirty="0"/>
          </a:p>
        </p:txBody>
      </p:sp>
      <p:sp>
        <p:nvSpPr>
          <p:cNvPr id="4" name="Shape 2"/>
          <p:cNvSpPr/>
          <p:nvPr/>
        </p:nvSpPr>
        <p:spPr>
          <a:xfrm>
            <a:off x="1047750" y="2155478"/>
            <a:ext cx="16192500" cy="19050"/>
          </a:xfrm>
          <a:prstGeom prst="rect">
            <a:avLst/>
          </a:prstGeom>
          <a:solidFill>
            <a:srgbClr val="141414"/>
          </a:solidFill>
          <a:ln/>
        </p:spPr>
      </p:sp>
      <p:sp>
        <p:nvSpPr>
          <p:cNvPr id="5" name="Shape 3"/>
          <p:cNvSpPr/>
          <p:nvPr/>
        </p:nvSpPr>
        <p:spPr>
          <a:xfrm>
            <a:off x="1047750" y="2593628"/>
            <a:ext cx="7924800" cy="4646637"/>
          </a:xfrm>
          <a:prstGeom prst="rect">
            <a:avLst/>
          </a:prstGeom>
          <a:ln w="19050">
            <a:solidFill>
              <a:srgbClr val="141414"/>
            </a:solidFill>
            <a:prstDash val="solid"/>
          </a:ln>
        </p:spPr>
      </p:sp>
      <p:sp>
        <p:nvSpPr>
          <p:cNvPr id="6" name="Text 4"/>
          <p:cNvSpPr/>
          <p:nvPr/>
        </p:nvSpPr>
        <p:spPr>
          <a:xfrm>
            <a:off x="1409700" y="2898428"/>
            <a:ext cx="7920990"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141414"/>
                </a:solidFill>
                <a:latin typeface="Helvetica" pitchFamily="34" charset="0"/>
                <a:ea typeface="Helvetica" pitchFamily="34" charset="-122"/>
                <a:cs typeface="Helvetica" pitchFamily="34" charset="-120"/>
              </a:rPr>
              <a:t>Context Assembly </a:t>
            </a:r>
            <a:pPr algn="l" indent="0" marL="0">
              <a:buNone/>
            </a:pPr>
            <a:r>
              <a:rPr lang="en-US" sz="1875" dirty="0">
                <a:solidFill>
                  <a:srgbClr val="8A8A86"/>
                </a:solidFill>
                <a:latin typeface="Helvetica" pitchFamily="34" charset="0"/>
                <a:ea typeface="Helvetica" pitchFamily="34" charset="-122"/>
                <a:cs typeface="Helvetica" pitchFamily="34" charset="-120"/>
              </a:rPr>
              <a:t>— deterministic pipeline</a:t>
            </a:r>
            <a:endParaRPr lang="en-US" sz="2250" dirty="0"/>
          </a:p>
        </p:txBody>
      </p:sp>
      <p:sp>
        <p:nvSpPr>
          <p:cNvPr id="7" name="Text 5"/>
          <p:cNvSpPr/>
          <p:nvPr/>
        </p:nvSpPr>
        <p:spPr>
          <a:xfrm>
            <a:off x="1409700" y="3398490"/>
            <a:ext cx="7920990" cy="383381"/>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55554F"/>
                </a:solidFill>
                <a:latin typeface="Helvetica" pitchFamily="34" charset="0"/>
                <a:ea typeface="Helvetica" pitchFamily="34" charset="-122"/>
                <a:cs typeface="Helvetica" pitchFamily="34" charset="-120"/>
              </a:rPr>
              <a:t>CRDM theme: understanding context</a:t>
            </a:r>
            <a:endParaRPr lang="en-US" sz="1875" dirty="0"/>
          </a:p>
        </p:txBody>
      </p:sp>
      <p:sp>
        <p:nvSpPr>
          <p:cNvPr id="8" name="Shape 6"/>
          <p:cNvSpPr/>
          <p:nvPr/>
        </p:nvSpPr>
        <p:spPr>
          <a:xfrm>
            <a:off x="1409700" y="3915221"/>
            <a:ext cx="28575" cy="1062856"/>
          </a:xfrm>
          <a:prstGeom prst="rect">
            <a:avLst/>
          </a:prstGeom>
          <a:solidFill>
            <a:srgbClr val="141414"/>
          </a:solidFill>
          <a:ln/>
        </p:spPr>
      </p:sp>
      <p:sp>
        <p:nvSpPr>
          <p:cNvPr id="9" name="Text 7"/>
          <p:cNvSpPr/>
          <p:nvPr/>
        </p:nvSpPr>
        <p:spPr>
          <a:xfrm>
            <a:off x="1647825" y="3915221"/>
            <a:ext cx="7178802" cy="1100956"/>
          </a:xfrm>
          <a:prstGeom prst="rect">
            <a:avLst/>
          </a:prstGeom>
          <a:noFill/>
          <a:ln/>
        </p:spPr>
        <p:txBody>
          <a:bodyPr wrap="square" lIns="25400" tIns="25400" rIns="25400" bIns="25400" rtlCol="0" anchor="t">
            <a:normAutofit/>
          </a:bodyPr>
          <a:lstStyle/>
          <a:p>
            <a:pPr algn="l" indent="0" marL="0">
              <a:lnSpc>
                <a:spcPct val="155000"/>
              </a:lnSpc>
              <a:buNone/>
            </a:pPr>
            <a:r>
              <a:rPr lang="en-US" sz="1800" dirty="0">
                <a:solidFill>
                  <a:srgbClr val="141414"/>
                </a:solidFill>
                <a:latin typeface="Menlo" pitchFamily="34" charset="0"/>
                <a:ea typeface="Menlo" pitchFamily="34" charset="-122"/>
                <a:cs typeface="Menlo" pitchFamily="34" charset="-120"/>
              </a:rPr>
              <a:t>diff → extract symbols → Code Graph 1-hop neighbors → [Project Summary] + [Related Classes]</a:t>
            </a:r>
            <a:endParaRPr lang="en-US" sz="1800" dirty="0"/>
          </a:p>
        </p:txBody>
      </p:sp>
      <p:sp>
        <p:nvSpPr>
          <p:cNvPr id="10" name="Text 8"/>
          <p:cNvSpPr/>
          <p:nvPr/>
        </p:nvSpPr>
        <p:spPr>
          <a:xfrm>
            <a:off x="1409700" y="5149528"/>
            <a:ext cx="7416927" cy="1824038"/>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141414"/>
                </a:solidFill>
                <a:latin typeface="Helvetica" pitchFamily="34" charset="0"/>
                <a:ea typeface="Helvetica" pitchFamily="34" charset="-122"/>
                <a:cs typeface="Helvetica" pitchFamily="34" charset="-120"/>
              </a:rPr>
              <a:t>Not an agent: in the study, understanding context is fast, formulaic lookup (who, where, what kind of change). Formulaic lookup is procedure plus knowledge and requires no judgment. Embedding similarity is not used for dependencies, because dependency questions have exact answers in the Code Graph.</a:t>
            </a:r>
            <a:endParaRPr lang="en-US" sz="1875" dirty="0"/>
          </a:p>
        </p:txBody>
      </p:sp>
      <p:sp>
        <p:nvSpPr>
          <p:cNvPr id="11" name="Shape 9"/>
          <p:cNvSpPr/>
          <p:nvPr/>
        </p:nvSpPr>
        <p:spPr>
          <a:xfrm>
            <a:off x="9315450" y="2593628"/>
            <a:ext cx="7924800" cy="4646637"/>
          </a:xfrm>
          <a:prstGeom prst="rect">
            <a:avLst/>
          </a:prstGeom>
          <a:ln w="19050">
            <a:solidFill>
              <a:srgbClr val="141414"/>
            </a:solidFill>
            <a:prstDash val="solid"/>
          </a:ln>
        </p:spPr>
      </p:sp>
      <p:sp>
        <p:nvSpPr>
          <p:cNvPr id="12" name="Text 10"/>
          <p:cNvSpPr/>
          <p:nvPr/>
        </p:nvSpPr>
        <p:spPr>
          <a:xfrm>
            <a:off x="9677400" y="2898428"/>
            <a:ext cx="7920990"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141414"/>
                </a:solidFill>
                <a:latin typeface="Helvetica" pitchFamily="34" charset="0"/>
                <a:ea typeface="Helvetica" pitchFamily="34" charset="-122"/>
                <a:cs typeface="Helvetica" pitchFamily="34" charset="-120"/>
              </a:rPr>
              <a:t>Interpretation Agent </a:t>
            </a:r>
            <a:pPr algn="l" indent="0" marL="0">
              <a:buNone/>
            </a:pPr>
            <a:r>
              <a:rPr lang="en-US" sz="1875" dirty="0">
                <a:solidFill>
                  <a:srgbClr val="8A8A86"/>
                </a:solidFill>
                <a:latin typeface="Helvetica" pitchFamily="34" charset="0"/>
                <a:ea typeface="Helvetica" pitchFamily="34" charset="-122"/>
                <a:cs typeface="Helvetica" pitchFamily="34" charset="-120"/>
              </a:rPr>
              <a:t>— LLM, once per review</a:t>
            </a:r>
            <a:endParaRPr lang="en-US" sz="2250" dirty="0"/>
          </a:p>
        </p:txBody>
      </p:sp>
      <p:sp>
        <p:nvSpPr>
          <p:cNvPr id="13" name="Text 11"/>
          <p:cNvSpPr/>
          <p:nvPr/>
        </p:nvSpPr>
        <p:spPr>
          <a:xfrm>
            <a:off x="9677400" y="3398490"/>
            <a:ext cx="7920990" cy="383381"/>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55554F"/>
                </a:solidFill>
                <a:latin typeface="Helvetica" pitchFamily="34" charset="0"/>
                <a:ea typeface="Helvetica" pitchFamily="34" charset="-122"/>
                <a:cs typeface="Helvetica" pitchFamily="34" charset="-120"/>
              </a:rPr>
              <a:t>CRDM theme: understanding rationale</a:t>
            </a:r>
            <a:endParaRPr lang="en-US" sz="1875" dirty="0"/>
          </a:p>
        </p:txBody>
      </p:sp>
      <p:sp>
        <p:nvSpPr>
          <p:cNvPr id="14" name="Shape 12"/>
          <p:cNvSpPr/>
          <p:nvPr/>
        </p:nvSpPr>
        <p:spPr>
          <a:xfrm>
            <a:off x="9677400" y="3915221"/>
            <a:ext cx="28575" cy="1062856"/>
          </a:xfrm>
          <a:prstGeom prst="rect">
            <a:avLst/>
          </a:prstGeom>
          <a:solidFill>
            <a:srgbClr val="141414"/>
          </a:solidFill>
          <a:ln/>
        </p:spPr>
      </p:sp>
      <p:sp>
        <p:nvSpPr>
          <p:cNvPr id="15" name="Text 13"/>
          <p:cNvSpPr/>
          <p:nvPr/>
        </p:nvSpPr>
        <p:spPr>
          <a:xfrm>
            <a:off x="9915525" y="3915221"/>
            <a:ext cx="7178802" cy="1100956"/>
          </a:xfrm>
          <a:prstGeom prst="rect">
            <a:avLst/>
          </a:prstGeom>
          <a:noFill/>
          <a:ln/>
        </p:spPr>
        <p:txBody>
          <a:bodyPr wrap="square" lIns="25400" tIns="25400" rIns="25400" bIns="25400" rtlCol="0" anchor="t">
            <a:normAutofit/>
          </a:bodyPr>
          <a:lstStyle/>
          <a:p>
            <a:pPr algn="l" indent="0" marL="0">
              <a:lnSpc>
                <a:spcPct val="155000"/>
              </a:lnSpc>
              <a:buNone/>
            </a:pPr>
            <a:r>
              <a:rPr lang="en-US" sz="1800" dirty="0">
                <a:solidFill>
                  <a:srgbClr val="141414"/>
                </a:solidFill>
                <a:latin typeface="Menlo" pitchFamily="34" charset="0"/>
                <a:ea typeface="Menlo" pitchFamily="34" charset="-122"/>
                <a:cs typeface="Menlo" pitchFamily="34" charset="-120"/>
              </a:rPr>
              <a:t>in: all hunks + PR title/body + Summary tools: issue/doc/codesearch (≤5 calls) out: INTERPRETATION + EXPECTANCIES</a:t>
            </a:r>
            <a:endParaRPr lang="en-US" sz="1800" dirty="0"/>
          </a:p>
        </p:txBody>
      </p:sp>
      <p:sp>
        <p:nvSpPr>
          <p:cNvPr id="16" name="Text 14"/>
          <p:cNvSpPr/>
          <p:nvPr/>
        </p:nvSpPr>
        <p:spPr>
          <a:xfrm>
            <a:off x="9677400" y="5149528"/>
            <a:ext cx="7416927" cy="1824038"/>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141414"/>
                </a:solidFill>
                <a:latin typeface="Helvetica" pitchFamily="34" charset="0"/>
                <a:ea typeface="Helvetica" pitchFamily="34" charset="-122"/>
                <a:cs typeface="Helvetica" pitchFamily="34" charset="-120"/>
              </a:rPr>
              <a:t>Tool access is given here because understanding rationale is where the study's reviewers consult external sources (issue trackers, prior discussions). Bounded on-demand retrieval reproduces that behaviour. The prompted base model is used; fine-tuning is deferred unless quality requires it.</a:t>
            </a:r>
            <a:endParaRPr lang="en-US" sz="1875" dirty="0"/>
          </a:p>
        </p:txBody>
      </p:sp>
      <p:sp>
        <p:nvSpPr>
          <p:cNvPr id="17" name="Text 15"/>
          <p:cNvSpPr/>
          <p:nvPr/>
        </p:nvSpPr>
        <p:spPr>
          <a:xfrm>
            <a:off x="1047750" y="7621265"/>
            <a:ext cx="15237396" cy="423863"/>
          </a:xfrm>
          <a:prstGeom prst="rect">
            <a:avLst/>
          </a:prstGeom>
          <a:noFill/>
          <a:ln/>
        </p:spPr>
        <p:txBody>
          <a:bodyPr wrap="square" lIns="25400" tIns="25400" rIns="25400" bIns="25400" rtlCol="0" anchor="t">
            <a:normAutofit/>
          </a:bodyPr>
          <a:lstStyle/>
          <a:p>
            <a:pPr algn="l" indent="0" marL="0">
              <a:lnSpc>
                <a:spcPct val="150000"/>
              </a:lnSpc>
              <a:buNone/>
            </a:pPr>
            <a:r>
              <a:rPr lang="en-US" sz="2025" dirty="0">
                <a:solidFill>
                  <a:srgbClr val="141414"/>
                </a:solidFill>
                <a:latin typeface="Helvetica" pitchFamily="34" charset="0"/>
                <a:ea typeface="Helvetica" pitchFamily="34" charset="-122"/>
                <a:cs typeface="Helvetica" pitchFamily="34" charset="-120"/>
              </a:rPr>
              <a:t>Following P3, this phase runs once and first. Its outputs are embedded in every downstream context and are not revisited.</a:t>
            </a:r>
            <a:endParaRPr lang="en-US" sz="20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97692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ARCHITECTURE · 2</a:t>
            </a:r>
            <a:endParaRPr lang="en-US" sz="1800" dirty="0"/>
          </a:p>
        </p:txBody>
      </p:sp>
      <p:sp>
        <p:nvSpPr>
          <p:cNvPr id="3" name="Text 1"/>
          <p:cNvSpPr/>
          <p:nvPr/>
        </p:nvSpPr>
        <p:spPr>
          <a:xfrm>
            <a:off x="1047750" y="1252538"/>
            <a:ext cx="3905570"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Expectancies</a:t>
            </a:r>
            <a:endParaRPr lang="en-US" sz="4500" dirty="0"/>
          </a:p>
        </p:txBody>
      </p:sp>
      <p:sp>
        <p:nvSpPr>
          <p:cNvPr id="4" name="Text 2"/>
          <p:cNvSpPr/>
          <p:nvPr/>
        </p:nvSpPr>
        <p:spPr>
          <a:xfrm>
            <a:off x="1047750" y="2574578"/>
            <a:ext cx="8669024" cy="16383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41414"/>
                </a:solidFill>
                <a:latin typeface="Helvetica" pitchFamily="34" charset="0"/>
                <a:ea typeface="Helvetica" pitchFamily="34" charset="-122"/>
                <a:cs typeface="Helvetica" pitchFamily="34" charset="-120"/>
              </a:rPr>
              <a:t>In RPD, recognition output includes expectancies: what should be present in the situation if the recognized pattern holds. The Interpretation Agent produces them as a structured block appended to the Drafting and Pruning contexts:</a:t>
            </a:r>
            <a:endParaRPr lang="en-US" sz="2100" dirty="0"/>
          </a:p>
        </p:txBody>
      </p:sp>
      <p:sp>
        <p:nvSpPr>
          <p:cNvPr id="5" name="Text 3"/>
          <p:cNvSpPr/>
          <p:nvPr/>
        </p:nvSpPr>
        <p:spPr>
          <a:xfrm>
            <a:off x="1047750" y="4465290"/>
            <a:ext cx="240982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should-contain</a:t>
            </a:r>
            <a:endParaRPr lang="en-US" sz="2025" dirty="0"/>
          </a:p>
        </p:txBody>
      </p:sp>
      <p:sp>
        <p:nvSpPr>
          <p:cNvPr id="6" name="Text 4"/>
          <p:cNvSpPr/>
          <p:nvPr/>
        </p:nvSpPr>
        <p:spPr>
          <a:xfrm>
            <a:off x="3429000" y="4441478"/>
            <a:ext cx="6216336" cy="1474291"/>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55554F"/>
                </a:solidFill>
                <a:latin typeface="Helvetica" pitchFamily="34" charset="0"/>
                <a:ea typeface="Helvetica" pitchFamily="34" charset="-122"/>
                <a:cs typeface="Helvetica" pitchFamily="34" charset="-120"/>
              </a:rPr>
              <a:t>elements this kind of change is expected to include: tests, doc updates, changes in specific dependent packages, migration notes. Derived from the interpretation plus Code Graph impact.</a:t>
            </a:r>
            <a:endParaRPr lang="en-US" sz="1950" dirty="0"/>
          </a:p>
        </p:txBody>
      </p:sp>
      <p:sp>
        <p:nvSpPr>
          <p:cNvPr id="7" name="Text 5"/>
          <p:cNvSpPr/>
          <p:nvPr/>
        </p:nvSpPr>
        <p:spPr>
          <a:xfrm>
            <a:off x="1047750" y="6053882"/>
            <a:ext cx="240982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watch-out-for</a:t>
            </a:r>
            <a:endParaRPr lang="en-US" sz="2025" dirty="0"/>
          </a:p>
        </p:txBody>
      </p:sp>
      <p:sp>
        <p:nvSpPr>
          <p:cNvPr id="8" name="Text 6"/>
          <p:cNvSpPr/>
          <p:nvPr/>
        </p:nvSpPr>
        <p:spPr>
          <a:xfrm>
            <a:off x="3429000" y="6030069"/>
            <a:ext cx="6216336"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55554F"/>
                </a:solidFill>
                <a:latin typeface="Helvetica" pitchFamily="34" charset="0"/>
                <a:ea typeface="Helvetica" pitchFamily="34" charset="-122"/>
                <a:cs typeface="Helvetica" pitchFamily="34" charset="-120"/>
              </a:rPr>
              <a:t>issue types this class of change is prone to in this project.</a:t>
            </a:r>
            <a:endParaRPr lang="en-US" sz="1950" dirty="0"/>
          </a:p>
        </p:txBody>
      </p:sp>
      <p:sp>
        <p:nvSpPr>
          <p:cNvPr id="9" name="Text 7"/>
          <p:cNvSpPr/>
          <p:nvPr/>
        </p:nvSpPr>
        <p:spPr>
          <a:xfrm>
            <a:off x="1047750" y="7014865"/>
            <a:ext cx="8669024" cy="16383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41414"/>
                </a:solidFill>
                <a:latin typeface="Helvetica" pitchFamily="34" charset="0"/>
                <a:ea typeface="Helvetica" pitchFamily="34" charset="-122"/>
                <a:cs typeface="Helvetica" pitchFamily="34" charset="-120"/>
              </a:rPr>
              <a:t>A violated expectancy functions as a recognition cue. Findings such as "the PR modifies retry behaviour but no test touches the retry path" concern what is </a:t>
            </a:r>
            <a:pPr algn="l" indent="0" marL="0">
              <a:lnSpc>
                <a:spcPct val="150000"/>
              </a:lnSpc>
              <a:buNone/>
            </a:pPr>
            <a:r>
              <a:rPr lang="en-US" sz="2100" i="1" dirty="0">
                <a:solidFill>
                  <a:srgbClr val="141414"/>
                </a:solidFill>
                <a:latin typeface="Helvetica" pitchFamily="34" charset="0"/>
                <a:ea typeface="Helvetica" pitchFamily="34" charset="-122"/>
                <a:cs typeface="Helvetica" pitchFamily="34" charset="-120"/>
              </a:rPr>
              <a:t>absent </a:t>
            </a:r>
            <a:pPr algn="l" indent="0" marL="0">
              <a:lnSpc>
                <a:spcPct val="150000"/>
              </a:lnSpc>
              <a:buNone/>
            </a:pPr>
            <a:r>
              <a:rPr lang="en-US" sz="2100" dirty="0">
                <a:solidFill>
                  <a:srgbClr val="141414"/>
                </a:solidFill>
                <a:latin typeface="Helvetica" pitchFamily="34" charset="0"/>
                <a:ea typeface="Helvetica" pitchFamily="34" charset="-122"/>
                <a:cs typeface="Helvetica" pitchFamily="34" charset="-120"/>
              </a:rPr>
              <a:t>from the diff, and are therefore not derivable from the diff content alone.</a:t>
            </a:r>
            <a:endParaRPr lang="en-US" sz="2100" dirty="0"/>
          </a:p>
        </p:txBody>
      </p:sp>
      <p:sp>
        <p:nvSpPr>
          <p:cNvPr id="10" name="Text 8"/>
          <p:cNvSpPr/>
          <p:nvPr/>
        </p:nvSpPr>
        <p:spPr>
          <a:xfrm>
            <a:off x="1047750" y="8881765"/>
            <a:ext cx="8669024"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41414"/>
                </a:solidFill>
                <a:latin typeface="Helvetica" pitchFamily="34" charset="0"/>
                <a:ea typeface="Helvetica" pitchFamily="34" charset="-122"/>
                <a:cs typeface="Helvetica" pitchFamily="34" charset="-120"/>
              </a:rPr>
              <a:t>Expectancy quality is measurable: the Review Gym records what each historical PR actually contained (touched packages, tests, linked issue), so expectancy-derived findings can be scored during training.</a:t>
            </a:r>
            <a:endParaRPr lang="en-US" sz="2100" dirty="0"/>
          </a:p>
        </p:txBody>
      </p:sp>
      <p:sp>
        <p:nvSpPr>
          <p:cNvPr id="11" name="Shape 9"/>
          <p:cNvSpPr/>
          <p:nvPr/>
        </p:nvSpPr>
        <p:spPr>
          <a:xfrm>
            <a:off x="9921478" y="2574578"/>
            <a:ext cx="7318697" cy="4145012"/>
          </a:xfrm>
          <a:prstGeom prst="rect">
            <a:avLst/>
          </a:prstGeom>
          <a:solidFill>
            <a:srgbClr val="141414"/>
          </a:solidFill>
          <a:ln/>
        </p:spPr>
      </p:sp>
      <p:sp>
        <p:nvSpPr>
          <p:cNvPr id="12" name="Text 10"/>
          <p:cNvSpPr/>
          <p:nvPr/>
        </p:nvSpPr>
        <p:spPr>
          <a:xfrm>
            <a:off x="10283428" y="2898428"/>
            <a:ext cx="6792641" cy="42669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8A8A86"/>
                </a:solidFill>
                <a:latin typeface="Menlo" pitchFamily="34" charset="0"/>
                <a:ea typeface="Menlo" pitchFamily="34" charset="-122"/>
                <a:cs typeface="Menlo" pitchFamily="34" charset="-120"/>
              </a:rPr>
              <a:t>[EXPECTANCIES]</a:t>
            </a:r>
            <a:endParaRPr lang="en-US" sz="1800" dirty="0"/>
          </a:p>
        </p:txBody>
      </p:sp>
      <p:sp>
        <p:nvSpPr>
          <p:cNvPr id="13" name="Text 11"/>
          <p:cNvSpPr/>
          <p:nvPr/>
        </p:nvSpPr>
        <p:spPr>
          <a:xfrm>
            <a:off x="10283428" y="3287018"/>
            <a:ext cx="6792641" cy="42669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FDFDFB"/>
                </a:solidFill>
                <a:latin typeface="Menlo" pitchFamily="34" charset="0"/>
                <a:ea typeface="Menlo" pitchFamily="34" charset="-122"/>
                <a:cs typeface="Menlo" pitchFamily="34" charset="-120"/>
              </a:rPr>
              <a:t>should-contain:</a:t>
            </a:r>
            <a:endParaRPr lang="en-US" sz="1800" dirty="0"/>
          </a:p>
        </p:txBody>
      </p:sp>
      <p:sp>
        <p:nvSpPr>
          <p:cNvPr id="14" name="Text 12"/>
          <p:cNvSpPr/>
          <p:nvPr/>
        </p:nvSpPr>
        <p:spPr>
          <a:xfrm>
            <a:off x="10283428" y="3675608"/>
            <a:ext cx="6792641" cy="42669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FDFDFB"/>
                </a:solidFill>
                <a:latin typeface="Menlo" pitchFamily="34" charset="0"/>
                <a:ea typeface="Menlo" pitchFamily="34" charset="-122"/>
                <a:cs typeface="Menlo" pitchFamily="34" charset="-120"/>
              </a:rPr>
              <a:t>test for X;</a:t>
            </a:r>
            <a:endParaRPr lang="en-US" sz="1800" dirty="0"/>
          </a:p>
        </p:txBody>
      </p:sp>
      <p:sp>
        <p:nvSpPr>
          <p:cNvPr id="15" name="Text 13"/>
          <p:cNvSpPr/>
          <p:nvPr/>
        </p:nvSpPr>
        <p:spPr>
          <a:xfrm>
            <a:off x="10283428" y="4064198"/>
            <a:ext cx="6792641" cy="42669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FDFDFB"/>
                </a:solidFill>
                <a:latin typeface="Menlo" pitchFamily="34" charset="0"/>
                <a:ea typeface="Menlo" pitchFamily="34" charset="-122"/>
                <a:cs typeface="Menlo" pitchFamily="34" charset="-120"/>
              </a:rPr>
              <a:t>change in package Y</a:t>
            </a:r>
            <a:endParaRPr lang="en-US" sz="1800" dirty="0"/>
          </a:p>
        </p:txBody>
      </p:sp>
      <p:sp>
        <p:nvSpPr>
          <p:cNvPr id="16" name="Text 14"/>
          <p:cNvSpPr/>
          <p:nvPr/>
        </p:nvSpPr>
        <p:spPr>
          <a:xfrm>
            <a:off x="10283428" y="4452789"/>
            <a:ext cx="6792641" cy="42669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FDFDFB"/>
                </a:solidFill>
                <a:latin typeface="Menlo" pitchFamily="34" charset="0"/>
                <a:ea typeface="Menlo" pitchFamily="34" charset="-122"/>
                <a:cs typeface="Menlo" pitchFamily="34" charset="-120"/>
              </a:rPr>
              <a:t>(Y calls the modified interface)</a:t>
            </a:r>
            <a:endParaRPr lang="en-US" sz="1800" dirty="0"/>
          </a:p>
        </p:txBody>
      </p:sp>
      <p:sp>
        <p:nvSpPr>
          <p:cNvPr id="17" name="Text 15"/>
          <p:cNvSpPr/>
          <p:nvPr/>
        </p:nvSpPr>
        <p:spPr>
          <a:xfrm>
            <a:off x="10283428" y="4841379"/>
            <a:ext cx="6792641" cy="42669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FDFDFB"/>
                </a:solidFill>
                <a:latin typeface="Menlo" pitchFamily="34" charset="0"/>
                <a:ea typeface="Menlo" pitchFamily="34" charset="-122"/>
                <a:cs typeface="Menlo" pitchFamily="34" charset="-120"/>
              </a:rPr>
              <a:t>watch-out-for:</a:t>
            </a:r>
            <a:endParaRPr lang="en-US" sz="1800" dirty="0"/>
          </a:p>
        </p:txBody>
      </p:sp>
      <p:sp>
        <p:nvSpPr>
          <p:cNvPr id="18" name="Text 16"/>
          <p:cNvSpPr/>
          <p:nvPr/>
        </p:nvSpPr>
        <p:spPr>
          <a:xfrm>
            <a:off x="10283428" y="5229969"/>
            <a:ext cx="6792641" cy="42669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FDFDFB"/>
                </a:solidFill>
                <a:latin typeface="Menlo" pitchFamily="34" charset="0"/>
                <a:ea typeface="Menlo" pitchFamily="34" charset="-122"/>
                <a:cs typeface="Menlo" pitchFamily="34" charset="-120"/>
              </a:rPr>
              <a:t>breaking change to public API;</a:t>
            </a:r>
            <a:endParaRPr lang="en-US" sz="1800" dirty="0"/>
          </a:p>
        </p:txBody>
      </p:sp>
      <p:sp>
        <p:nvSpPr>
          <p:cNvPr id="19" name="Text 17"/>
          <p:cNvSpPr/>
          <p:nvPr/>
        </p:nvSpPr>
        <p:spPr>
          <a:xfrm>
            <a:off x="10283428" y="5618559"/>
            <a:ext cx="6792641" cy="42669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FDFDFB"/>
                </a:solidFill>
                <a:latin typeface="Menlo" pitchFamily="34" charset="0"/>
                <a:ea typeface="Menlo" pitchFamily="34" charset="-122"/>
                <a:cs typeface="Menlo" pitchFamily="34" charset="-120"/>
              </a:rPr>
              <a:t>missing default for new option</a:t>
            </a:r>
            <a:endParaRPr lang="en-US" sz="1800" dirty="0"/>
          </a:p>
        </p:txBody>
      </p:sp>
      <p:sp>
        <p:nvSpPr>
          <p:cNvPr id="20" name="Text 18"/>
          <p:cNvSpPr/>
          <p:nvPr/>
        </p:nvSpPr>
        <p:spPr>
          <a:xfrm>
            <a:off x="10283428" y="6007150"/>
            <a:ext cx="6792641" cy="42669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8A8A86"/>
                </a:solidFill>
                <a:latin typeface="Menlo" pitchFamily="34" charset="0"/>
                <a:ea typeface="Menlo" pitchFamily="34" charset="-122"/>
                <a:cs typeface="Menlo" pitchFamily="34" charset="-120"/>
              </a:rPr>
              <a:t>[/EXPECTANCIES]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97692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ARCHITECTURE · 3</a:t>
            </a:r>
            <a:endParaRPr lang="en-US" sz="1800" dirty="0"/>
          </a:p>
        </p:txBody>
      </p:sp>
      <p:sp>
        <p:nvSpPr>
          <p:cNvPr id="3" name="Text 1"/>
          <p:cNvSpPr/>
          <p:nvPr/>
        </p:nvSpPr>
        <p:spPr>
          <a:xfrm>
            <a:off x="1047750" y="1252538"/>
            <a:ext cx="13093519"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Analytical Phase: Planning, Drafting, Pruning</a:t>
            </a:r>
            <a:endParaRPr lang="en-US" sz="4500" dirty="0"/>
          </a:p>
        </p:txBody>
      </p:sp>
      <p:sp>
        <p:nvSpPr>
          <p:cNvPr id="4" name="Shape 2"/>
          <p:cNvSpPr/>
          <p:nvPr/>
        </p:nvSpPr>
        <p:spPr>
          <a:xfrm>
            <a:off x="1047750" y="2155478"/>
            <a:ext cx="16192500" cy="19050"/>
          </a:xfrm>
          <a:prstGeom prst="rect">
            <a:avLst/>
          </a:prstGeom>
          <a:solidFill>
            <a:srgbClr val="141414"/>
          </a:solidFill>
          <a:ln/>
        </p:spPr>
      </p:sp>
      <p:sp>
        <p:nvSpPr>
          <p:cNvPr id="5" name="Shape 3"/>
          <p:cNvSpPr/>
          <p:nvPr/>
        </p:nvSpPr>
        <p:spPr>
          <a:xfrm>
            <a:off x="1047750" y="2555528"/>
            <a:ext cx="5219700" cy="5686425"/>
          </a:xfrm>
          <a:prstGeom prst="rect">
            <a:avLst/>
          </a:prstGeom>
          <a:ln w="19050">
            <a:solidFill>
              <a:srgbClr val="141414"/>
            </a:solidFill>
            <a:prstDash val="solid"/>
          </a:ln>
        </p:spPr>
      </p:sp>
      <p:sp>
        <p:nvSpPr>
          <p:cNvPr id="6" name="Text 4"/>
          <p:cNvSpPr/>
          <p:nvPr/>
        </p:nvSpPr>
        <p:spPr>
          <a:xfrm>
            <a:off x="1352550" y="2822228"/>
            <a:ext cx="5071110"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141414"/>
                </a:solidFill>
                <a:latin typeface="Helvetica" pitchFamily="34" charset="0"/>
                <a:ea typeface="Helvetica" pitchFamily="34" charset="-122"/>
                <a:cs typeface="Helvetica" pitchFamily="34" charset="-120"/>
              </a:rPr>
              <a:t>Planning</a:t>
            </a:r>
            <a:endParaRPr lang="en-US" sz="2175" dirty="0"/>
          </a:p>
        </p:txBody>
      </p:sp>
      <p:sp>
        <p:nvSpPr>
          <p:cNvPr id="7" name="Text 5"/>
          <p:cNvSpPr/>
          <p:nvPr/>
        </p:nvSpPr>
        <p:spPr>
          <a:xfrm>
            <a:off x="1352550" y="3274665"/>
            <a:ext cx="5071110" cy="300038"/>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8A8A86"/>
                </a:solidFill>
                <a:latin typeface="Helvetica" pitchFamily="34" charset="0"/>
                <a:ea typeface="Helvetica" pitchFamily="34" charset="-122"/>
                <a:cs typeface="Helvetica" pitchFamily="34" charset="-120"/>
              </a:rPr>
              <a:t>ALGORITHM, NO LLM</a:t>
            </a:r>
            <a:endParaRPr lang="en-US" sz="1800" dirty="0"/>
          </a:p>
        </p:txBody>
      </p:sp>
      <p:sp>
        <p:nvSpPr>
          <p:cNvPr id="8" name="Text 6"/>
          <p:cNvSpPr/>
          <p:nvPr/>
        </p:nvSpPr>
        <p:spPr>
          <a:xfrm>
            <a:off x="1352550" y="3669953"/>
            <a:ext cx="4748403" cy="1466850"/>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141414"/>
                </a:solidFill>
                <a:latin typeface="Helvetica" pitchFamily="34" charset="0"/>
                <a:ea typeface="Helvetica" pitchFamily="34" charset="-122"/>
                <a:cs typeface="Helvetica" pitchFamily="34" charset="-120"/>
              </a:rPr>
              <a:t>Hunks + Code Graph → topologically sorted review steps: depended-upon classes first; hunks of the same class form one step.</a:t>
            </a:r>
            <a:endParaRPr lang="en-US" sz="1875" dirty="0"/>
          </a:p>
        </p:txBody>
      </p:sp>
      <p:sp>
        <p:nvSpPr>
          <p:cNvPr id="9" name="Text 7"/>
          <p:cNvSpPr/>
          <p:nvPr/>
        </p:nvSpPr>
        <p:spPr>
          <a:xfrm>
            <a:off x="1352550" y="5232053"/>
            <a:ext cx="4748403" cy="27813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5554F"/>
                </a:solidFill>
                <a:latin typeface="Helvetica" pitchFamily="34" charset="0"/>
                <a:ea typeface="Helvetica" pitchFamily="34" charset="-122"/>
                <a:cs typeface="Helvetica" pitchFamily="34" charset="-120"/>
              </a:rPr>
              <a:t>The observed human reading strategy ("top of the call stack first") is explicit and can be compiled. Adaptive re-planning during review is intentionally not reproduced: it requires metacognitive control, and the study shows the analytical loop converges to iterating over all themes, which a fixed unrolled loop approximates.</a:t>
            </a:r>
            <a:endParaRPr lang="en-US" sz="1800" dirty="0"/>
          </a:p>
        </p:txBody>
      </p:sp>
      <p:sp>
        <p:nvSpPr>
          <p:cNvPr id="10" name="Shape 8"/>
          <p:cNvSpPr/>
          <p:nvPr/>
        </p:nvSpPr>
        <p:spPr>
          <a:xfrm>
            <a:off x="6534150" y="2555528"/>
            <a:ext cx="5219700" cy="5686425"/>
          </a:xfrm>
          <a:prstGeom prst="rect">
            <a:avLst/>
          </a:prstGeom>
          <a:solidFill>
            <a:srgbClr val="141414"/>
          </a:solidFill>
          <a:ln w="19050">
            <a:solidFill>
              <a:srgbClr val="141414"/>
            </a:solidFill>
            <a:prstDash val="solid"/>
          </a:ln>
        </p:spPr>
      </p:sp>
      <p:sp>
        <p:nvSpPr>
          <p:cNvPr id="11" name="Text 9"/>
          <p:cNvSpPr/>
          <p:nvPr/>
        </p:nvSpPr>
        <p:spPr>
          <a:xfrm>
            <a:off x="6838950" y="2822228"/>
            <a:ext cx="5071110"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FDFDFB"/>
                </a:solidFill>
                <a:latin typeface="Helvetica" pitchFamily="34" charset="0"/>
                <a:ea typeface="Helvetica" pitchFamily="34" charset="-122"/>
                <a:cs typeface="Helvetica" pitchFamily="34" charset="-120"/>
              </a:rPr>
              <a:t>Drafting </a:t>
            </a:r>
            <a:pPr algn="l" indent="0" marL="0">
              <a:buNone/>
            </a:pPr>
            <a:r>
              <a:rPr lang="en-US" sz="1800" dirty="0">
                <a:solidFill>
                  <a:srgbClr val="B9B8B2"/>
                </a:solidFill>
                <a:latin typeface="Helvetica" pitchFamily="34" charset="0"/>
                <a:ea typeface="Helvetica" pitchFamily="34" charset="-122"/>
                <a:cs typeface="Helvetica" pitchFamily="34" charset="-120"/>
              </a:rPr>
              <a:t>· once per step</a:t>
            </a:r>
            <a:endParaRPr lang="en-US" sz="2175" dirty="0"/>
          </a:p>
        </p:txBody>
      </p:sp>
      <p:sp>
        <p:nvSpPr>
          <p:cNvPr id="12" name="Text 10"/>
          <p:cNvSpPr/>
          <p:nvPr/>
        </p:nvSpPr>
        <p:spPr>
          <a:xfrm>
            <a:off x="6838950" y="3274665"/>
            <a:ext cx="5071110" cy="300038"/>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8A8A86"/>
                </a:solidFill>
                <a:latin typeface="Helvetica" pitchFamily="34" charset="0"/>
                <a:ea typeface="Helvetica" pitchFamily="34" charset="-122"/>
                <a:cs typeface="Helvetica" pitchFamily="34" charset="-120"/>
              </a:rPr>
              <a:t>RPD: RECOGNITION</a:t>
            </a:r>
            <a:endParaRPr lang="en-US" sz="1800" dirty="0"/>
          </a:p>
        </p:txBody>
      </p:sp>
      <p:sp>
        <p:nvSpPr>
          <p:cNvPr id="13" name="Text 11"/>
          <p:cNvSpPr/>
          <p:nvPr/>
        </p:nvSpPr>
        <p:spPr>
          <a:xfrm>
            <a:off x="6838950" y="3669953"/>
            <a:ext cx="4748403" cy="218122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FDFDFB"/>
                </a:solidFill>
                <a:latin typeface="Helvetica" pitchFamily="34" charset="0"/>
                <a:ea typeface="Helvetica" pitchFamily="34" charset="-122"/>
                <a:cs typeface="Helvetica" pitchFamily="34" charset="-120"/>
              </a:rPr>
              <a:t>No tools; byte-fixed context (Project Summary, Related Classes, step hunks, interpretation, expectancies). Recognition is treated as a perceptual act: training and inference must present situations identically, or learned patterns misfire.</a:t>
            </a:r>
            <a:endParaRPr lang="en-US" sz="1875" dirty="0"/>
          </a:p>
        </p:txBody>
      </p:sp>
      <p:sp>
        <p:nvSpPr>
          <p:cNvPr id="14" name="Text 12"/>
          <p:cNvSpPr/>
          <p:nvPr/>
        </p:nvSpPr>
        <p:spPr>
          <a:xfrm>
            <a:off x="6838950" y="5946428"/>
            <a:ext cx="4748403" cy="10668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8B2"/>
                </a:solidFill>
                <a:latin typeface="Helvetica" pitchFamily="34" charset="0"/>
                <a:ea typeface="Helvetica" pitchFamily="34" charset="-122"/>
                <a:cs typeface="Helvetica" pitchFamily="34" charset="-120"/>
              </a:rPr>
              <a:t>Output: draft issues. High recall is accepted by design; RPD recognition also over-triggers and relies on downstream verification.</a:t>
            </a:r>
            <a:endParaRPr lang="en-US" sz="1800" dirty="0"/>
          </a:p>
        </p:txBody>
      </p:sp>
      <p:sp>
        <p:nvSpPr>
          <p:cNvPr id="15" name="Shape 13"/>
          <p:cNvSpPr/>
          <p:nvPr/>
        </p:nvSpPr>
        <p:spPr>
          <a:xfrm>
            <a:off x="12020550" y="2555528"/>
            <a:ext cx="5219700" cy="5686425"/>
          </a:xfrm>
          <a:prstGeom prst="rect">
            <a:avLst/>
          </a:prstGeom>
          <a:solidFill>
            <a:srgbClr val="141414"/>
          </a:solidFill>
          <a:ln w="19050">
            <a:solidFill>
              <a:srgbClr val="141414"/>
            </a:solidFill>
            <a:prstDash val="solid"/>
          </a:ln>
        </p:spPr>
      </p:sp>
      <p:sp>
        <p:nvSpPr>
          <p:cNvPr id="16" name="Text 14"/>
          <p:cNvSpPr/>
          <p:nvPr/>
        </p:nvSpPr>
        <p:spPr>
          <a:xfrm>
            <a:off x="12325350" y="2822228"/>
            <a:ext cx="5071110"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FDFDFB"/>
                </a:solidFill>
                <a:latin typeface="Helvetica" pitchFamily="34" charset="0"/>
                <a:ea typeface="Helvetica" pitchFamily="34" charset="-122"/>
                <a:cs typeface="Helvetica" pitchFamily="34" charset="-120"/>
              </a:rPr>
              <a:t>Pruning </a:t>
            </a:r>
            <a:pPr algn="l" indent="0" marL="0">
              <a:buNone/>
            </a:pPr>
            <a:r>
              <a:rPr lang="en-US" sz="1800" dirty="0">
                <a:solidFill>
                  <a:srgbClr val="B9B8B2"/>
                </a:solidFill>
                <a:latin typeface="Helvetica" pitchFamily="34" charset="0"/>
                <a:ea typeface="Helvetica" pitchFamily="34" charset="-122"/>
                <a:cs typeface="Helvetica" pitchFamily="34" charset="-120"/>
              </a:rPr>
              <a:t>· once per issue</a:t>
            </a:r>
            <a:endParaRPr lang="en-US" sz="2175" dirty="0"/>
          </a:p>
        </p:txBody>
      </p:sp>
      <p:sp>
        <p:nvSpPr>
          <p:cNvPr id="17" name="Text 15"/>
          <p:cNvSpPr/>
          <p:nvPr/>
        </p:nvSpPr>
        <p:spPr>
          <a:xfrm>
            <a:off x="12325350" y="3274665"/>
            <a:ext cx="5071110" cy="300038"/>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8A8A86"/>
                </a:solidFill>
                <a:latin typeface="Helvetica" pitchFamily="34" charset="0"/>
                <a:ea typeface="Helvetica" pitchFamily="34" charset="-122"/>
                <a:cs typeface="Helvetica" pitchFamily="34" charset="-120"/>
              </a:rPr>
              <a:t>RPD: MENTAL SIMULATION</a:t>
            </a:r>
            <a:endParaRPr lang="en-US" sz="1800" dirty="0"/>
          </a:p>
        </p:txBody>
      </p:sp>
      <p:sp>
        <p:nvSpPr>
          <p:cNvPr id="18" name="Text 16"/>
          <p:cNvSpPr/>
          <p:nvPr/>
        </p:nvSpPr>
        <p:spPr>
          <a:xfrm>
            <a:off x="12325350" y="3669953"/>
            <a:ext cx="4748403" cy="218122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FDFDFB"/>
                </a:solidFill>
                <a:latin typeface="Helvetica" pitchFamily="34" charset="0"/>
                <a:ea typeface="Helvetica" pitchFamily="34" charset="-122"/>
                <a:cs typeface="Helvetica" pitchFamily="34" charset="-120"/>
              </a:rPr>
              <a:t>Tools: codesearch, codegraph, ≤3 calls, results appended to the context. In RPD, information seeking is part of verification, not recognition — the reviewer suspects from a glance, then reads the code to confirm.</a:t>
            </a:r>
            <a:endParaRPr lang="en-US" sz="1875" dirty="0"/>
          </a:p>
        </p:txBody>
      </p:sp>
      <p:sp>
        <p:nvSpPr>
          <p:cNvPr id="19" name="Text 17"/>
          <p:cNvSpPr/>
          <p:nvPr/>
        </p:nvSpPr>
        <p:spPr>
          <a:xfrm>
            <a:off x="12325350" y="5946428"/>
            <a:ext cx="4748403" cy="10668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8B2"/>
                </a:solidFill>
                <a:latin typeface="Helvetica" pitchFamily="34" charset="0"/>
                <a:ea typeface="Helvetica" pitchFamily="34" charset="-122"/>
                <a:cs typeface="Helvetica" pitchFamily="34" charset="-120"/>
              </a:rPr>
              <a:t>Output: keep/discard + reason. Under RLAIF, when and what to look up is itself learned behaviour (rollouts execute real tool calls).</a:t>
            </a:r>
            <a:endParaRPr lang="en-US" sz="1800" dirty="0"/>
          </a:p>
        </p:txBody>
      </p:sp>
      <p:sp>
        <p:nvSpPr>
          <p:cNvPr id="20" name="Text 18"/>
          <p:cNvSpPr/>
          <p:nvPr/>
        </p:nvSpPr>
        <p:spPr>
          <a:xfrm>
            <a:off x="1047750" y="8565803"/>
            <a:ext cx="16187738"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The tool asymmetry between Drafting and Pruning follows directly from P1; the ≤3-call budget reflects the bounded, targeted nature of human verification observed in the study.</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762000"/>
            <a:ext cx="297692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ARCHITECTURE · 4</a:t>
            </a:r>
            <a:endParaRPr lang="en-US" sz="1800" dirty="0"/>
          </a:p>
        </p:txBody>
      </p:sp>
      <p:sp>
        <p:nvSpPr>
          <p:cNvPr id="3" name="Text 1"/>
          <p:cNvSpPr/>
          <p:nvPr/>
        </p:nvSpPr>
        <p:spPr>
          <a:xfrm>
            <a:off x="1047750" y="1157288"/>
            <a:ext cx="12056656" cy="614139"/>
          </a:xfrm>
          <a:prstGeom prst="rect">
            <a:avLst/>
          </a:prstGeom>
          <a:noFill/>
          <a:ln/>
        </p:spPr>
        <p:txBody>
          <a:bodyPr wrap="square" lIns="25400" tIns="25400" rIns="25400" bIns="25400" rtlCol="0" anchor="t">
            <a:normAutofit/>
          </a:bodyPr>
          <a:lstStyle/>
          <a:p>
            <a:pPr algn="l" indent="0" marL="0">
              <a:lnSpc>
                <a:spcPct val="108000"/>
              </a:lnSpc>
              <a:buNone/>
            </a:pPr>
            <a:r>
              <a:rPr lang="en-US" sz="4200" b="1" spc="-63" kern="0" dirty="0">
                <a:solidFill>
                  <a:srgbClr val="141414"/>
                </a:solidFill>
                <a:latin typeface="Helvetica" pitchFamily="34" charset="0"/>
                <a:ea typeface="Helvetica" pitchFamily="34" charset="-122"/>
                <a:cs typeface="Helvetica" pitchFamily="34" charset="-120"/>
              </a:rPr>
              <a:t>Verdict, Summary, and the Full Injection Map</a:t>
            </a:r>
            <a:endParaRPr lang="en-US" sz="4200" dirty="0"/>
          </a:p>
        </p:txBody>
      </p:sp>
      <p:sp>
        <p:nvSpPr>
          <p:cNvPr id="4" name="Shape 2"/>
          <p:cNvSpPr/>
          <p:nvPr/>
        </p:nvSpPr>
        <p:spPr>
          <a:xfrm>
            <a:off x="1047750" y="1980977"/>
            <a:ext cx="16192500" cy="19050"/>
          </a:xfrm>
          <a:prstGeom prst="rect">
            <a:avLst/>
          </a:prstGeom>
          <a:solidFill>
            <a:srgbClr val="141414"/>
          </a:solidFill>
          <a:ln/>
        </p:spPr>
      </p:sp>
      <p:sp>
        <p:nvSpPr>
          <p:cNvPr id="5" name="Text 3"/>
          <p:cNvSpPr/>
          <p:nvPr/>
        </p:nvSpPr>
        <p:spPr>
          <a:xfrm>
            <a:off x="1047750" y="2247677"/>
            <a:ext cx="16187738" cy="1109663"/>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141414"/>
                </a:solidFill>
                <a:latin typeface="Helvetica" pitchFamily="34" charset="0"/>
                <a:ea typeface="Helvetica" pitchFamily="34" charset="-122"/>
                <a:cs typeface="Helvetica" pitchFamily="34" charset="-120"/>
              </a:rPr>
              <a:t>The verdict is a rule (kept issue types and counts → approve / comment / request-changes): without reliable severity labels this mapping is a policy decision rather than a judgment, and a rule keeps the vote auditable. The summary is generated once by the prompted base model from the interpretation, kept issues, and prune reasons.</a:t>
            </a:r>
            <a:endParaRPr lang="en-US" sz="1875" dirty="0"/>
          </a:p>
        </p:txBody>
      </p:sp>
      <p:sp>
        <p:nvSpPr>
          <p:cNvPr id="6" name="Shape 4"/>
          <p:cNvSpPr/>
          <p:nvPr/>
        </p:nvSpPr>
        <p:spPr>
          <a:xfrm>
            <a:off x="1047750" y="3921696"/>
            <a:ext cx="2590800" cy="23813"/>
          </a:xfrm>
          <a:prstGeom prst="rect">
            <a:avLst/>
          </a:prstGeom>
          <a:solidFill>
            <a:srgbClr val="141414"/>
          </a:solidFill>
          <a:ln/>
        </p:spPr>
      </p:sp>
      <p:sp>
        <p:nvSpPr>
          <p:cNvPr id="7" name="Text 5"/>
          <p:cNvSpPr/>
          <p:nvPr/>
        </p:nvSpPr>
        <p:spPr>
          <a:xfrm>
            <a:off x="1047750" y="3566889"/>
            <a:ext cx="2516124" cy="278606"/>
          </a:xfrm>
          <a:prstGeom prst="rect">
            <a:avLst/>
          </a:prstGeom>
          <a:noFill/>
          <a:ln/>
        </p:spPr>
        <p:txBody>
          <a:bodyPr wrap="square" lIns="25400" tIns="25400" rIns="25400" bIns="25400" rtlCol="0" anchor="ctr">
            <a:normAutofit/>
          </a:bodyPr>
          <a:lstStyle/>
          <a:p>
            <a:pPr algn="l" indent="0" marL="0">
              <a:buNone/>
            </a:pPr>
            <a:r>
              <a:rPr lang="en-US" sz="1725" b="1" spc="86" kern="0" dirty="0">
                <a:solidFill>
                  <a:srgbClr val="141414"/>
                </a:solidFill>
                <a:latin typeface="Helvetica" pitchFamily="34" charset="0"/>
                <a:ea typeface="Helvetica" pitchFamily="34" charset="-122"/>
                <a:cs typeface="Helvetica" pitchFamily="34" charset="-120"/>
              </a:rPr>
              <a:t>STAGE</a:t>
            </a:r>
            <a:endParaRPr lang="en-US" sz="1725" dirty="0"/>
          </a:p>
        </p:txBody>
      </p:sp>
      <p:sp>
        <p:nvSpPr>
          <p:cNvPr id="8" name="Shape 6"/>
          <p:cNvSpPr/>
          <p:nvPr/>
        </p:nvSpPr>
        <p:spPr>
          <a:xfrm>
            <a:off x="3638550" y="3921696"/>
            <a:ext cx="3886200" cy="23813"/>
          </a:xfrm>
          <a:prstGeom prst="rect">
            <a:avLst/>
          </a:prstGeom>
          <a:solidFill>
            <a:srgbClr val="141414"/>
          </a:solidFill>
          <a:ln/>
        </p:spPr>
      </p:sp>
      <p:sp>
        <p:nvSpPr>
          <p:cNvPr id="9" name="Text 7"/>
          <p:cNvSpPr/>
          <p:nvPr/>
        </p:nvSpPr>
        <p:spPr>
          <a:xfrm>
            <a:off x="3790950" y="3566889"/>
            <a:ext cx="3697986" cy="278606"/>
          </a:xfrm>
          <a:prstGeom prst="rect">
            <a:avLst/>
          </a:prstGeom>
          <a:noFill/>
          <a:ln/>
        </p:spPr>
        <p:txBody>
          <a:bodyPr wrap="square" lIns="25400" tIns="25400" rIns="25400" bIns="25400" rtlCol="0" anchor="ctr">
            <a:normAutofit/>
          </a:bodyPr>
          <a:lstStyle/>
          <a:p>
            <a:pPr algn="l" indent="0" marL="0">
              <a:buNone/>
            </a:pPr>
            <a:r>
              <a:rPr lang="en-US" sz="1725" b="1" spc="86" kern="0" dirty="0">
                <a:solidFill>
                  <a:srgbClr val="141414"/>
                </a:solidFill>
                <a:latin typeface="Helvetica" pitchFamily="34" charset="0"/>
                <a:ea typeface="Helvetica" pitchFamily="34" charset="-122"/>
                <a:cs typeface="Helvetica" pitchFamily="34" charset="-120"/>
              </a:rPr>
              <a:t>CRDM THEME</a:t>
            </a:r>
            <a:endParaRPr lang="en-US" sz="1725" dirty="0"/>
          </a:p>
        </p:txBody>
      </p:sp>
      <p:sp>
        <p:nvSpPr>
          <p:cNvPr id="10" name="Shape 8"/>
          <p:cNvSpPr/>
          <p:nvPr/>
        </p:nvSpPr>
        <p:spPr>
          <a:xfrm>
            <a:off x="7524750" y="3921696"/>
            <a:ext cx="4857750" cy="23813"/>
          </a:xfrm>
          <a:prstGeom prst="rect">
            <a:avLst/>
          </a:prstGeom>
          <a:solidFill>
            <a:srgbClr val="141414"/>
          </a:solidFill>
          <a:ln/>
        </p:spPr>
      </p:sp>
      <p:sp>
        <p:nvSpPr>
          <p:cNvPr id="11" name="Text 9"/>
          <p:cNvSpPr/>
          <p:nvPr/>
        </p:nvSpPr>
        <p:spPr>
          <a:xfrm>
            <a:off x="7677150" y="3566889"/>
            <a:ext cx="4698683" cy="278606"/>
          </a:xfrm>
          <a:prstGeom prst="rect">
            <a:avLst/>
          </a:prstGeom>
          <a:noFill/>
          <a:ln/>
        </p:spPr>
        <p:txBody>
          <a:bodyPr wrap="square" lIns="25400" tIns="25400" rIns="25400" bIns="25400" rtlCol="0" anchor="ctr">
            <a:normAutofit/>
          </a:bodyPr>
          <a:lstStyle/>
          <a:p>
            <a:pPr algn="l" indent="0" marL="0">
              <a:buNone/>
            </a:pPr>
            <a:r>
              <a:rPr lang="en-US" sz="1725" b="1" spc="86" kern="0" dirty="0">
                <a:solidFill>
                  <a:srgbClr val="141414"/>
                </a:solidFill>
                <a:latin typeface="Helvetica" pitchFamily="34" charset="0"/>
                <a:ea typeface="Helvetica" pitchFamily="34" charset="-122"/>
                <a:cs typeface="Helvetica" pitchFamily="34" charset="-120"/>
              </a:rPr>
              <a:t>EXPERIENCE NEEDED</a:t>
            </a:r>
            <a:endParaRPr lang="en-US" sz="1725" dirty="0"/>
          </a:p>
        </p:txBody>
      </p:sp>
      <p:sp>
        <p:nvSpPr>
          <p:cNvPr id="12" name="Shape 10"/>
          <p:cNvSpPr/>
          <p:nvPr/>
        </p:nvSpPr>
        <p:spPr>
          <a:xfrm>
            <a:off x="12382500" y="3921696"/>
            <a:ext cx="4857750" cy="23813"/>
          </a:xfrm>
          <a:prstGeom prst="rect">
            <a:avLst/>
          </a:prstGeom>
          <a:solidFill>
            <a:srgbClr val="141414"/>
          </a:solidFill>
          <a:ln/>
        </p:spPr>
      </p:sp>
      <p:sp>
        <p:nvSpPr>
          <p:cNvPr id="13" name="Text 11"/>
          <p:cNvSpPr/>
          <p:nvPr/>
        </p:nvSpPr>
        <p:spPr>
          <a:xfrm>
            <a:off x="12534900" y="3566889"/>
            <a:ext cx="4851083" cy="278606"/>
          </a:xfrm>
          <a:prstGeom prst="rect">
            <a:avLst/>
          </a:prstGeom>
          <a:noFill/>
          <a:ln/>
        </p:spPr>
        <p:txBody>
          <a:bodyPr wrap="square" lIns="25400" tIns="25400" rIns="25400" bIns="25400" rtlCol="0" anchor="ctr">
            <a:normAutofit/>
          </a:bodyPr>
          <a:lstStyle/>
          <a:p>
            <a:pPr algn="l" indent="0" marL="0">
              <a:buNone/>
            </a:pPr>
            <a:r>
              <a:rPr lang="en-US" sz="1725" b="1" spc="86" kern="0" dirty="0">
                <a:solidFill>
                  <a:srgbClr val="141414"/>
                </a:solidFill>
                <a:latin typeface="Helvetica" pitchFamily="34" charset="0"/>
                <a:ea typeface="Helvetica" pitchFamily="34" charset="-122"/>
                <a:cs typeface="Helvetica" pitchFamily="34" charset="-120"/>
              </a:rPr>
              <a:t>INJECTION</a:t>
            </a:r>
            <a:endParaRPr lang="en-US" sz="1725" dirty="0"/>
          </a:p>
        </p:txBody>
      </p:sp>
      <p:sp>
        <p:nvSpPr>
          <p:cNvPr id="14" name="Shape 12"/>
          <p:cNvSpPr/>
          <p:nvPr/>
        </p:nvSpPr>
        <p:spPr>
          <a:xfrm>
            <a:off x="1047750" y="4512692"/>
            <a:ext cx="2590800" cy="14288"/>
          </a:xfrm>
          <a:prstGeom prst="rect">
            <a:avLst/>
          </a:prstGeom>
          <a:solidFill>
            <a:srgbClr val="DAD9D4"/>
          </a:solidFill>
          <a:ln/>
        </p:spPr>
      </p:sp>
      <p:sp>
        <p:nvSpPr>
          <p:cNvPr id="15" name="Text 13"/>
          <p:cNvSpPr/>
          <p:nvPr/>
        </p:nvSpPr>
        <p:spPr>
          <a:xfrm>
            <a:off x="1047750" y="4078858"/>
            <a:ext cx="2516124" cy="338584"/>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Context Assembly</a:t>
            </a:r>
            <a:endParaRPr lang="en-US" sz="1800" dirty="0"/>
          </a:p>
        </p:txBody>
      </p:sp>
      <p:sp>
        <p:nvSpPr>
          <p:cNvPr id="16" name="Shape 14"/>
          <p:cNvSpPr/>
          <p:nvPr/>
        </p:nvSpPr>
        <p:spPr>
          <a:xfrm>
            <a:off x="3638550" y="4512692"/>
            <a:ext cx="3886200" cy="14288"/>
          </a:xfrm>
          <a:prstGeom prst="rect">
            <a:avLst/>
          </a:prstGeom>
          <a:solidFill>
            <a:srgbClr val="DAD9D4"/>
          </a:solidFill>
          <a:ln/>
        </p:spPr>
      </p:sp>
      <p:sp>
        <p:nvSpPr>
          <p:cNvPr id="17" name="Text 15"/>
          <p:cNvSpPr/>
          <p:nvPr/>
        </p:nvSpPr>
        <p:spPr>
          <a:xfrm>
            <a:off x="3790950" y="4078858"/>
            <a:ext cx="3697986" cy="338584"/>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understanding context</a:t>
            </a:r>
            <a:endParaRPr lang="en-US" sz="1725" dirty="0"/>
          </a:p>
        </p:txBody>
      </p:sp>
      <p:sp>
        <p:nvSpPr>
          <p:cNvPr id="18" name="Shape 16"/>
          <p:cNvSpPr/>
          <p:nvPr/>
        </p:nvSpPr>
        <p:spPr>
          <a:xfrm>
            <a:off x="7524750" y="4512692"/>
            <a:ext cx="4857750" cy="14288"/>
          </a:xfrm>
          <a:prstGeom prst="rect">
            <a:avLst/>
          </a:prstGeom>
          <a:solidFill>
            <a:srgbClr val="DAD9D4"/>
          </a:solidFill>
          <a:ln/>
        </p:spPr>
      </p:sp>
      <p:sp>
        <p:nvSpPr>
          <p:cNvPr id="19" name="Text 17"/>
          <p:cNvSpPr/>
          <p:nvPr/>
        </p:nvSpPr>
        <p:spPr>
          <a:xfrm>
            <a:off x="7677150" y="4078858"/>
            <a:ext cx="4698683" cy="338584"/>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8A8A86"/>
                </a:solidFill>
                <a:latin typeface="Helvetica" pitchFamily="34" charset="0"/>
                <a:ea typeface="Helvetica" pitchFamily="34" charset="-122"/>
                <a:cs typeface="Helvetica" pitchFamily="34" charset="-120"/>
              </a:rPr>
              <a:t>none</a:t>
            </a:r>
            <a:endParaRPr lang="en-US" sz="1725" dirty="0"/>
          </a:p>
        </p:txBody>
      </p:sp>
      <p:sp>
        <p:nvSpPr>
          <p:cNvPr id="20" name="Shape 18"/>
          <p:cNvSpPr/>
          <p:nvPr/>
        </p:nvSpPr>
        <p:spPr>
          <a:xfrm>
            <a:off x="12382500" y="4512692"/>
            <a:ext cx="4857750" cy="14288"/>
          </a:xfrm>
          <a:prstGeom prst="rect">
            <a:avLst/>
          </a:prstGeom>
          <a:solidFill>
            <a:srgbClr val="DAD9D4"/>
          </a:solidFill>
          <a:ln/>
        </p:spPr>
      </p:sp>
      <p:sp>
        <p:nvSpPr>
          <p:cNvPr id="21" name="Text 19"/>
          <p:cNvSpPr/>
          <p:nvPr/>
        </p:nvSpPr>
        <p:spPr>
          <a:xfrm>
            <a:off x="12534900" y="4078858"/>
            <a:ext cx="4851083" cy="338584"/>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deterministic: Summary + Code Graph traversal</a:t>
            </a:r>
            <a:endParaRPr lang="en-US" sz="1725" dirty="0"/>
          </a:p>
        </p:txBody>
      </p:sp>
      <p:sp>
        <p:nvSpPr>
          <p:cNvPr id="22" name="Shape 20"/>
          <p:cNvSpPr/>
          <p:nvPr/>
        </p:nvSpPr>
        <p:spPr>
          <a:xfrm>
            <a:off x="1047750" y="5385122"/>
            <a:ext cx="2590800" cy="14288"/>
          </a:xfrm>
          <a:prstGeom prst="rect">
            <a:avLst/>
          </a:prstGeom>
          <a:solidFill>
            <a:srgbClr val="DAD9D4"/>
          </a:solidFill>
          <a:ln/>
        </p:spPr>
      </p:sp>
      <p:sp>
        <p:nvSpPr>
          <p:cNvPr id="23" name="Text 21"/>
          <p:cNvSpPr/>
          <p:nvPr/>
        </p:nvSpPr>
        <p:spPr>
          <a:xfrm>
            <a:off x="1047750" y="4660329"/>
            <a:ext cx="2516124" cy="629543"/>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Interpretation</a:t>
            </a:r>
            <a:endParaRPr lang="en-US" sz="1800" dirty="0"/>
          </a:p>
        </p:txBody>
      </p:sp>
      <p:sp>
        <p:nvSpPr>
          <p:cNvPr id="24" name="Shape 22"/>
          <p:cNvSpPr/>
          <p:nvPr/>
        </p:nvSpPr>
        <p:spPr>
          <a:xfrm>
            <a:off x="3638550" y="5385122"/>
            <a:ext cx="3886200" cy="14288"/>
          </a:xfrm>
          <a:prstGeom prst="rect">
            <a:avLst/>
          </a:prstGeom>
          <a:solidFill>
            <a:srgbClr val="DAD9D4"/>
          </a:solidFill>
          <a:ln/>
        </p:spPr>
      </p:sp>
      <p:sp>
        <p:nvSpPr>
          <p:cNvPr id="25" name="Text 23"/>
          <p:cNvSpPr/>
          <p:nvPr/>
        </p:nvSpPr>
        <p:spPr>
          <a:xfrm>
            <a:off x="3790950" y="4660329"/>
            <a:ext cx="3697986"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understanding rationale</a:t>
            </a:r>
            <a:endParaRPr lang="en-US" sz="1725" dirty="0"/>
          </a:p>
        </p:txBody>
      </p:sp>
      <p:sp>
        <p:nvSpPr>
          <p:cNvPr id="26" name="Shape 24"/>
          <p:cNvSpPr/>
          <p:nvPr/>
        </p:nvSpPr>
        <p:spPr>
          <a:xfrm>
            <a:off x="7524750" y="5385122"/>
            <a:ext cx="4857750" cy="14288"/>
          </a:xfrm>
          <a:prstGeom prst="rect">
            <a:avLst/>
          </a:prstGeom>
          <a:solidFill>
            <a:srgbClr val="DAD9D4"/>
          </a:solidFill>
          <a:ln/>
        </p:spPr>
      </p:sp>
      <p:sp>
        <p:nvSpPr>
          <p:cNvPr id="27" name="Text 25"/>
          <p:cNvSpPr/>
          <p:nvPr/>
        </p:nvSpPr>
        <p:spPr>
          <a:xfrm>
            <a:off x="7677150" y="4660329"/>
            <a:ext cx="4698683"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recognizing the change type; forming expectancies</a:t>
            </a:r>
            <a:endParaRPr lang="en-US" sz="1725" dirty="0"/>
          </a:p>
        </p:txBody>
      </p:sp>
      <p:sp>
        <p:nvSpPr>
          <p:cNvPr id="28" name="Shape 26"/>
          <p:cNvSpPr/>
          <p:nvPr/>
        </p:nvSpPr>
        <p:spPr>
          <a:xfrm>
            <a:off x="12382500" y="5385122"/>
            <a:ext cx="4857750" cy="14288"/>
          </a:xfrm>
          <a:prstGeom prst="rect">
            <a:avLst/>
          </a:prstGeom>
          <a:solidFill>
            <a:srgbClr val="DAD9D4"/>
          </a:solidFill>
          <a:ln/>
        </p:spPr>
      </p:sp>
      <p:sp>
        <p:nvSpPr>
          <p:cNvPr id="29" name="Text 27"/>
          <p:cNvSpPr/>
          <p:nvPr/>
        </p:nvSpPr>
        <p:spPr>
          <a:xfrm>
            <a:off x="12534900" y="4660329"/>
            <a:ext cx="4851083"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RAG (issue/docsearch, ≤5 calls) + prompted base model</a:t>
            </a:r>
            <a:endParaRPr lang="en-US" sz="1725" dirty="0"/>
          </a:p>
        </p:txBody>
      </p:sp>
      <p:sp>
        <p:nvSpPr>
          <p:cNvPr id="30" name="Shape 28"/>
          <p:cNvSpPr/>
          <p:nvPr/>
        </p:nvSpPr>
        <p:spPr>
          <a:xfrm>
            <a:off x="1047750" y="5961831"/>
            <a:ext cx="2590800" cy="14288"/>
          </a:xfrm>
          <a:prstGeom prst="rect">
            <a:avLst/>
          </a:prstGeom>
          <a:solidFill>
            <a:srgbClr val="DAD9D4"/>
          </a:solidFill>
          <a:ln/>
        </p:spPr>
      </p:sp>
      <p:sp>
        <p:nvSpPr>
          <p:cNvPr id="31" name="Text 29"/>
          <p:cNvSpPr/>
          <p:nvPr/>
        </p:nvSpPr>
        <p:spPr>
          <a:xfrm>
            <a:off x="1047750" y="5532760"/>
            <a:ext cx="2516124" cy="333821"/>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Planning</a:t>
            </a:r>
            <a:endParaRPr lang="en-US" sz="1800" dirty="0"/>
          </a:p>
        </p:txBody>
      </p:sp>
      <p:sp>
        <p:nvSpPr>
          <p:cNvPr id="32" name="Shape 30"/>
          <p:cNvSpPr/>
          <p:nvPr/>
        </p:nvSpPr>
        <p:spPr>
          <a:xfrm>
            <a:off x="3638550" y="5961831"/>
            <a:ext cx="3886200" cy="14288"/>
          </a:xfrm>
          <a:prstGeom prst="rect">
            <a:avLst/>
          </a:prstGeom>
          <a:solidFill>
            <a:srgbClr val="DAD9D4"/>
          </a:solidFill>
          <a:ln/>
        </p:spPr>
      </p:sp>
      <p:sp>
        <p:nvSpPr>
          <p:cNvPr id="33" name="Text 31"/>
          <p:cNvSpPr/>
          <p:nvPr/>
        </p:nvSpPr>
        <p:spPr>
          <a:xfrm>
            <a:off x="3790950" y="5532760"/>
            <a:ext cx="3697986" cy="333821"/>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selecting next action (read order)</a:t>
            </a:r>
            <a:endParaRPr lang="en-US" sz="1725" dirty="0"/>
          </a:p>
        </p:txBody>
      </p:sp>
      <p:sp>
        <p:nvSpPr>
          <p:cNvPr id="34" name="Shape 32"/>
          <p:cNvSpPr/>
          <p:nvPr/>
        </p:nvSpPr>
        <p:spPr>
          <a:xfrm>
            <a:off x="7524750" y="5961831"/>
            <a:ext cx="4857750" cy="14288"/>
          </a:xfrm>
          <a:prstGeom prst="rect">
            <a:avLst/>
          </a:prstGeom>
          <a:solidFill>
            <a:srgbClr val="DAD9D4"/>
          </a:solidFill>
          <a:ln/>
        </p:spPr>
      </p:sp>
      <p:sp>
        <p:nvSpPr>
          <p:cNvPr id="35" name="Text 33"/>
          <p:cNvSpPr/>
          <p:nvPr/>
        </p:nvSpPr>
        <p:spPr>
          <a:xfrm>
            <a:off x="7677150" y="5532760"/>
            <a:ext cx="4698683" cy="333821"/>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reading strategy, compiled into the algorithm</a:t>
            </a:r>
            <a:endParaRPr lang="en-US" sz="1725" dirty="0"/>
          </a:p>
        </p:txBody>
      </p:sp>
      <p:sp>
        <p:nvSpPr>
          <p:cNvPr id="36" name="Shape 34"/>
          <p:cNvSpPr/>
          <p:nvPr/>
        </p:nvSpPr>
        <p:spPr>
          <a:xfrm>
            <a:off x="12382500" y="5961831"/>
            <a:ext cx="4857750" cy="14288"/>
          </a:xfrm>
          <a:prstGeom prst="rect">
            <a:avLst/>
          </a:prstGeom>
          <a:solidFill>
            <a:srgbClr val="DAD9D4"/>
          </a:solidFill>
          <a:ln/>
        </p:spPr>
      </p:sp>
      <p:sp>
        <p:nvSpPr>
          <p:cNvPr id="37" name="Text 35"/>
          <p:cNvSpPr/>
          <p:nvPr/>
        </p:nvSpPr>
        <p:spPr>
          <a:xfrm>
            <a:off x="12534900" y="5532760"/>
            <a:ext cx="4851083" cy="333821"/>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hard-coded: topo sort over Code Graph</a:t>
            </a:r>
            <a:endParaRPr lang="en-US" sz="1725" dirty="0"/>
          </a:p>
        </p:txBody>
      </p:sp>
      <p:sp>
        <p:nvSpPr>
          <p:cNvPr id="38" name="Shape 36"/>
          <p:cNvSpPr/>
          <p:nvPr/>
        </p:nvSpPr>
        <p:spPr>
          <a:xfrm>
            <a:off x="1047750" y="5976119"/>
            <a:ext cx="16192500" cy="872430"/>
          </a:xfrm>
          <a:prstGeom prst="rect">
            <a:avLst/>
          </a:prstGeom>
          <a:solidFill>
            <a:srgbClr val="F1F0EB"/>
          </a:solidFill>
          <a:ln/>
        </p:spPr>
      </p:sp>
      <p:sp>
        <p:nvSpPr>
          <p:cNvPr id="39" name="Shape 37"/>
          <p:cNvSpPr/>
          <p:nvPr/>
        </p:nvSpPr>
        <p:spPr>
          <a:xfrm>
            <a:off x="1047750" y="6834262"/>
            <a:ext cx="2590800" cy="14288"/>
          </a:xfrm>
          <a:prstGeom prst="rect">
            <a:avLst/>
          </a:prstGeom>
          <a:solidFill>
            <a:srgbClr val="DAD9D4"/>
          </a:solidFill>
          <a:ln/>
        </p:spPr>
      </p:sp>
      <p:sp>
        <p:nvSpPr>
          <p:cNvPr id="40" name="Text 38"/>
          <p:cNvSpPr/>
          <p:nvPr/>
        </p:nvSpPr>
        <p:spPr>
          <a:xfrm>
            <a:off x="1047750" y="6109469"/>
            <a:ext cx="2516124" cy="629543"/>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Drafting</a:t>
            </a:r>
            <a:endParaRPr lang="en-US" sz="1800" dirty="0"/>
          </a:p>
        </p:txBody>
      </p:sp>
      <p:sp>
        <p:nvSpPr>
          <p:cNvPr id="41" name="Shape 39"/>
          <p:cNvSpPr/>
          <p:nvPr/>
        </p:nvSpPr>
        <p:spPr>
          <a:xfrm>
            <a:off x="3638550" y="6834262"/>
            <a:ext cx="3886200" cy="14288"/>
          </a:xfrm>
          <a:prstGeom prst="rect">
            <a:avLst/>
          </a:prstGeom>
          <a:solidFill>
            <a:srgbClr val="DAD9D4"/>
          </a:solidFill>
          <a:ln/>
        </p:spPr>
      </p:sp>
      <p:sp>
        <p:nvSpPr>
          <p:cNvPr id="42" name="Text 40"/>
          <p:cNvSpPr/>
          <p:nvPr/>
        </p:nvSpPr>
        <p:spPr>
          <a:xfrm>
            <a:off x="3790950" y="6109469"/>
            <a:ext cx="3697986"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understanding + assessing implementation</a:t>
            </a:r>
            <a:endParaRPr lang="en-US" sz="1725" dirty="0"/>
          </a:p>
        </p:txBody>
      </p:sp>
      <p:sp>
        <p:nvSpPr>
          <p:cNvPr id="43" name="Shape 41"/>
          <p:cNvSpPr/>
          <p:nvPr/>
        </p:nvSpPr>
        <p:spPr>
          <a:xfrm>
            <a:off x="7524750" y="6834262"/>
            <a:ext cx="4857750" cy="14288"/>
          </a:xfrm>
          <a:prstGeom prst="rect">
            <a:avLst/>
          </a:prstGeom>
          <a:solidFill>
            <a:srgbClr val="DAD9D4"/>
          </a:solidFill>
          <a:ln/>
        </p:spPr>
      </p:sp>
      <p:sp>
        <p:nvSpPr>
          <p:cNvPr id="44" name="Text 42"/>
          <p:cNvSpPr/>
          <p:nvPr/>
        </p:nvSpPr>
        <p:spPr>
          <a:xfrm>
            <a:off x="7677150" y="6109469"/>
            <a:ext cx="4698683"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issue recognition; conventions; cross-package impact patterns</a:t>
            </a:r>
            <a:endParaRPr lang="en-US" sz="1725" dirty="0"/>
          </a:p>
        </p:txBody>
      </p:sp>
      <p:sp>
        <p:nvSpPr>
          <p:cNvPr id="45" name="Shape 43"/>
          <p:cNvSpPr/>
          <p:nvPr/>
        </p:nvSpPr>
        <p:spPr>
          <a:xfrm>
            <a:off x="12382500" y="6834262"/>
            <a:ext cx="4857750" cy="14288"/>
          </a:xfrm>
          <a:prstGeom prst="rect">
            <a:avLst/>
          </a:prstGeom>
          <a:solidFill>
            <a:srgbClr val="DAD9D4"/>
          </a:solidFill>
          <a:ln/>
        </p:spPr>
      </p:sp>
      <p:sp>
        <p:nvSpPr>
          <p:cNvPr id="46" name="Text 44"/>
          <p:cNvSpPr/>
          <p:nvPr/>
        </p:nvSpPr>
        <p:spPr>
          <a:xfrm>
            <a:off x="12534900" y="6109469"/>
            <a:ext cx="4851083"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b="1" dirty="0">
                <a:solidFill>
                  <a:srgbClr val="141414"/>
                </a:solidFill>
                <a:latin typeface="Helvetica" pitchFamily="34" charset="0"/>
                <a:ea typeface="Helvetica" pitchFamily="34" charset="-122"/>
                <a:cs typeface="Helvetica" pitchFamily="34" charset="-120"/>
              </a:rPr>
              <a:t>RLAIF-trained weights</a:t>
            </a:r>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 zero tools</a:t>
            </a:r>
            <a:endParaRPr lang="en-US" sz="1725" dirty="0"/>
          </a:p>
        </p:txBody>
      </p:sp>
      <p:sp>
        <p:nvSpPr>
          <p:cNvPr id="47" name="Shape 45"/>
          <p:cNvSpPr/>
          <p:nvPr/>
        </p:nvSpPr>
        <p:spPr>
          <a:xfrm>
            <a:off x="1047750" y="6848549"/>
            <a:ext cx="16192500" cy="872430"/>
          </a:xfrm>
          <a:prstGeom prst="rect">
            <a:avLst/>
          </a:prstGeom>
          <a:solidFill>
            <a:srgbClr val="F1F0EB"/>
          </a:solidFill>
          <a:ln/>
        </p:spPr>
      </p:sp>
      <p:sp>
        <p:nvSpPr>
          <p:cNvPr id="48" name="Shape 46"/>
          <p:cNvSpPr/>
          <p:nvPr/>
        </p:nvSpPr>
        <p:spPr>
          <a:xfrm>
            <a:off x="1047750" y="7706692"/>
            <a:ext cx="2590800" cy="14288"/>
          </a:xfrm>
          <a:prstGeom prst="rect">
            <a:avLst/>
          </a:prstGeom>
          <a:solidFill>
            <a:srgbClr val="DAD9D4"/>
          </a:solidFill>
          <a:ln/>
        </p:spPr>
      </p:sp>
      <p:sp>
        <p:nvSpPr>
          <p:cNvPr id="49" name="Text 47"/>
          <p:cNvSpPr/>
          <p:nvPr/>
        </p:nvSpPr>
        <p:spPr>
          <a:xfrm>
            <a:off x="1047750" y="6981899"/>
            <a:ext cx="2516124" cy="629543"/>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Pruning</a:t>
            </a:r>
            <a:endParaRPr lang="en-US" sz="1800" dirty="0"/>
          </a:p>
        </p:txBody>
      </p:sp>
      <p:sp>
        <p:nvSpPr>
          <p:cNvPr id="50" name="Shape 48"/>
          <p:cNvSpPr/>
          <p:nvPr/>
        </p:nvSpPr>
        <p:spPr>
          <a:xfrm>
            <a:off x="3638550" y="7706692"/>
            <a:ext cx="3886200" cy="14288"/>
          </a:xfrm>
          <a:prstGeom prst="rect">
            <a:avLst/>
          </a:prstGeom>
          <a:solidFill>
            <a:srgbClr val="DAD9D4"/>
          </a:solidFill>
          <a:ln/>
        </p:spPr>
      </p:sp>
      <p:sp>
        <p:nvSpPr>
          <p:cNvPr id="51" name="Text 49"/>
          <p:cNvSpPr/>
          <p:nvPr/>
        </p:nvSpPr>
        <p:spPr>
          <a:xfrm>
            <a:off x="3790950" y="6981899"/>
            <a:ext cx="3697986"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selecting next action (comment or not)</a:t>
            </a:r>
            <a:endParaRPr lang="en-US" sz="1725" dirty="0"/>
          </a:p>
        </p:txBody>
      </p:sp>
      <p:sp>
        <p:nvSpPr>
          <p:cNvPr id="52" name="Shape 50"/>
          <p:cNvSpPr/>
          <p:nvPr/>
        </p:nvSpPr>
        <p:spPr>
          <a:xfrm>
            <a:off x="7524750" y="7706692"/>
            <a:ext cx="4857750" cy="14288"/>
          </a:xfrm>
          <a:prstGeom prst="rect">
            <a:avLst/>
          </a:prstGeom>
          <a:solidFill>
            <a:srgbClr val="DAD9D4"/>
          </a:solidFill>
          <a:ln/>
        </p:spPr>
      </p:sp>
      <p:sp>
        <p:nvSpPr>
          <p:cNvPr id="53" name="Text 51"/>
          <p:cNvSpPr/>
          <p:nvPr/>
        </p:nvSpPr>
        <p:spPr>
          <a:xfrm>
            <a:off x="7677150" y="6981899"/>
            <a:ext cx="4698683"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false-positive judgment; when a cue is spurious in this project; when to look things up</a:t>
            </a:r>
            <a:endParaRPr lang="en-US" sz="1725" dirty="0"/>
          </a:p>
        </p:txBody>
      </p:sp>
      <p:sp>
        <p:nvSpPr>
          <p:cNvPr id="54" name="Shape 52"/>
          <p:cNvSpPr/>
          <p:nvPr/>
        </p:nvSpPr>
        <p:spPr>
          <a:xfrm>
            <a:off x="12382500" y="7706692"/>
            <a:ext cx="4857750" cy="14288"/>
          </a:xfrm>
          <a:prstGeom prst="rect">
            <a:avLst/>
          </a:prstGeom>
          <a:solidFill>
            <a:srgbClr val="DAD9D4"/>
          </a:solidFill>
          <a:ln/>
        </p:spPr>
      </p:sp>
      <p:sp>
        <p:nvSpPr>
          <p:cNvPr id="55" name="Text 53"/>
          <p:cNvSpPr/>
          <p:nvPr/>
        </p:nvSpPr>
        <p:spPr>
          <a:xfrm>
            <a:off x="12534900" y="6981899"/>
            <a:ext cx="4851083"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b="1" dirty="0">
                <a:solidFill>
                  <a:srgbClr val="141414"/>
                </a:solidFill>
                <a:latin typeface="Helvetica" pitchFamily="34" charset="0"/>
                <a:ea typeface="Helvetica" pitchFamily="34" charset="-122"/>
                <a:cs typeface="Helvetica" pitchFamily="34" charset="-120"/>
              </a:rPr>
              <a:t>RLAIF-trained weights </a:t>
            </a:r>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 bounded tools (≤3)</a:t>
            </a:r>
            <a:endParaRPr lang="en-US" sz="1725" dirty="0"/>
          </a:p>
        </p:txBody>
      </p:sp>
      <p:sp>
        <p:nvSpPr>
          <p:cNvPr id="56" name="Shape 54"/>
          <p:cNvSpPr/>
          <p:nvPr/>
        </p:nvSpPr>
        <p:spPr>
          <a:xfrm>
            <a:off x="1047750" y="8283401"/>
            <a:ext cx="2590800" cy="14288"/>
          </a:xfrm>
          <a:prstGeom prst="rect">
            <a:avLst/>
          </a:prstGeom>
          <a:solidFill>
            <a:srgbClr val="DAD9D4"/>
          </a:solidFill>
          <a:ln/>
        </p:spPr>
      </p:sp>
      <p:sp>
        <p:nvSpPr>
          <p:cNvPr id="57" name="Text 55"/>
          <p:cNvSpPr/>
          <p:nvPr/>
        </p:nvSpPr>
        <p:spPr>
          <a:xfrm>
            <a:off x="1047750" y="7854330"/>
            <a:ext cx="2516124" cy="333821"/>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Verdict</a:t>
            </a:r>
            <a:endParaRPr lang="en-US" sz="1800" dirty="0"/>
          </a:p>
        </p:txBody>
      </p:sp>
      <p:sp>
        <p:nvSpPr>
          <p:cNvPr id="58" name="Shape 56"/>
          <p:cNvSpPr/>
          <p:nvPr/>
        </p:nvSpPr>
        <p:spPr>
          <a:xfrm>
            <a:off x="3638550" y="8283401"/>
            <a:ext cx="3886200" cy="14288"/>
          </a:xfrm>
          <a:prstGeom prst="rect">
            <a:avLst/>
          </a:prstGeom>
          <a:solidFill>
            <a:srgbClr val="DAD9D4"/>
          </a:solidFill>
          <a:ln/>
        </p:spPr>
      </p:sp>
      <p:sp>
        <p:nvSpPr>
          <p:cNvPr id="59" name="Text 57"/>
          <p:cNvSpPr/>
          <p:nvPr/>
        </p:nvSpPr>
        <p:spPr>
          <a:xfrm>
            <a:off x="3790950" y="7854330"/>
            <a:ext cx="3697986" cy="333821"/>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assessing change (vote)</a:t>
            </a:r>
            <a:endParaRPr lang="en-US" sz="1725" dirty="0"/>
          </a:p>
        </p:txBody>
      </p:sp>
      <p:sp>
        <p:nvSpPr>
          <p:cNvPr id="60" name="Shape 58"/>
          <p:cNvSpPr/>
          <p:nvPr/>
        </p:nvSpPr>
        <p:spPr>
          <a:xfrm>
            <a:off x="7524750" y="8283401"/>
            <a:ext cx="4857750" cy="14288"/>
          </a:xfrm>
          <a:prstGeom prst="rect">
            <a:avLst/>
          </a:prstGeom>
          <a:solidFill>
            <a:srgbClr val="DAD9D4"/>
          </a:solidFill>
          <a:ln/>
        </p:spPr>
      </p:sp>
      <p:sp>
        <p:nvSpPr>
          <p:cNvPr id="61" name="Text 59"/>
          <p:cNvSpPr/>
          <p:nvPr/>
        </p:nvSpPr>
        <p:spPr>
          <a:xfrm>
            <a:off x="7677150" y="7854330"/>
            <a:ext cx="4698683" cy="333821"/>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team voting norms, expressed as policy</a:t>
            </a:r>
            <a:endParaRPr lang="en-US" sz="1725" dirty="0"/>
          </a:p>
        </p:txBody>
      </p:sp>
      <p:sp>
        <p:nvSpPr>
          <p:cNvPr id="62" name="Shape 60"/>
          <p:cNvSpPr/>
          <p:nvPr/>
        </p:nvSpPr>
        <p:spPr>
          <a:xfrm>
            <a:off x="12382500" y="8283401"/>
            <a:ext cx="4857750" cy="14288"/>
          </a:xfrm>
          <a:prstGeom prst="rect">
            <a:avLst/>
          </a:prstGeom>
          <a:solidFill>
            <a:srgbClr val="DAD9D4"/>
          </a:solidFill>
          <a:ln/>
        </p:spPr>
      </p:sp>
      <p:sp>
        <p:nvSpPr>
          <p:cNvPr id="63" name="Text 61"/>
          <p:cNvSpPr/>
          <p:nvPr/>
        </p:nvSpPr>
        <p:spPr>
          <a:xfrm>
            <a:off x="12534900" y="7854330"/>
            <a:ext cx="4851083" cy="333821"/>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hard-coded rule over issue types/counts</a:t>
            </a:r>
            <a:endParaRPr lang="en-US" sz="1725" dirty="0"/>
          </a:p>
        </p:txBody>
      </p:sp>
      <p:sp>
        <p:nvSpPr>
          <p:cNvPr id="64" name="Text 62"/>
          <p:cNvSpPr/>
          <p:nvPr/>
        </p:nvSpPr>
        <p:spPr>
          <a:xfrm>
            <a:off x="1047750" y="8431039"/>
            <a:ext cx="2516124" cy="340965"/>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Summary</a:t>
            </a:r>
            <a:endParaRPr lang="en-US" sz="1800" dirty="0"/>
          </a:p>
        </p:txBody>
      </p:sp>
      <p:sp>
        <p:nvSpPr>
          <p:cNvPr id="65" name="Text 63"/>
          <p:cNvSpPr/>
          <p:nvPr/>
        </p:nvSpPr>
        <p:spPr>
          <a:xfrm>
            <a:off x="3790950" y="8431039"/>
            <a:ext cx="3697986" cy="340965"/>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selecting next action (end review)</a:t>
            </a:r>
            <a:endParaRPr lang="en-US" sz="1725" dirty="0"/>
          </a:p>
        </p:txBody>
      </p:sp>
      <p:sp>
        <p:nvSpPr>
          <p:cNvPr id="66" name="Text 64"/>
          <p:cNvSpPr/>
          <p:nvPr/>
        </p:nvSpPr>
        <p:spPr>
          <a:xfrm>
            <a:off x="7677150" y="8431039"/>
            <a:ext cx="4698683" cy="340965"/>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8A8A86"/>
                </a:solidFill>
                <a:latin typeface="Helvetica" pitchFamily="34" charset="0"/>
                <a:ea typeface="Helvetica" pitchFamily="34" charset="-122"/>
                <a:cs typeface="Helvetica" pitchFamily="34" charset="-120"/>
              </a:rPr>
              <a:t>none (aggregation)</a:t>
            </a:r>
            <a:endParaRPr lang="en-US" sz="1725" dirty="0"/>
          </a:p>
        </p:txBody>
      </p:sp>
      <p:sp>
        <p:nvSpPr>
          <p:cNvPr id="67" name="Text 65"/>
          <p:cNvSpPr/>
          <p:nvPr/>
        </p:nvSpPr>
        <p:spPr>
          <a:xfrm>
            <a:off x="12534900" y="8431039"/>
            <a:ext cx="4851083" cy="340965"/>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prompted base model, no tools</a:t>
            </a:r>
            <a:endParaRPr lang="en-US" sz="17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97692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ARCHITECTURE · 5</a:t>
            </a:r>
            <a:endParaRPr lang="en-US" sz="1800" dirty="0"/>
          </a:p>
        </p:txBody>
      </p:sp>
      <p:sp>
        <p:nvSpPr>
          <p:cNvPr id="3" name="Text 1"/>
          <p:cNvSpPr/>
          <p:nvPr/>
        </p:nvSpPr>
        <p:spPr>
          <a:xfrm>
            <a:off x="1047750" y="1252538"/>
            <a:ext cx="14063588"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Context Format and Train/Inference Consistency</a:t>
            </a:r>
            <a:endParaRPr lang="en-US" sz="4500" dirty="0"/>
          </a:p>
        </p:txBody>
      </p:sp>
      <p:sp>
        <p:nvSpPr>
          <p:cNvPr id="4" name="Shape 2"/>
          <p:cNvSpPr/>
          <p:nvPr/>
        </p:nvSpPr>
        <p:spPr>
          <a:xfrm>
            <a:off x="1047750" y="2155478"/>
            <a:ext cx="16192500" cy="19050"/>
          </a:xfrm>
          <a:prstGeom prst="rect">
            <a:avLst/>
          </a:prstGeom>
          <a:solidFill>
            <a:srgbClr val="141414"/>
          </a:solidFill>
          <a:ln/>
        </p:spPr>
      </p:sp>
      <p:sp>
        <p:nvSpPr>
          <p:cNvPr id="5" name="Shape 3"/>
          <p:cNvSpPr/>
          <p:nvPr/>
        </p:nvSpPr>
        <p:spPr>
          <a:xfrm>
            <a:off x="1047750" y="2574578"/>
            <a:ext cx="6993434" cy="3596283"/>
          </a:xfrm>
          <a:prstGeom prst="rect">
            <a:avLst/>
          </a:prstGeom>
          <a:solidFill>
            <a:srgbClr val="141414"/>
          </a:solidFill>
          <a:ln/>
        </p:spPr>
      </p:sp>
      <p:sp>
        <p:nvSpPr>
          <p:cNvPr id="6" name="Text 4"/>
          <p:cNvSpPr/>
          <p:nvPr/>
        </p:nvSpPr>
        <p:spPr>
          <a:xfrm>
            <a:off x="1390650" y="2860328"/>
            <a:ext cx="6496863" cy="399529"/>
          </a:xfrm>
          <a:prstGeom prst="rect">
            <a:avLst/>
          </a:prstGeom>
          <a:noFill/>
          <a:ln/>
        </p:spPr>
        <p:txBody>
          <a:bodyPr wrap="square" lIns="25400" tIns="25400" rIns="25400" bIns="25400" rtlCol="0" anchor="t">
            <a:normAutofit/>
          </a:bodyPr>
          <a:lstStyle/>
          <a:p>
            <a:pPr algn="l" indent="0" marL="0">
              <a:lnSpc>
                <a:spcPct val="165000"/>
              </a:lnSpc>
              <a:buNone/>
            </a:pPr>
            <a:r>
              <a:rPr lang="en-US" sz="1725" dirty="0">
                <a:solidFill>
                  <a:srgbClr val="8A8A86"/>
                </a:solidFill>
                <a:latin typeface="Menlo" pitchFamily="34" charset="0"/>
                <a:ea typeface="Menlo" pitchFamily="34" charset="-122"/>
                <a:cs typeface="Menlo" pitchFamily="34" charset="-120"/>
              </a:rPr>
              <a:t>// base blocks = complete Drafting input</a:t>
            </a:r>
            <a:endParaRPr lang="en-US" sz="1725" dirty="0"/>
          </a:p>
        </p:txBody>
      </p:sp>
      <p:sp>
        <p:nvSpPr>
          <p:cNvPr id="7" name="Text 5"/>
          <p:cNvSpPr/>
          <p:nvPr/>
        </p:nvSpPr>
        <p:spPr>
          <a:xfrm>
            <a:off x="1390650" y="3221757"/>
            <a:ext cx="6496863" cy="399529"/>
          </a:xfrm>
          <a:prstGeom prst="rect">
            <a:avLst/>
          </a:prstGeom>
          <a:noFill/>
          <a:ln/>
        </p:spPr>
        <p:txBody>
          <a:bodyPr wrap="square" lIns="25400" tIns="25400" rIns="25400" bIns="25400" rtlCol="0" anchor="t">
            <a:normAutofit/>
          </a:bodyPr>
          <a:lstStyle/>
          <a:p>
            <a:pPr algn="l" indent="0" marL="0">
              <a:lnSpc>
                <a:spcPct val="165000"/>
              </a:lnSpc>
              <a:buNone/>
            </a:pPr>
            <a:r>
              <a:rPr lang="en-US" sz="1725" dirty="0">
                <a:solidFill>
                  <a:srgbClr val="FDFDFB"/>
                </a:solidFill>
                <a:latin typeface="Menlo" pitchFamily="34" charset="0"/>
                <a:ea typeface="Menlo" pitchFamily="34" charset="-122"/>
                <a:cs typeface="Menlo" pitchFamily="34" charset="-120"/>
              </a:rPr>
              <a:t>[PROJECT SUMMARY] </a:t>
            </a:r>
            <a:pPr algn="l" indent="0" marL="0">
              <a:lnSpc>
                <a:spcPct val="165000"/>
              </a:lnSpc>
              <a:buNone/>
            </a:pPr>
            <a:r>
              <a:rPr lang="en-US" sz="1725" dirty="0">
                <a:solidFill>
                  <a:srgbClr val="8A8A86"/>
                </a:solidFill>
                <a:latin typeface="Menlo" pitchFamily="34" charset="0"/>
                <a:ea typeface="Menlo" pitchFamily="34" charset="-122"/>
                <a:cs typeface="Menlo" pitchFamily="34" charset="-120"/>
              </a:rPr>
              <a:t>1 line / package</a:t>
            </a:r>
            <a:endParaRPr lang="en-US" sz="1725" dirty="0"/>
          </a:p>
        </p:txBody>
      </p:sp>
      <p:sp>
        <p:nvSpPr>
          <p:cNvPr id="8" name="Text 6"/>
          <p:cNvSpPr/>
          <p:nvPr/>
        </p:nvSpPr>
        <p:spPr>
          <a:xfrm>
            <a:off x="1390650" y="3583186"/>
            <a:ext cx="6496863" cy="399529"/>
          </a:xfrm>
          <a:prstGeom prst="rect">
            <a:avLst/>
          </a:prstGeom>
          <a:noFill/>
          <a:ln/>
        </p:spPr>
        <p:txBody>
          <a:bodyPr wrap="square" lIns="25400" tIns="25400" rIns="25400" bIns="25400" rtlCol="0" anchor="t">
            <a:normAutofit/>
          </a:bodyPr>
          <a:lstStyle/>
          <a:p>
            <a:pPr algn="l" indent="0" marL="0">
              <a:lnSpc>
                <a:spcPct val="165000"/>
              </a:lnSpc>
              <a:buNone/>
            </a:pPr>
            <a:r>
              <a:rPr lang="en-US" sz="1725" dirty="0">
                <a:solidFill>
                  <a:srgbClr val="FDFDFB"/>
                </a:solidFill>
                <a:latin typeface="Menlo" pitchFamily="34" charset="0"/>
                <a:ea typeface="Menlo" pitchFamily="34" charset="-122"/>
                <a:cs typeface="Menlo" pitchFamily="34" charset="-120"/>
              </a:rPr>
              <a:t>[RELATED CLASSES] </a:t>
            </a:r>
            <a:pPr algn="l" indent="0" marL="0">
              <a:lnSpc>
                <a:spcPct val="165000"/>
              </a:lnSpc>
              <a:buNone/>
            </a:pPr>
            <a:r>
              <a:rPr lang="en-US" sz="1725" dirty="0">
                <a:solidFill>
                  <a:srgbClr val="8A8A86"/>
                </a:solidFill>
                <a:latin typeface="Menlo" pitchFamily="34" charset="0"/>
                <a:ea typeface="Menlo" pitchFamily="34" charset="-122"/>
                <a:cs typeface="Menlo" pitchFamily="34" charset="-120"/>
              </a:rPr>
              <a:t>names + edge types</a:t>
            </a:r>
            <a:endParaRPr lang="en-US" sz="1725" dirty="0"/>
          </a:p>
        </p:txBody>
      </p:sp>
      <p:sp>
        <p:nvSpPr>
          <p:cNvPr id="9" name="Text 7"/>
          <p:cNvSpPr/>
          <p:nvPr/>
        </p:nvSpPr>
        <p:spPr>
          <a:xfrm>
            <a:off x="1390650" y="3944615"/>
            <a:ext cx="6496863" cy="399529"/>
          </a:xfrm>
          <a:prstGeom prst="rect">
            <a:avLst/>
          </a:prstGeom>
          <a:noFill/>
          <a:ln/>
        </p:spPr>
        <p:txBody>
          <a:bodyPr wrap="square" lIns="25400" tIns="25400" rIns="25400" bIns="25400" rtlCol="0" anchor="t">
            <a:normAutofit/>
          </a:bodyPr>
          <a:lstStyle/>
          <a:p>
            <a:pPr algn="l" indent="0" marL="0">
              <a:lnSpc>
                <a:spcPct val="165000"/>
              </a:lnSpc>
              <a:buNone/>
            </a:pPr>
            <a:r>
              <a:rPr lang="en-US" sz="1725" dirty="0">
                <a:solidFill>
                  <a:srgbClr val="FDFDFB"/>
                </a:solidFill>
                <a:latin typeface="Menlo" pitchFamily="34" charset="0"/>
                <a:ea typeface="Menlo" pitchFamily="34" charset="-122"/>
                <a:cs typeface="Menlo" pitchFamily="34" charset="-120"/>
              </a:rPr>
              <a:t>[INTERPRETATION] </a:t>
            </a:r>
            <a:pPr algn="l" indent="0" marL="0">
              <a:lnSpc>
                <a:spcPct val="165000"/>
              </a:lnSpc>
              <a:buNone/>
            </a:pPr>
            <a:r>
              <a:rPr lang="en-US" sz="1725" dirty="0">
                <a:solidFill>
                  <a:srgbClr val="8A8A86"/>
                </a:solidFill>
                <a:latin typeface="Menlo" pitchFamily="34" charset="0"/>
                <a:ea typeface="Menlo" pitchFamily="34" charset="-122"/>
                <a:cs typeface="Menlo" pitchFamily="34" charset="-120"/>
              </a:rPr>
              <a:t>what &amp; why</a:t>
            </a:r>
            <a:endParaRPr lang="en-US" sz="1725" dirty="0"/>
          </a:p>
        </p:txBody>
      </p:sp>
      <p:sp>
        <p:nvSpPr>
          <p:cNvPr id="10" name="Text 8"/>
          <p:cNvSpPr/>
          <p:nvPr/>
        </p:nvSpPr>
        <p:spPr>
          <a:xfrm>
            <a:off x="1390650" y="4306044"/>
            <a:ext cx="6496863" cy="399529"/>
          </a:xfrm>
          <a:prstGeom prst="rect">
            <a:avLst/>
          </a:prstGeom>
          <a:noFill/>
          <a:ln/>
        </p:spPr>
        <p:txBody>
          <a:bodyPr wrap="square" lIns="25400" tIns="25400" rIns="25400" bIns="25400" rtlCol="0" anchor="t">
            <a:normAutofit/>
          </a:bodyPr>
          <a:lstStyle/>
          <a:p>
            <a:pPr algn="l" indent="0" marL="0">
              <a:lnSpc>
                <a:spcPct val="165000"/>
              </a:lnSpc>
              <a:buNone/>
            </a:pPr>
            <a:r>
              <a:rPr lang="en-US" sz="1725" dirty="0">
                <a:solidFill>
                  <a:srgbClr val="FDFDFB"/>
                </a:solidFill>
                <a:latin typeface="Menlo" pitchFamily="34" charset="0"/>
                <a:ea typeface="Menlo" pitchFamily="34" charset="-122"/>
                <a:cs typeface="Menlo" pitchFamily="34" charset="-120"/>
              </a:rPr>
              <a:t>[EXPECTANCIES] </a:t>
            </a:r>
            <a:pPr algn="l" indent="0" marL="0">
              <a:lnSpc>
                <a:spcPct val="165000"/>
              </a:lnSpc>
              <a:buNone/>
            </a:pPr>
            <a:r>
              <a:rPr lang="en-US" sz="1725" dirty="0">
                <a:solidFill>
                  <a:srgbClr val="8A8A86"/>
                </a:solidFill>
                <a:latin typeface="Menlo" pitchFamily="34" charset="0"/>
                <a:ea typeface="Menlo" pitchFamily="34" charset="-122"/>
                <a:cs typeface="Menlo" pitchFamily="34" charset="-120"/>
              </a:rPr>
              <a:t>see slide 11</a:t>
            </a:r>
            <a:endParaRPr lang="en-US" sz="1725" dirty="0"/>
          </a:p>
        </p:txBody>
      </p:sp>
      <p:sp>
        <p:nvSpPr>
          <p:cNvPr id="11" name="Text 9"/>
          <p:cNvSpPr/>
          <p:nvPr/>
        </p:nvSpPr>
        <p:spPr>
          <a:xfrm>
            <a:off x="1390650" y="4667473"/>
            <a:ext cx="6496863" cy="399529"/>
          </a:xfrm>
          <a:prstGeom prst="rect">
            <a:avLst/>
          </a:prstGeom>
          <a:noFill/>
          <a:ln/>
        </p:spPr>
        <p:txBody>
          <a:bodyPr wrap="square" lIns="25400" tIns="25400" rIns="25400" bIns="25400" rtlCol="0" anchor="t">
            <a:normAutofit/>
          </a:bodyPr>
          <a:lstStyle/>
          <a:p>
            <a:pPr algn="l" indent="0" marL="0">
              <a:lnSpc>
                <a:spcPct val="165000"/>
              </a:lnSpc>
              <a:buNone/>
            </a:pPr>
            <a:r>
              <a:rPr lang="en-US" sz="1725" dirty="0">
                <a:solidFill>
                  <a:srgbClr val="FDFDFB"/>
                </a:solidFill>
                <a:latin typeface="Menlo" pitchFamily="34" charset="0"/>
                <a:ea typeface="Menlo" pitchFamily="34" charset="-122"/>
                <a:cs typeface="Menlo" pitchFamily="34" charset="-120"/>
              </a:rPr>
              <a:t>[CODE] </a:t>
            </a:r>
            <a:pPr algn="l" indent="0" marL="0">
              <a:lnSpc>
                <a:spcPct val="165000"/>
              </a:lnSpc>
              <a:buNone/>
            </a:pPr>
            <a:r>
              <a:rPr lang="en-US" sz="1725" dirty="0">
                <a:solidFill>
                  <a:srgbClr val="8A8A86"/>
                </a:solidFill>
                <a:latin typeface="Menlo" pitchFamily="34" charset="0"/>
                <a:ea typeface="Menlo" pitchFamily="34" charset="-122"/>
                <a:cs typeface="Menlo" pitchFamily="34" charset="-120"/>
              </a:rPr>
              <a:t>diff / snippet</a:t>
            </a:r>
            <a:endParaRPr lang="en-US" sz="1725" dirty="0"/>
          </a:p>
        </p:txBody>
      </p:sp>
      <p:sp>
        <p:nvSpPr>
          <p:cNvPr id="12" name="Text 10"/>
          <p:cNvSpPr/>
          <p:nvPr/>
        </p:nvSpPr>
        <p:spPr>
          <a:xfrm>
            <a:off x="1390650" y="5162252"/>
            <a:ext cx="6496863" cy="399529"/>
          </a:xfrm>
          <a:prstGeom prst="rect">
            <a:avLst/>
          </a:prstGeom>
          <a:noFill/>
          <a:ln/>
        </p:spPr>
        <p:txBody>
          <a:bodyPr wrap="square" lIns="25400" tIns="25400" rIns="25400" bIns="25400" rtlCol="0" anchor="t">
            <a:normAutofit/>
          </a:bodyPr>
          <a:lstStyle/>
          <a:p>
            <a:pPr algn="l" indent="0" marL="0">
              <a:lnSpc>
                <a:spcPct val="165000"/>
              </a:lnSpc>
              <a:buNone/>
            </a:pPr>
            <a:r>
              <a:rPr lang="en-US" sz="1725" dirty="0">
                <a:solidFill>
                  <a:srgbClr val="8A8A86"/>
                </a:solidFill>
                <a:latin typeface="Menlo" pitchFamily="34" charset="0"/>
                <a:ea typeface="Menlo" pitchFamily="34" charset="-122"/>
                <a:cs typeface="Menlo" pitchFamily="34" charset="-120"/>
              </a:rPr>
              <a:t>// Pruning appends:</a:t>
            </a:r>
            <a:endParaRPr lang="en-US" sz="1725" dirty="0"/>
          </a:p>
        </p:txBody>
      </p:sp>
      <p:sp>
        <p:nvSpPr>
          <p:cNvPr id="13" name="Text 11"/>
          <p:cNvSpPr/>
          <p:nvPr/>
        </p:nvSpPr>
        <p:spPr>
          <a:xfrm>
            <a:off x="1390650" y="5523681"/>
            <a:ext cx="6496863" cy="399529"/>
          </a:xfrm>
          <a:prstGeom prst="rect">
            <a:avLst/>
          </a:prstGeom>
          <a:noFill/>
          <a:ln/>
        </p:spPr>
        <p:txBody>
          <a:bodyPr wrap="square" lIns="25400" tIns="25400" rIns="25400" bIns="25400" rtlCol="0" anchor="t">
            <a:normAutofit/>
          </a:bodyPr>
          <a:lstStyle/>
          <a:p>
            <a:pPr algn="l" indent="0" marL="0">
              <a:lnSpc>
                <a:spcPct val="165000"/>
              </a:lnSpc>
              <a:buNone/>
            </a:pPr>
            <a:r>
              <a:rPr lang="en-US" sz="1725" dirty="0">
                <a:solidFill>
                  <a:srgbClr val="FDFDFB"/>
                </a:solidFill>
                <a:latin typeface="Menlo" pitchFamily="34" charset="0"/>
                <a:ea typeface="Menlo" pitchFamily="34" charset="-122"/>
                <a:cs typeface="Menlo" pitchFamily="34" charset="-120"/>
              </a:rPr>
              <a:t>[ISSUE] [TOOL RESULT]</a:t>
            </a:r>
            <a:endParaRPr lang="en-US" sz="1725" dirty="0"/>
          </a:p>
        </p:txBody>
      </p:sp>
      <p:sp>
        <p:nvSpPr>
          <p:cNvPr id="14" name="Text 12"/>
          <p:cNvSpPr/>
          <p:nvPr/>
        </p:nvSpPr>
        <p:spPr>
          <a:xfrm>
            <a:off x="8498384" y="2622203"/>
            <a:ext cx="361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41414"/>
                </a:solidFill>
                <a:latin typeface="Helvetica" pitchFamily="34" charset="0"/>
                <a:ea typeface="Helvetica" pitchFamily="34" charset="-122"/>
                <a:cs typeface="Helvetica" pitchFamily="34" charset="-120"/>
              </a:rPr>
              <a:t>·</a:t>
            </a:r>
            <a:endParaRPr lang="en-US" sz="2100" dirty="0"/>
          </a:p>
        </p:txBody>
      </p:sp>
      <p:sp>
        <p:nvSpPr>
          <p:cNvPr id="15" name="Text 13"/>
          <p:cNvSpPr/>
          <p:nvPr/>
        </p:nvSpPr>
        <p:spPr>
          <a:xfrm>
            <a:off x="8993684" y="2574578"/>
            <a:ext cx="8493963"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41414"/>
                </a:solidFill>
                <a:latin typeface="Helvetica" pitchFamily="34" charset="0"/>
                <a:ea typeface="Helvetica" pitchFamily="34" charset="-122"/>
                <a:cs typeface="Helvetica" pitchFamily="34" charset="-120"/>
              </a:rPr>
              <a:t>One shared Python assembly module produces contexts for both training episodes and inference, so formatting is byte-identical between the two.</a:t>
            </a:r>
            <a:endParaRPr lang="en-US" sz="2100" dirty="0"/>
          </a:p>
        </p:txBody>
      </p:sp>
      <p:sp>
        <p:nvSpPr>
          <p:cNvPr id="16" name="Text 14"/>
          <p:cNvSpPr/>
          <p:nvPr/>
        </p:nvSpPr>
        <p:spPr>
          <a:xfrm>
            <a:off x="8498384" y="4089053"/>
            <a:ext cx="361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41414"/>
                </a:solidFill>
                <a:latin typeface="Helvetica" pitchFamily="34" charset="0"/>
                <a:ea typeface="Helvetica" pitchFamily="34" charset="-122"/>
                <a:cs typeface="Helvetica" pitchFamily="34" charset="-120"/>
              </a:rPr>
              <a:t>·</a:t>
            </a:r>
            <a:endParaRPr lang="en-US" sz="2100" dirty="0"/>
          </a:p>
        </p:txBody>
      </p:sp>
      <p:sp>
        <p:nvSpPr>
          <p:cNvPr id="17" name="Text 15"/>
          <p:cNvSpPr/>
          <p:nvPr/>
        </p:nvSpPr>
        <p:spPr>
          <a:xfrm>
            <a:off x="8993684" y="4041428"/>
            <a:ext cx="8493963"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41414"/>
                </a:solidFill>
                <a:latin typeface="Helvetica" pitchFamily="34" charset="0"/>
                <a:ea typeface="Helvetica" pitchFamily="34" charset="-122"/>
                <a:cs typeface="Helvetica" pitchFamily="34" charset="-120"/>
              </a:rPr>
              <a:t>Interpretation and expectancy blocks in training episodes are generated with the same model and prompt used at inference, so the style distributions do not diverge.</a:t>
            </a:r>
            <a:endParaRPr lang="en-US" sz="2100" dirty="0"/>
          </a:p>
        </p:txBody>
      </p:sp>
      <p:sp>
        <p:nvSpPr>
          <p:cNvPr id="18" name="Text 16"/>
          <p:cNvSpPr/>
          <p:nvPr/>
        </p:nvSpPr>
        <p:spPr>
          <a:xfrm>
            <a:off x="8498384" y="5555903"/>
            <a:ext cx="361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41414"/>
                </a:solidFill>
                <a:latin typeface="Helvetica" pitchFamily="34" charset="0"/>
                <a:ea typeface="Helvetica" pitchFamily="34" charset="-122"/>
                <a:cs typeface="Helvetica" pitchFamily="34" charset="-120"/>
              </a:rPr>
              <a:t>·</a:t>
            </a:r>
            <a:endParaRPr lang="en-US" sz="2100" dirty="0"/>
          </a:p>
        </p:txBody>
      </p:sp>
      <p:sp>
        <p:nvSpPr>
          <p:cNvPr id="19" name="Text 17"/>
          <p:cNvSpPr/>
          <p:nvPr/>
        </p:nvSpPr>
        <p:spPr>
          <a:xfrm>
            <a:off x="8993684" y="5508278"/>
            <a:ext cx="8493963" cy="20383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41414"/>
                </a:solidFill>
                <a:latin typeface="Helvetica" pitchFamily="34" charset="0"/>
                <a:ea typeface="Helvetica" pitchFamily="34" charset="-122"/>
                <a:cs typeface="Helvetica" pitchFamily="34" charset="-120"/>
              </a:rPr>
              <a:t>Under RLAIF this consistency becomes structural rather than simulated: rollouts run through the actual inference pipeline against a sandboxed historical repository state, making real tool calls. The v1 problem of hand-fabricating [TOOL RESULT] blocks for training data does not arise.</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3852863"/>
            <a:ext cx="2229170" cy="323850"/>
          </a:xfrm>
          <a:prstGeom prst="rect">
            <a:avLst/>
          </a:prstGeom>
          <a:noFill/>
          <a:ln/>
        </p:spPr>
        <p:txBody>
          <a:bodyPr wrap="square" lIns="25400" tIns="25400" rIns="25400" bIns="25400" rtlCol="0" anchor="t">
            <a:normAutofit/>
          </a:bodyPr>
          <a:lstStyle/>
          <a:p>
            <a:pPr algn="l" indent="0" marL="0">
              <a:buNone/>
            </a:pPr>
            <a:r>
              <a:rPr lang="en-US" sz="1950" b="1" spc="390" kern="0" dirty="0">
                <a:solidFill>
                  <a:srgbClr val="8A8A86"/>
                </a:solidFill>
                <a:latin typeface="Helvetica" pitchFamily="34" charset="0"/>
                <a:ea typeface="Helvetica" pitchFamily="34" charset="-122"/>
                <a:cs typeface="Helvetica" pitchFamily="34" charset="-120"/>
              </a:rPr>
              <a:t>PART 3 OF 4</a:t>
            </a:r>
            <a:endParaRPr lang="en-US" sz="1950" dirty="0"/>
          </a:p>
        </p:txBody>
      </p:sp>
      <p:sp>
        <p:nvSpPr>
          <p:cNvPr id="3" name="Text 1"/>
          <p:cNvSpPr/>
          <p:nvPr/>
        </p:nvSpPr>
        <p:spPr>
          <a:xfrm>
            <a:off x="1143000" y="4424363"/>
            <a:ext cx="9636517" cy="878160"/>
          </a:xfrm>
          <a:prstGeom prst="rect">
            <a:avLst/>
          </a:prstGeom>
          <a:noFill/>
          <a:ln/>
        </p:spPr>
        <p:txBody>
          <a:bodyPr wrap="square" lIns="25400" tIns="25400" rIns="25400" bIns="25400" rtlCol="0" anchor="t">
            <a:normAutofit/>
          </a:bodyPr>
          <a:lstStyle/>
          <a:p>
            <a:pPr algn="l" indent="0" marL="0">
              <a:lnSpc>
                <a:spcPct val="105000"/>
              </a:lnSpc>
              <a:buNone/>
            </a:pPr>
            <a:r>
              <a:rPr lang="en-US" sz="6300" b="1" spc="-126" kern="0" dirty="0">
                <a:solidFill>
                  <a:srgbClr val="FDFDFB"/>
                </a:solidFill>
                <a:latin typeface="Helvetica" pitchFamily="34" charset="0"/>
                <a:ea typeface="Helvetica" pitchFamily="34" charset="-122"/>
                <a:cs typeface="Helvetica" pitchFamily="34" charset="-120"/>
              </a:rPr>
              <a:t>Learning Design: RLAIF</a:t>
            </a:r>
            <a:endParaRPr lang="en-US" sz="6300" dirty="0"/>
          </a:p>
        </p:txBody>
      </p:sp>
      <p:sp>
        <p:nvSpPr>
          <p:cNvPr id="4" name="Text 2"/>
          <p:cNvSpPr/>
          <p:nvPr/>
        </p:nvSpPr>
        <p:spPr>
          <a:xfrm>
            <a:off x="1143000" y="5550173"/>
            <a:ext cx="13244513" cy="921990"/>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B9B8B2"/>
                </a:solidFill>
                <a:latin typeface="Helvetica" pitchFamily="34" charset="0"/>
                <a:ea typeface="Helvetica" pitchFamily="34" charset="-122"/>
                <a:cs typeface="Helvetica" pitchFamily="34" charset="-120"/>
              </a:rPr>
              <a:t>Why supervised imitation is the wrong objective for review judgment, and how the Review Gym, the reward stack, and the training loop replace it.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145432"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LEARNING · 1</a:t>
            </a:r>
            <a:endParaRPr lang="en-US" sz="1800" dirty="0"/>
          </a:p>
        </p:txBody>
      </p:sp>
      <p:sp>
        <p:nvSpPr>
          <p:cNvPr id="3" name="Text 1"/>
          <p:cNvSpPr/>
          <p:nvPr/>
        </p:nvSpPr>
        <p:spPr>
          <a:xfrm>
            <a:off x="1047750" y="1252538"/>
            <a:ext cx="13028198"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Limitations of Supervised Q&amp;A for Judgment</a:t>
            </a:r>
            <a:endParaRPr lang="en-US" sz="4500" dirty="0"/>
          </a:p>
        </p:txBody>
      </p:sp>
      <p:sp>
        <p:nvSpPr>
          <p:cNvPr id="4" name="Shape 2"/>
          <p:cNvSpPr/>
          <p:nvPr/>
        </p:nvSpPr>
        <p:spPr>
          <a:xfrm>
            <a:off x="1047750" y="2155478"/>
            <a:ext cx="16192500" cy="9525"/>
          </a:xfrm>
          <a:prstGeom prst="rect">
            <a:avLst/>
          </a:prstGeom>
          <a:solidFill>
            <a:srgbClr val="141414"/>
          </a:solidFill>
          <a:ln/>
        </p:spPr>
      </p:sp>
      <p:sp>
        <p:nvSpPr>
          <p:cNvPr id="5" name="Text 3"/>
          <p:cNvSpPr/>
          <p:nvPr/>
        </p:nvSpPr>
        <p:spPr>
          <a:xfrm>
            <a:off x="1047750" y="2543175"/>
            <a:ext cx="16187738" cy="809625"/>
          </a:xfrm>
          <a:prstGeom prst="rect">
            <a:avLst/>
          </a:prstGeom>
          <a:noFill/>
          <a:ln/>
        </p:spPr>
        <p:txBody>
          <a:bodyPr wrap="square" lIns="25400" tIns="25400" rIns="25400" bIns="25400" rtlCol="0" anchor="t">
            <a:normAutofit/>
          </a:bodyPr>
          <a:lstStyle/>
          <a:p>
            <a:pPr algn="l" indent="0" marL="0">
              <a:lnSpc>
                <a:spcPct val="150000"/>
              </a:lnSpc>
              <a:buNone/>
            </a:pPr>
            <a:r>
              <a:rPr lang="en-US" sz="2025" dirty="0">
                <a:solidFill>
                  <a:srgbClr val="141414"/>
                </a:solidFill>
                <a:latin typeface="Helvetica" pitchFamily="34" charset="0"/>
                <a:ea typeface="Helvetica" pitchFamily="34" charset="-122"/>
                <a:cs typeface="Helvetica" pitchFamily="34" charset="-120"/>
              </a:rPr>
              <a:t>The earlier design (v2.0) trained Drafting and Pruning by imitating fixed (context → answer) pairs. Four problems follow from the same mismatch — review is a decision, not a transcription:</a:t>
            </a:r>
            <a:endParaRPr lang="en-US" sz="2025" dirty="0"/>
          </a:p>
        </p:txBody>
      </p:sp>
      <p:sp>
        <p:nvSpPr>
          <p:cNvPr id="6" name="Shape 4"/>
          <p:cNvSpPr/>
          <p:nvPr/>
        </p:nvSpPr>
        <p:spPr>
          <a:xfrm>
            <a:off x="1047750" y="3676650"/>
            <a:ext cx="7972425" cy="2305050"/>
          </a:xfrm>
          <a:prstGeom prst="rect">
            <a:avLst/>
          </a:prstGeom>
          <a:ln w="14288">
            <a:solidFill>
              <a:srgbClr val="141414"/>
            </a:solidFill>
            <a:prstDash val="solid"/>
          </a:ln>
        </p:spPr>
      </p:sp>
      <p:sp>
        <p:nvSpPr>
          <p:cNvPr id="7" name="Text 5"/>
          <p:cNvSpPr/>
          <p:nvPr/>
        </p:nvSpPr>
        <p:spPr>
          <a:xfrm>
            <a:off x="1347788" y="3919537"/>
            <a:ext cx="810958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1 · No unique gold answer</a:t>
            </a:r>
            <a:endParaRPr lang="en-US" sz="2025" dirty="0"/>
          </a:p>
        </p:txBody>
      </p:sp>
      <p:sp>
        <p:nvSpPr>
          <p:cNvPr id="8" name="Text 6"/>
          <p:cNvSpPr/>
          <p:nvPr/>
        </p:nvSpPr>
        <p:spPr>
          <a:xfrm>
            <a:off x="1347788" y="4310063"/>
            <a:ext cx="7593521" cy="1466850"/>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3B3B37"/>
                </a:solidFill>
                <a:latin typeface="Helvetica" pitchFamily="34" charset="0"/>
                <a:ea typeface="Helvetica" pitchFamily="34" charset="-122"/>
                <a:cs typeface="Helvetica" pitchFamily="34" charset="-120"/>
              </a:rPr>
              <a:t>A diff admits many valid reviews (different but correct issue selections, phrasings, reasons). Token-level cross-entropy penalizes valid variation and rewards surface imitation of one arbitrary reference. A reward scores outcomes and is indifferent to phrasing.</a:t>
            </a:r>
            <a:endParaRPr lang="en-US" sz="1875" dirty="0"/>
          </a:p>
        </p:txBody>
      </p:sp>
      <p:sp>
        <p:nvSpPr>
          <p:cNvPr id="9" name="Shape 7"/>
          <p:cNvSpPr/>
          <p:nvPr/>
        </p:nvSpPr>
        <p:spPr>
          <a:xfrm>
            <a:off x="9267825" y="3676650"/>
            <a:ext cx="7972425" cy="2305050"/>
          </a:xfrm>
          <a:prstGeom prst="rect">
            <a:avLst/>
          </a:prstGeom>
          <a:ln w="14288">
            <a:solidFill>
              <a:srgbClr val="141414"/>
            </a:solidFill>
            <a:prstDash val="solid"/>
          </a:ln>
        </p:spPr>
      </p:sp>
      <p:sp>
        <p:nvSpPr>
          <p:cNvPr id="10" name="Text 8"/>
          <p:cNvSpPr/>
          <p:nvPr/>
        </p:nvSpPr>
        <p:spPr>
          <a:xfrm>
            <a:off x="9567863" y="3919537"/>
            <a:ext cx="810958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2 · Calibration is a reward property</a:t>
            </a:r>
            <a:endParaRPr lang="en-US" sz="2025" dirty="0"/>
          </a:p>
        </p:txBody>
      </p:sp>
      <p:sp>
        <p:nvSpPr>
          <p:cNvPr id="11" name="Text 9"/>
          <p:cNvSpPr/>
          <p:nvPr/>
        </p:nvSpPr>
        <p:spPr>
          <a:xfrm>
            <a:off x="9567863" y="4310063"/>
            <a:ext cx="7593521" cy="1466850"/>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3B3B37"/>
                </a:solidFill>
                <a:latin typeface="Helvetica" pitchFamily="34" charset="0"/>
                <a:ea typeface="Helvetica" pitchFamily="34" charset="-122"/>
                <a:cs typeface="Helvetica" pitchFamily="34" charset="-120"/>
              </a:rPr>
              <a:t>The needed behaviours — not flagging clean code, discarding spurious cues, not overusing tools — are trade-offs on a precision/recall/cost frontier. v2.0 approximated this with dataset ratios ("≥30% negatives"); reward terms express it directly.</a:t>
            </a:r>
            <a:endParaRPr lang="en-US" sz="1875" dirty="0"/>
          </a:p>
        </p:txBody>
      </p:sp>
      <p:sp>
        <p:nvSpPr>
          <p:cNvPr id="12" name="Shape 10"/>
          <p:cNvSpPr/>
          <p:nvPr/>
        </p:nvSpPr>
        <p:spPr>
          <a:xfrm>
            <a:off x="1047750" y="6229350"/>
            <a:ext cx="7972425" cy="2305050"/>
          </a:xfrm>
          <a:prstGeom prst="rect">
            <a:avLst/>
          </a:prstGeom>
          <a:ln w="14288">
            <a:solidFill>
              <a:srgbClr val="141414"/>
            </a:solidFill>
            <a:prstDash val="solid"/>
          </a:ln>
        </p:spPr>
      </p:sp>
      <p:sp>
        <p:nvSpPr>
          <p:cNvPr id="13" name="Text 11"/>
          <p:cNvSpPr/>
          <p:nvPr/>
        </p:nvSpPr>
        <p:spPr>
          <a:xfrm>
            <a:off x="1347788" y="6472238"/>
            <a:ext cx="810958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3 · Tool use cannot be imitated statically</a:t>
            </a:r>
            <a:endParaRPr lang="en-US" sz="2025" dirty="0"/>
          </a:p>
        </p:txBody>
      </p:sp>
      <p:sp>
        <p:nvSpPr>
          <p:cNvPr id="14" name="Text 12"/>
          <p:cNvSpPr/>
          <p:nvPr/>
        </p:nvSpPr>
        <p:spPr>
          <a:xfrm>
            <a:off x="1347788" y="6862763"/>
            <a:ext cx="7593521" cy="1466850"/>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3B3B37"/>
                </a:solidFill>
                <a:latin typeface="Helvetica" pitchFamily="34" charset="0"/>
                <a:ea typeface="Helvetica" pitchFamily="34" charset="-122"/>
                <a:cs typeface="Helvetica" pitchFamily="34" charset="-120"/>
              </a:rPr>
              <a:t>Supervised Pruning training required fabricating [TOOL RESULT] blocks and guessing what the model would query. In RL, the policy queries a real sandbox, and the learning signal covers the whole trajectory: what to ask, when to stop, how to use the result.</a:t>
            </a:r>
            <a:endParaRPr lang="en-US" sz="1875" dirty="0"/>
          </a:p>
        </p:txBody>
      </p:sp>
      <p:sp>
        <p:nvSpPr>
          <p:cNvPr id="15" name="Shape 13"/>
          <p:cNvSpPr/>
          <p:nvPr/>
        </p:nvSpPr>
        <p:spPr>
          <a:xfrm>
            <a:off x="9267825" y="6229350"/>
            <a:ext cx="7972425" cy="2305050"/>
          </a:xfrm>
          <a:prstGeom prst="rect">
            <a:avLst/>
          </a:prstGeom>
          <a:ln w="14288">
            <a:solidFill>
              <a:srgbClr val="141414"/>
            </a:solidFill>
            <a:prstDash val="solid"/>
          </a:ln>
        </p:spPr>
      </p:sp>
      <p:sp>
        <p:nvSpPr>
          <p:cNvPr id="16" name="Text 14"/>
          <p:cNvSpPr/>
          <p:nvPr/>
        </p:nvSpPr>
        <p:spPr>
          <a:xfrm>
            <a:off x="9567863" y="6472238"/>
            <a:ext cx="810958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4 · Failure modes are policy-dependent</a:t>
            </a:r>
            <a:endParaRPr lang="en-US" sz="2025" dirty="0"/>
          </a:p>
        </p:txBody>
      </p:sp>
      <p:sp>
        <p:nvSpPr>
          <p:cNvPr id="17" name="Text 15"/>
          <p:cNvSpPr/>
          <p:nvPr/>
        </p:nvSpPr>
        <p:spPr>
          <a:xfrm>
            <a:off x="9567863" y="6862763"/>
            <a:ext cx="7593521" cy="1466850"/>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3B3B37"/>
                </a:solidFill>
                <a:latin typeface="Helvetica" pitchFamily="34" charset="0"/>
                <a:ea typeface="Helvetica" pitchFamily="34" charset="-122"/>
                <a:cs typeface="Helvetica" pitchFamily="34" charset="-120"/>
              </a:rPr>
              <a:t>Pruning must discard the current Drafting model's false positives, whose distribution shifts as Drafting improves. Static datasets cannot track this; co-training (slide 21) feeds Pruning the live Drafting policy's output.</a:t>
            </a:r>
            <a:endParaRPr lang="en-US" sz="1875" dirty="0"/>
          </a:p>
        </p:txBody>
      </p:sp>
      <p:sp>
        <p:nvSpPr>
          <p:cNvPr id="18" name="Text 16"/>
          <p:cNvSpPr/>
          <p:nvPr/>
        </p:nvSpPr>
        <p:spPr>
          <a:xfrm>
            <a:off x="1047750" y="8877300"/>
            <a:ext cx="16187738"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141414"/>
                </a:solidFill>
                <a:latin typeface="Helvetica" pitchFamily="34" charset="0"/>
                <a:ea typeface="Helvetica" pitchFamily="34" charset="-122"/>
                <a:cs typeface="Helvetica" pitchFamily="34" charset="-120"/>
              </a:rPr>
              <a:t>Remaining role of SFT: </a:t>
            </a:r>
            <a:pPr algn="l" indent="0" marL="0">
              <a:lnSpc>
                <a:spcPct val="150000"/>
              </a:lnSpc>
              <a:buNone/>
            </a:pPr>
            <a:r>
              <a:rPr lang="en-US" sz="1950" dirty="0">
                <a:solidFill>
                  <a:srgbClr val="55554F"/>
                </a:solidFill>
                <a:latin typeface="Helvetica" pitchFamily="34" charset="0"/>
                <a:ea typeface="Helvetica" pitchFamily="34" charset="-122"/>
                <a:cs typeface="Helvetica" pitchFamily="34" charset="-120"/>
              </a:rPr>
              <a:t>format only. A small seed set (~200 exemplars) teaches the output schema so that RL starts from parseable output; all judgment is then learned by reward.</a:t>
            </a:r>
            <a:endParaRPr lang="en-US" sz="1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762000"/>
            <a:ext cx="2145432"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LEARNING · 2</a:t>
            </a:r>
            <a:endParaRPr lang="en-US" sz="1800" dirty="0"/>
          </a:p>
        </p:txBody>
      </p:sp>
      <p:sp>
        <p:nvSpPr>
          <p:cNvPr id="3" name="Text 1"/>
          <p:cNvSpPr/>
          <p:nvPr/>
        </p:nvSpPr>
        <p:spPr>
          <a:xfrm>
            <a:off x="1047750" y="1157288"/>
            <a:ext cx="10766286" cy="614139"/>
          </a:xfrm>
          <a:prstGeom prst="rect">
            <a:avLst/>
          </a:prstGeom>
          <a:noFill/>
          <a:ln/>
        </p:spPr>
        <p:txBody>
          <a:bodyPr wrap="square" lIns="25400" tIns="25400" rIns="25400" bIns="25400" rtlCol="0" anchor="t">
            <a:normAutofit/>
          </a:bodyPr>
          <a:lstStyle/>
          <a:p>
            <a:pPr algn="l" indent="0" marL="0">
              <a:lnSpc>
                <a:spcPct val="108000"/>
              </a:lnSpc>
              <a:buNone/>
            </a:pPr>
            <a:r>
              <a:rPr lang="en-US" sz="4200" b="1" spc="-63" kern="0" dirty="0">
                <a:solidFill>
                  <a:srgbClr val="141414"/>
                </a:solidFill>
                <a:latin typeface="Helvetica" pitchFamily="34" charset="0"/>
                <a:ea typeface="Helvetica" pitchFamily="34" charset="-122"/>
                <a:cs typeface="Helvetica" pitchFamily="34" charset="-120"/>
              </a:rPr>
              <a:t>Behaviour Signals in the Historical Data</a:t>
            </a:r>
            <a:endParaRPr lang="en-US" sz="4200" dirty="0"/>
          </a:p>
        </p:txBody>
      </p:sp>
      <p:sp>
        <p:nvSpPr>
          <p:cNvPr id="4" name="Shape 2"/>
          <p:cNvSpPr/>
          <p:nvPr/>
        </p:nvSpPr>
        <p:spPr>
          <a:xfrm>
            <a:off x="1047750" y="1980977"/>
            <a:ext cx="16192500" cy="19050"/>
          </a:xfrm>
          <a:prstGeom prst="rect">
            <a:avLst/>
          </a:prstGeom>
          <a:solidFill>
            <a:srgbClr val="141414"/>
          </a:solidFill>
          <a:ln/>
        </p:spPr>
      </p:sp>
      <p:sp>
        <p:nvSpPr>
          <p:cNvPr id="5" name="Text 3"/>
          <p:cNvSpPr/>
          <p:nvPr/>
        </p:nvSpPr>
        <p:spPr>
          <a:xfrm>
            <a:off x="1047750" y="2266727"/>
            <a:ext cx="1622326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The project's review history records reviewer behaviour, not only answers. The ETL mines it as reward inputs; nothing new is collected.</a:t>
            </a:r>
            <a:endParaRPr lang="en-US" sz="1950" dirty="0"/>
          </a:p>
        </p:txBody>
      </p:sp>
      <p:sp>
        <p:nvSpPr>
          <p:cNvPr id="6" name="Shape 4"/>
          <p:cNvSpPr/>
          <p:nvPr/>
        </p:nvSpPr>
        <p:spPr>
          <a:xfrm>
            <a:off x="1047750" y="3259708"/>
            <a:ext cx="6153150" cy="23813"/>
          </a:xfrm>
          <a:prstGeom prst="rect">
            <a:avLst/>
          </a:prstGeom>
          <a:solidFill>
            <a:srgbClr val="141414"/>
          </a:solidFill>
          <a:ln/>
        </p:spPr>
      </p:sp>
      <p:sp>
        <p:nvSpPr>
          <p:cNvPr id="7" name="Text 5"/>
          <p:cNvSpPr/>
          <p:nvPr/>
        </p:nvSpPr>
        <p:spPr>
          <a:xfrm>
            <a:off x="1047750" y="2904902"/>
            <a:ext cx="6185345" cy="278606"/>
          </a:xfrm>
          <a:prstGeom prst="rect">
            <a:avLst/>
          </a:prstGeom>
          <a:noFill/>
          <a:ln/>
        </p:spPr>
        <p:txBody>
          <a:bodyPr wrap="square" lIns="25400" tIns="25400" rIns="25400" bIns="25400" rtlCol="0" anchor="ctr">
            <a:normAutofit/>
          </a:bodyPr>
          <a:lstStyle/>
          <a:p>
            <a:pPr algn="l" indent="0" marL="0">
              <a:buNone/>
            </a:pPr>
            <a:r>
              <a:rPr lang="en-US" sz="1725" b="1" spc="86" kern="0" dirty="0">
                <a:solidFill>
                  <a:srgbClr val="141414"/>
                </a:solidFill>
                <a:latin typeface="Helvetica" pitchFamily="34" charset="0"/>
                <a:ea typeface="Helvetica" pitchFamily="34" charset="-122"/>
                <a:cs typeface="Helvetica" pitchFamily="34" charset="-120"/>
              </a:rPr>
              <a:t>OBSERVED BEHAVIOUR</a:t>
            </a:r>
            <a:endParaRPr lang="en-US" sz="1725" dirty="0"/>
          </a:p>
        </p:txBody>
      </p:sp>
      <p:sp>
        <p:nvSpPr>
          <p:cNvPr id="8" name="Shape 6"/>
          <p:cNvSpPr/>
          <p:nvPr/>
        </p:nvSpPr>
        <p:spPr>
          <a:xfrm>
            <a:off x="7200900" y="3259708"/>
            <a:ext cx="4857750" cy="23813"/>
          </a:xfrm>
          <a:prstGeom prst="rect">
            <a:avLst/>
          </a:prstGeom>
          <a:solidFill>
            <a:srgbClr val="141414"/>
          </a:solidFill>
          <a:ln/>
        </p:spPr>
      </p:sp>
      <p:sp>
        <p:nvSpPr>
          <p:cNvPr id="9" name="Text 7"/>
          <p:cNvSpPr/>
          <p:nvPr/>
        </p:nvSpPr>
        <p:spPr>
          <a:xfrm>
            <a:off x="7353300" y="2904902"/>
            <a:ext cx="4698683" cy="278606"/>
          </a:xfrm>
          <a:prstGeom prst="rect">
            <a:avLst/>
          </a:prstGeom>
          <a:noFill/>
          <a:ln/>
        </p:spPr>
        <p:txBody>
          <a:bodyPr wrap="square" lIns="25400" tIns="25400" rIns="25400" bIns="25400" rtlCol="0" anchor="ctr">
            <a:normAutofit/>
          </a:bodyPr>
          <a:lstStyle/>
          <a:p>
            <a:pPr algn="l" indent="0" marL="0">
              <a:buNone/>
            </a:pPr>
            <a:r>
              <a:rPr lang="en-US" sz="1725" b="1" spc="86" kern="0" dirty="0">
                <a:solidFill>
                  <a:srgbClr val="141414"/>
                </a:solidFill>
                <a:latin typeface="Helvetica" pitchFamily="34" charset="0"/>
                <a:ea typeface="Helvetica" pitchFamily="34" charset="-122"/>
                <a:cs typeface="Helvetica" pitchFamily="34" charset="-120"/>
              </a:rPr>
              <a:t>SOURCE</a:t>
            </a:r>
            <a:endParaRPr lang="en-US" sz="1725" dirty="0"/>
          </a:p>
        </p:txBody>
      </p:sp>
      <p:sp>
        <p:nvSpPr>
          <p:cNvPr id="10" name="Shape 8"/>
          <p:cNvSpPr/>
          <p:nvPr/>
        </p:nvSpPr>
        <p:spPr>
          <a:xfrm>
            <a:off x="12058650" y="3259708"/>
            <a:ext cx="5181600" cy="23813"/>
          </a:xfrm>
          <a:prstGeom prst="rect">
            <a:avLst/>
          </a:prstGeom>
          <a:solidFill>
            <a:srgbClr val="141414"/>
          </a:solidFill>
          <a:ln/>
        </p:spPr>
      </p:sp>
      <p:sp>
        <p:nvSpPr>
          <p:cNvPr id="11" name="Text 9"/>
          <p:cNvSpPr/>
          <p:nvPr/>
        </p:nvSpPr>
        <p:spPr>
          <a:xfrm>
            <a:off x="12211050" y="2904902"/>
            <a:ext cx="5184648" cy="278606"/>
          </a:xfrm>
          <a:prstGeom prst="rect">
            <a:avLst/>
          </a:prstGeom>
          <a:noFill/>
          <a:ln/>
        </p:spPr>
        <p:txBody>
          <a:bodyPr wrap="square" lIns="25400" tIns="25400" rIns="25400" bIns="25400" rtlCol="0" anchor="ctr">
            <a:normAutofit/>
          </a:bodyPr>
          <a:lstStyle/>
          <a:p>
            <a:pPr algn="l" indent="0" marL="0">
              <a:buNone/>
            </a:pPr>
            <a:r>
              <a:rPr lang="en-US" sz="1725" b="1" spc="86" kern="0" dirty="0">
                <a:solidFill>
                  <a:srgbClr val="141414"/>
                </a:solidFill>
                <a:latin typeface="Helvetica" pitchFamily="34" charset="0"/>
                <a:ea typeface="Helvetica" pitchFamily="34" charset="-122"/>
                <a:cs typeface="Helvetica" pitchFamily="34" charset="-120"/>
              </a:rPr>
              <a:t>USED AS</a:t>
            </a:r>
            <a:endParaRPr lang="en-US" sz="1725" dirty="0"/>
          </a:p>
        </p:txBody>
      </p:sp>
      <p:sp>
        <p:nvSpPr>
          <p:cNvPr id="12" name="Shape 10"/>
          <p:cNvSpPr/>
          <p:nvPr/>
        </p:nvSpPr>
        <p:spPr>
          <a:xfrm>
            <a:off x="1047750" y="4146426"/>
            <a:ext cx="6153150" cy="14288"/>
          </a:xfrm>
          <a:prstGeom prst="rect">
            <a:avLst/>
          </a:prstGeom>
          <a:solidFill>
            <a:srgbClr val="DAD9D4"/>
          </a:solidFill>
          <a:ln/>
        </p:spPr>
      </p:sp>
      <p:sp>
        <p:nvSpPr>
          <p:cNvPr id="13" name="Text 11"/>
          <p:cNvSpPr/>
          <p:nvPr/>
        </p:nvSpPr>
        <p:spPr>
          <a:xfrm>
            <a:off x="1047750" y="3416871"/>
            <a:ext cx="6185345" cy="634305"/>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An issue existed here and was fixed</a:t>
            </a:r>
            <a:endParaRPr lang="en-US" sz="1800" dirty="0"/>
          </a:p>
        </p:txBody>
      </p:sp>
      <p:sp>
        <p:nvSpPr>
          <p:cNvPr id="14" name="Shape 12"/>
          <p:cNvSpPr/>
          <p:nvPr/>
        </p:nvSpPr>
        <p:spPr>
          <a:xfrm>
            <a:off x="7200900" y="4146426"/>
            <a:ext cx="4857750" cy="14288"/>
          </a:xfrm>
          <a:prstGeom prst="rect">
            <a:avLst/>
          </a:prstGeom>
          <a:solidFill>
            <a:srgbClr val="DAD9D4"/>
          </a:solidFill>
          <a:ln/>
        </p:spPr>
      </p:sp>
      <p:sp>
        <p:nvSpPr>
          <p:cNvPr id="15" name="Text 13"/>
          <p:cNvSpPr/>
          <p:nvPr/>
        </p:nvSpPr>
        <p:spPr>
          <a:xfrm>
            <a:off x="7353300" y="3416871"/>
            <a:ext cx="4698683" cy="634305"/>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55554F"/>
                </a:solidFill>
                <a:latin typeface="Helvetica" pitchFamily="34" charset="0"/>
                <a:ea typeface="Helvetica" pitchFamily="34" charset="-122"/>
                <a:cs typeface="Helvetica" pitchFamily="34" charset="-120"/>
              </a:rPr>
              <a:t>PR→issue closing links ("Fixes #123") + pre-fix code reconstruction</a:t>
            </a:r>
            <a:endParaRPr lang="en-US" sz="1725" dirty="0"/>
          </a:p>
        </p:txBody>
      </p:sp>
      <p:sp>
        <p:nvSpPr>
          <p:cNvPr id="16" name="Shape 14"/>
          <p:cNvSpPr/>
          <p:nvPr/>
        </p:nvSpPr>
        <p:spPr>
          <a:xfrm>
            <a:off x="12058650" y="4146426"/>
            <a:ext cx="5181600" cy="14288"/>
          </a:xfrm>
          <a:prstGeom prst="rect">
            <a:avLst/>
          </a:prstGeom>
          <a:solidFill>
            <a:srgbClr val="DAD9D4"/>
          </a:solidFill>
          <a:ln/>
        </p:spPr>
      </p:sp>
      <p:sp>
        <p:nvSpPr>
          <p:cNvPr id="17" name="Text 15"/>
          <p:cNvSpPr/>
          <p:nvPr/>
        </p:nvSpPr>
        <p:spPr>
          <a:xfrm>
            <a:off x="12211050" y="3416871"/>
            <a:ext cx="5184648" cy="634305"/>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Drafting reward: known-issue set (strongest signal)</a:t>
            </a:r>
            <a:endParaRPr lang="en-US" sz="1725" dirty="0"/>
          </a:p>
        </p:txBody>
      </p:sp>
      <p:sp>
        <p:nvSpPr>
          <p:cNvPr id="18" name="Shape 16"/>
          <p:cNvSpPr/>
          <p:nvPr/>
        </p:nvSpPr>
        <p:spPr>
          <a:xfrm>
            <a:off x="1047750" y="5018856"/>
            <a:ext cx="6153150" cy="14288"/>
          </a:xfrm>
          <a:prstGeom prst="rect">
            <a:avLst/>
          </a:prstGeom>
          <a:solidFill>
            <a:srgbClr val="DAD9D4"/>
          </a:solidFill>
          <a:ln/>
        </p:spPr>
      </p:sp>
      <p:sp>
        <p:nvSpPr>
          <p:cNvPr id="19" name="Text 17"/>
          <p:cNvSpPr/>
          <p:nvPr/>
        </p:nvSpPr>
        <p:spPr>
          <a:xfrm>
            <a:off x="1047750" y="4294063"/>
            <a:ext cx="6185345" cy="62954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A reviewer commented and the author changed the code</a:t>
            </a:r>
            <a:endParaRPr lang="en-US" sz="1800" dirty="0"/>
          </a:p>
        </p:txBody>
      </p:sp>
      <p:sp>
        <p:nvSpPr>
          <p:cNvPr id="20" name="Shape 18"/>
          <p:cNvSpPr/>
          <p:nvPr/>
        </p:nvSpPr>
        <p:spPr>
          <a:xfrm>
            <a:off x="7200900" y="5018856"/>
            <a:ext cx="4857750" cy="14288"/>
          </a:xfrm>
          <a:prstGeom prst="rect">
            <a:avLst/>
          </a:prstGeom>
          <a:solidFill>
            <a:srgbClr val="DAD9D4"/>
          </a:solidFill>
          <a:ln/>
        </p:spPr>
      </p:sp>
      <p:sp>
        <p:nvSpPr>
          <p:cNvPr id="21" name="Text 19"/>
          <p:cNvSpPr/>
          <p:nvPr/>
        </p:nvSpPr>
        <p:spPr>
          <a:xfrm>
            <a:off x="7353300" y="4294063"/>
            <a:ext cx="4698683"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55554F"/>
                </a:solidFill>
                <a:latin typeface="Helvetica" pitchFamily="34" charset="0"/>
                <a:ea typeface="Helvetica" pitchFamily="34" charset="-122"/>
                <a:cs typeface="Helvetica" pitchFamily="34" charset="-120"/>
              </a:rPr>
              <a:t>review comments (572 PRs) with a follow-up push touching the commented range</a:t>
            </a:r>
            <a:endParaRPr lang="en-US" sz="1725" dirty="0"/>
          </a:p>
        </p:txBody>
      </p:sp>
      <p:sp>
        <p:nvSpPr>
          <p:cNvPr id="22" name="Shape 20"/>
          <p:cNvSpPr/>
          <p:nvPr/>
        </p:nvSpPr>
        <p:spPr>
          <a:xfrm>
            <a:off x="12058650" y="5018856"/>
            <a:ext cx="5181600" cy="14288"/>
          </a:xfrm>
          <a:prstGeom prst="rect">
            <a:avLst/>
          </a:prstGeom>
          <a:solidFill>
            <a:srgbClr val="DAD9D4"/>
          </a:solidFill>
          <a:ln/>
        </p:spPr>
      </p:sp>
      <p:sp>
        <p:nvSpPr>
          <p:cNvPr id="23" name="Text 21"/>
          <p:cNvSpPr/>
          <p:nvPr/>
        </p:nvSpPr>
        <p:spPr>
          <a:xfrm>
            <a:off x="12211050" y="4294063"/>
            <a:ext cx="5184648"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Drafting: known-issue set · Pruning: keep label</a:t>
            </a:r>
            <a:endParaRPr lang="en-US" sz="1725" dirty="0"/>
          </a:p>
        </p:txBody>
      </p:sp>
      <p:sp>
        <p:nvSpPr>
          <p:cNvPr id="24" name="Shape 22"/>
          <p:cNvSpPr/>
          <p:nvPr/>
        </p:nvSpPr>
        <p:spPr>
          <a:xfrm>
            <a:off x="1047750" y="5891287"/>
            <a:ext cx="6153150" cy="14288"/>
          </a:xfrm>
          <a:prstGeom prst="rect">
            <a:avLst/>
          </a:prstGeom>
          <a:solidFill>
            <a:srgbClr val="DAD9D4"/>
          </a:solidFill>
          <a:ln/>
        </p:spPr>
      </p:sp>
      <p:sp>
        <p:nvSpPr>
          <p:cNvPr id="25" name="Text 23"/>
          <p:cNvSpPr/>
          <p:nvPr/>
        </p:nvSpPr>
        <p:spPr>
          <a:xfrm>
            <a:off x="1047750" y="5166494"/>
            <a:ext cx="6185345" cy="62954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A comment led to no change, or was dismissed</a:t>
            </a:r>
            <a:endParaRPr lang="en-US" sz="1800" dirty="0"/>
          </a:p>
        </p:txBody>
      </p:sp>
      <p:sp>
        <p:nvSpPr>
          <p:cNvPr id="26" name="Shape 24"/>
          <p:cNvSpPr/>
          <p:nvPr/>
        </p:nvSpPr>
        <p:spPr>
          <a:xfrm>
            <a:off x="7200900" y="5891287"/>
            <a:ext cx="4857750" cy="14288"/>
          </a:xfrm>
          <a:prstGeom prst="rect">
            <a:avLst/>
          </a:prstGeom>
          <a:solidFill>
            <a:srgbClr val="DAD9D4"/>
          </a:solidFill>
          <a:ln/>
        </p:spPr>
      </p:sp>
      <p:sp>
        <p:nvSpPr>
          <p:cNvPr id="27" name="Text 25"/>
          <p:cNvSpPr/>
          <p:nvPr/>
        </p:nvSpPr>
        <p:spPr>
          <a:xfrm>
            <a:off x="7353300" y="5166494"/>
            <a:ext cx="4698683"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55554F"/>
                </a:solidFill>
                <a:latin typeface="Helvetica" pitchFamily="34" charset="0"/>
                <a:ea typeface="Helvetica" pitchFamily="34" charset="-122"/>
                <a:cs typeface="Helvetica" pitchFamily="34" charset="-120"/>
              </a:rPr>
              <a:t>comments without follow-up change; nit/style classifications</a:t>
            </a:r>
            <a:endParaRPr lang="en-US" sz="1725" dirty="0"/>
          </a:p>
        </p:txBody>
      </p:sp>
      <p:sp>
        <p:nvSpPr>
          <p:cNvPr id="28" name="Shape 26"/>
          <p:cNvSpPr/>
          <p:nvPr/>
        </p:nvSpPr>
        <p:spPr>
          <a:xfrm>
            <a:off x="12058650" y="5891287"/>
            <a:ext cx="5181600" cy="14288"/>
          </a:xfrm>
          <a:prstGeom prst="rect">
            <a:avLst/>
          </a:prstGeom>
          <a:solidFill>
            <a:srgbClr val="DAD9D4"/>
          </a:solidFill>
          <a:ln/>
        </p:spPr>
      </p:sp>
      <p:sp>
        <p:nvSpPr>
          <p:cNvPr id="29" name="Text 27"/>
          <p:cNvSpPr/>
          <p:nvPr/>
        </p:nvSpPr>
        <p:spPr>
          <a:xfrm>
            <a:off x="12211050" y="5166494"/>
            <a:ext cx="5184648"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Pruning: discard label</a:t>
            </a:r>
            <a:endParaRPr lang="en-US" sz="1725" dirty="0"/>
          </a:p>
        </p:txBody>
      </p:sp>
      <p:sp>
        <p:nvSpPr>
          <p:cNvPr id="30" name="Shape 28"/>
          <p:cNvSpPr/>
          <p:nvPr/>
        </p:nvSpPr>
        <p:spPr>
          <a:xfrm>
            <a:off x="1047750" y="6763717"/>
            <a:ext cx="6153150" cy="14288"/>
          </a:xfrm>
          <a:prstGeom prst="rect">
            <a:avLst/>
          </a:prstGeom>
          <a:solidFill>
            <a:srgbClr val="DAD9D4"/>
          </a:solidFill>
          <a:ln/>
        </p:spPr>
      </p:sp>
      <p:sp>
        <p:nvSpPr>
          <p:cNvPr id="31" name="Text 29"/>
          <p:cNvSpPr/>
          <p:nvPr/>
        </p:nvSpPr>
        <p:spPr>
          <a:xfrm>
            <a:off x="1047750" y="6038924"/>
            <a:ext cx="6185345" cy="62954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Reviewers said nothing and the code shipped clean</a:t>
            </a:r>
            <a:endParaRPr lang="en-US" sz="1800" dirty="0"/>
          </a:p>
        </p:txBody>
      </p:sp>
      <p:sp>
        <p:nvSpPr>
          <p:cNvPr id="32" name="Shape 30"/>
          <p:cNvSpPr/>
          <p:nvPr/>
        </p:nvSpPr>
        <p:spPr>
          <a:xfrm>
            <a:off x="7200900" y="6763717"/>
            <a:ext cx="4857750" cy="14288"/>
          </a:xfrm>
          <a:prstGeom prst="rect">
            <a:avLst/>
          </a:prstGeom>
          <a:solidFill>
            <a:srgbClr val="DAD9D4"/>
          </a:solidFill>
          <a:ln/>
        </p:spPr>
      </p:sp>
      <p:sp>
        <p:nvSpPr>
          <p:cNvPr id="33" name="Text 31"/>
          <p:cNvSpPr/>
          <p:nvPr/>
        </p:nvSpPr>
        <p:spPr>
          <a:xfrm>
            <a:off x="7353300" y="6038924"/>
            <a:ext cx="4698683"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55554F"/>
                </a:solidFill>
                <a:latin typeface="Helvetica" pitchFamily="34" charset="0"/>
                <a:ea typeface="Helvetica" pitchFamily="34" charset="-122"/>
                <a:cs typeface="Helvetica" pitchFamily="34" charset="-120"/>
              </a:rPr>
              <a:t>merged small diffs whose hunks no later fix touched</a:t>
            </a:r>
            <a:endParaRPr lang="en-US" sz="1725" dirty="0"/>
          </a:p>
        </p:txBody>
      </p:sp>
      <p:sp>
        <p:nvSpPr>
          <p:cNvPr id="34" name="Shape 32"/>
          <p:cNvSpPr/>
          <p:nvPr/>
        </p:nvSpPr>
        <p:spPr>
          <a:xfrm>
            <a:off x="12058650" y="6763717"/>
            <a:ext cx="5181600" cy="14288"/>
          </a:xfrm>
          <a:prstGeom prst="rect">
            <a:avLst/>
          </a:prstGeom>
          <a:solidFill>
            <a:srgbClr val="DAD9D4"/>
          </a:solidFill>
          <a:ln/>
        </p:spPr>
      </p:sp>
      <p:sp>
        <p:nvSpPr>
          <p:cNvPr id="35" name="Text 33"/>
          <p:cNvSpPr/>
          <p:nvPr/>
        </p:nvSpPr>
        <p:spPr>
          <a:xfrm>
            <a:off x="12211050" y="6038924"/>
            <a:ext cx="5184648"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Drafting: clean-episode certificates (an empty issue list is correct)</a:t>
            </a:r>
            <a:endParaRPr lang="en-US" sz="1725" dirty="0"/>
          </a:p>
        </p:txBody>
      </p:sp>
      <p:sp>
        <p:nvSpPr>
          <p:cNvPr id="36" name="Shape 34"/>
          <p:cNvSpPr/>
          <p:nvPr/>
        </p:nvSpPr>
        <p:spPr>
          <a:xfrm>
            <a:off x="1047750" y="7636148"/>
            <a:ext cx="6153150" cy="14288"/>
          </a:xfrm>
          <a:prstGeom prst="rect">
            <a:avLst/>
          </a:prstGeom>
          <a:solidFill>
            <a:srgbClr val="DAD9D4"/>
          </a:solidFill>
          <a:ln/>
        </p:spPr>
      </p:sp>
      <p:sp>
        <p:nvSpPr>
          <p:cNvPr id="37" name="Text 35"/>
          <p:cNvSpPr/>
          <p:nvPr/>
        </p:nvSpPr>
        <p:spPr>
          <a:xfrm>
            <a:off x="1047750" y="6911355"/>
            <a:ext cx="6185345" cy="62954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The project consistently does X, not Y</a:t>
            </a:r>
            <a:endParaRPr lang="en-US" sz="1800" dirty="0"/>
          </a:p>
        </p:txBody>
      </p:sp>
      <p:sp>
        <p:nvSpPr>
          <p:cNvPr id="38" name="Shape 36"/>
          <p:cNvSpPr/>
          <p:nvPr/>
        </p:nvSpPr>
        <p:spPr>
          <a:xfrm>
            <a:off x="7200900" y="7636148"/>
            <a:ext cx="4857750" cy="14288"/>
          </a:xfrm>
          <a:prstGeom prst="rect">
            <a:avLst/>
          </a:prstGeom>
          <a:solidFill>
            <a:srgbClr val="DAD9D4"/>
          </a:solidFill>
          <a:ln/>
        </p:spPr>
      </p:sp>
      <p:sp>
        <p:nvSpPr>
          <p:cNvPr id="39" name="Text 37"/>
          <p:cNvSpPr/>
          <p:nvPr/>
        </p:nvSpPr>
        <p:spPr>
          <a:xfrm>
            <a:off x="7353300" y="6911355"/>
            <a:ext cx="4698683"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55554F"/>
                </a:solidFill>
                <a:latin typeface="Helvetica" pitchFamily="34" charset="0"/>
                <a:ea typeface="Helvetica" pitchFamily="34" charset="-122"/>
                <a:cs typeface="Helvetica" pitchFamily="34" charset="-120"/>
              </a:rPr>
              <a:t>usage mining over the source for 37 decision points</a:t>
            </a:r>
            <a:endParaRPr lang="en-US" sz="1725" dirty="0"/>
          </a:p>
        </p:txBody>
      </p:sp>
      <p:sp>
        <p:nvSpPr>
          <p:cNvPr id="40" name="Shape 38"/>
          <p:cNvSpPr/>
          <p:nvPr/>
        </p:nvSpPr>
        <p:spPr>
          <a:xfrm>
            <a:off x="12058650" y="7636148"/>
            <a:ext cx="5181600" cy="14288"/>
          </a:xfrm>
          <a:prstGeom prst="rect">
            <a:avLst/>
          </a:prstGeom>
          <a:solidFill>
            <a:srgbClr val="DAD9D4"/>
          </a:solidFill>
          <a:ln/>
        </p:spPr>
      </p:sp>
      <p:sp>
        <p:nvSpPr>
          <p:cNvPr id="41" name="Text 39"/>
          <p:cNvSpPr/>
          <p:nvPr/>
        </p:nvSpPr>
        <p:spPr>
          <a:xfrm>
            <a:off x="12211050" y="6911355"/>
            <a:ext cx="5184648"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machine-checkable convention rules + prevalence stats; synthetic episodes; judge evidence</a:t>
            </a:r>
            <a:endParaRPr lang="en-US" sz="1725" dirty="0"/>
          </a:p>
        </p:txBody>
      </p:sp>
      <p:sp>
        <p:nvSpPr>
          <p:cNvPr id="42" name="Text 40"/>
          <p:cNvSpPr/>
          <p:nvPr/>
        </p:nvSpPr>
        <p:spPr>
          <a:xfrm>
            <a:off x="1047750" y="7783785"/>
            <a:ext cx="6185345" cy="932408"/>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141414"/>
                </a:solidFill>
                <a:latin typeface="Helvetica" pitchFamily="34" charset="0"/>
                <a:ea typeface="Helvetica" pitchFamily="34" charset="-122"/>
                <a:cs typeface="Helvetica" pitchFamily="34" charset="-120"/>
              </a:rPr>
              <a:t>What counts as each issue type; review principles; design rationale</a:t>
            </a:r>
            <a:endParaRPr lang="en-US" sz="1800" dirty="0"/>
          </a:p>
        </p:txBody>
      </p:sp>
      <p:sp>
        <p:nvSpPr>
          <p:cNvPr id="43" name="Text 41"/>
          <p:cNvSpPr/>
          <p:nvPr/>
        </p:nvSpPr>
        <p:spPr>
          <a:xfrm>
            <a:off x="7353300" y="7783785"/>
            <a:ext cx="4698683" cy="932408"/>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55554F"/>
                </a:solidFill>
                <a:latin typeface="Helvetica" pitchFamily="34" charset="0"/>
                <a:ea typeface="Helvetica" pitchFamily="34" charset="-122"/>
                <a:cs typeface="Helvetica" pitchFamily="34" charset="-120"/>
              </a:rPr>
              <a:t>review guideline (45 rules / 11 categories); reference docs; ADRs extracted from docs and threads</a:t>
            </a:r>
            <a:endParaRPr lang="en-US" sz="1725" dirty="0"/>
          </a:p>
        </p:txBody>
      </p:sp>
      <p:sp>
        <p:nvSpPr>
          <p:cNvPr id="44" name="Text 42"/>
          <p:cNvSpPr/>
          <p:nvPr/>
        </p:nvSpPr>
        <p:spPr>
          <a:xfrm>
            <a:off x="12211050" y="7783785"/>
            <a:ext cx="5184648" cy="932408"/>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141414"/>
                </a:solidFill>
                <a:latin typeface="Helvetica" pitchFamily="34" charset="0"/>
                <a:ea typeface="Helvetica" pitchFamily="34" charset="-122"/>
                <a:cs typeface="Helvetica" pitchFamily="34" charset="-120"/>
              </a:rPr>
              <a:t>judge rubric + closed output taxonomy; judge grounding; RAG for Interpretation</a:t>
            </a:r>
            <a:endParaRPr lang="en-US" sz="17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145432"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LEARNING · 3</a:t>
            </a:r>
            <a:endParaRPr lang="en-US" sz="1800" dirty="0"/>
          </a:p>
        </p:txBody>
      </p:sp>
      <p:sp>
        <p:nvSpPr>
          <p:cNvPr id="3" name="Text 1"/>
          <p:cNvSpPr/>
          <p:nvPr/>
        </p:nvSpPr>
        <p:spPr>
          <a:xfrm>
            <a:off x="1047750" y="1252538"/>
            <a:ext cx="4899050"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The Review Gym</a:t>
            </a:r>
            <a:endParaRPr lang="en-US" sz="4500" dirty="0"/>
          </a:p>
        </p:txBody>
      </p:sp>
      <p:sp>
        <p:nvSpPr>
          <p:cNvPr id="4" name="Shape 2"/>
          <p:cNvSpPr/>
          <p:nvPr/>
        </p:nvSpPr>
        <p:spPr>
          <a:xfrm>
            <a:off x="1047750" y="2155478"/>
            <a:ext cx="16192500" cy="19050"/>
          </a:xfrm>
          <a:prstGeom prst="rect">
            <a:avLst/>
          </a:prstGeom>
          <a:solidFill>
            <a:srgbClr val="141414"/>
          </a:solidFill>
          <a:ln/>
        </p:spPr>
      </p:sp>
      <p:sp>
        <p:nvSpPr>
          <p:cNvPr id="5" name="Shape 3"/>
          <p:cNvSpPr/>
          <p:nvPr/>
        </p:nvSpPr>
        <p:spPr>
          <a:xfrm>
            <a:off x="1047750" y="2574578"/>
            <a:ext cx="7152382" cy="3725912"/>
          </a:xfrm>
          <a:prstGeom prst="rect">
            <a:avLst/>
          </a:prstGeom>
          <a:solidFill>
            <a:srgbClr val="141414"/>
          </a:solidFill>
          <a:ln/>
        </p:spPr>
      </p:sp>
      <p:sp>
        <p:nvSpPr>
          <p:cNvPr id="6" name="Text 4"/>
          <p:cNvSpPr/>
          <p:nvPr/>
        </p:nvSpPr>
        <p:spPr>
          <a:xfrm>
            <a:off x="1390650" y="2860328"/>
            <a:ext cx="7113240" cy="388590"/>
          </a:xfrm>
          <a:prstGeom prst="rect">
            <a:avLst/>
          </a:prstGeom>
          <a:noFill/>
          <a:ln/>
        </p:spPr>
        <p:txBody>
          <a:bodyPr wrap="square" lIns="25400" tIns="25400" rIns="25400" bIns="25400" rtlCol="0" anchor="t">
            <a:normAutofit/>
          </a:bodyPr>
          <a:lstStyle/>
          <a:p>
            <a:pPr algn="l" indent="0" marL="0">
              <a:lnSpc>
                <a:spcPct val="160000"/>
              </a:lnSpc>
              <a:buNone/>
            </a:pPr>
            <a:r>
              <a:rPr lang="en-US" sz="1725" dirty="0">
                <a:solidFill>
                  <a:srgbClr val="FDFDFB"/>
                </a:solidFill>
                <a:latin typeface="Menlo" pitchFamily="34" charset="0"/>
                <a:ea typeface="Menlo" pitchFamily="34" charset="-122"/>
                <a:cs typeface="Menlo" pitchFamily="34" charset="-120"/>
              </a:rPr>
              <a:t>Episode(pr, base_sha):</a:t>
            </a:r>
            <a:endParaRPr lang="en-US" sz="1725" dirty="0"/>
          </a:p>
        </p:txBody>
      </p:sp>
      <p:sp>
        <p:nvSpPr>
          <p:cNvPr id="7" name="Text 5"/>
          <p:cNvSpPr/>
          <p:nvPr/>
        </p:nvSpPr>
        <p:spPr>
          <a:xfrm>
            <a:off x="1390650" y="3210818"/>
            <a:ext cx="7113240" cy="388590"/>
          </a:xfrm>
          <a:prstGeom prst="rect">
            <a:avLst/>
          </a:prstGeom>
          <a:noFill/>
          <a:ln/>
        </p:spPr>
        <p:txBody>
          <a:bodyPr wrap="square" lIns="25400" tIns="25400" rIns="25400" bIns="25400" rtlCol="0" anchor="t">
            <a:normAutofit/>
          </a:bodyPr>
          <a:lstStyle/>
          <a:p>
            <a:pPr algn="l" indent="0" marL="0">
              <a:lnSpc>
                <a:spcPct val="160000"/>
              </a:lnSpc>
              <a:buNone/>
            </a:pPr>
            <a:r>
              <a:rPr lang="en-US" sz="1725" dirty="0">
                <a:solidFill>
                  <a:srgbClr val="FDFDFB"/>
                </a:solidFill>
                <a:latin typeface="Menlo" pitchFamily="34" charset="0"/>
                <a:ea typeface="Menlo" pitchFamily="34" charset="-122"/>
                <a:cs typeface="Menlo" pitchFamily="34" charset="-120"/>
              </a:rPr>
              <a:t>orientation/ </a:t>
            </a:r>
            <a:pPr algn="l" indent="0" marL="0">
              <a:lnSpc>
                <a:spcPct val="160000"/>
              </a:lnSpc>
              <a:buNone/>
            </a:pPr>
            <a:r>
              <a:rPr lang="en-US" sz="1725" dirty="0">
                <a:solidFill>
                  <a:srgbClr val="8A8A86"/>
                </a:solidFill>
                <a:latin typeface="Menlo" pitchFamily="34" charset="0"/>
                <a:ea typeface="Menlo" pitchFamily="34" charset="-122"/>
                <a:cs typeface="Menlo" pitchFamily="34" charset="-120"/>
              </a:rPr>
              <a:t>summary, interpretation,</a:t>
            </a:r>
            <a:endParaRPr lang="en-US" sz="1725" dirty="0"/>
          </a:p>
        </p:txBody>
      </p:sp>
      <p:sp>
        <p:nvSpPr>
          <p:cNvPr id="8" name="Text 6"/>
          <p:cNvSpPr/>
          <p:nvPr/>
        </p:nvSpPr>
        <p:spPr>
          <a:xfrm>
            <a:off x="1390650" y="3561308"/>
            <a:ext cx="7113240" cy="388590"/>
          </a:xfrm>
          <a:prstGeom prst="rect">
            <a:avLst/>
          </a:prstGeom>
          <a:noFill/>
          <a:ln/>
        </p:spPr>
        <p:txBody>
          <a:bodyPr wrap="square" lIns="25400" tIns="25400" rIns="25400" bIns="25400" rtlCol="0" anchor="t">
            <a:normAutofit/>
          </a:bodyPr>
          <a:lstStyle/>
          <a:p>
            <a:pPr algn="l" indent="0" marL="0">
              <a:lnSpc>
                <a:spcPct val="160000"/>
              </a:lnSpc>
              <a:buNone/>
            </a:pPr>
            <a:r>
              <a:rPr lang="en-US" sz="1725" dirty="0">
                <a:solidFill>
                  <a:srgbClr val="8A8A86"/>
                </a:solidFill>
                <a:latin typeface="Menlo" pitchFamily="34" charset="0"/>
                <a:ea typeface="Menlo" pitchFamily="34" charset="-122"/>
                <a:cs typeface="Menlo" pitchFamily="34" charset="-120"/>
              </a:rPr>
              <a:t>expectancies (inference prompt, cached)</a:t>
            </a:r>
            <a:endParaRPr lang="en-US" sz="1725" dirty="0"/>
          </a:p>
        </p:txBody>
      </p:sp>
      <p:sp>
        <p:nvSpPr>
          <p:cNvPr id="9" name="Text 7"/>
          <p:cNvSpPr/>
          <p:nvPr/>
        </p:nvSpPr>
        <p:spPr>
          <a:xfrm>
            <a:off x="1390650" y="3911798"/>
            <a:ext cx="7113240" cy="388590"/>
          </a:xfrm>
          <a:prstGeom prst="rect">
            <a:avLst/>
          </a:prstGeom>
          <a:noFill/>
          <a:ln/>
        </p:spPr>
        <p:txBody>
          <a:bodyPr wrap="square" lIns="25400" tIns="25400" rIns="25400" bIns="25400" rtlCol="0" anchor="t">
            <a:normAutofit/>
          </a:bodyPr>
          <a:lstStyle/>
          <a:p>
            <a:pPr algn="l" indent="0" marL="0">
              <a:lnSpc>
                <a:spcPct val="160000"/>
              </a:lnSpc>
              <a:buNone/>
            </a:pPr>
            <a:r>
              <a:rPr lang="en-US" sz="1725" dirty="0">
                <a:solidFill>
                  <a:srgbClr val="FDFDFB"/>
                </a:solidFill>
                <a:latin typeface="Menlo" pitchFamily="34" charset="0"/>
                <a:ea typeface="Menlo" pitchFamily="34" charset="-122"/>
                <a:cs typeface="Menlo" pitchFamily="34" charset="-120"/>
              </a:rPr>
              <a:t>steps/ </a:t>
            </a:r>
            <a:pPr algn="l" indent="0" marL="0">
              <a:lnSpc>
                <a:spcPct val="160000"/>
              </a:lnSpc>
              <a:buNone/>
            </a:pPr>
            <a:r>
              <a:rPr lang="en-US" sz="1725" dirty="0">
                <a:solidFill>
                  <a:srgbClr val="8A8A86"/>
                </a:solidFill>
                <a:latin typeface="Menlo" pitchFamily="34" charset="0"/>
                <a:ea typeface="Menlo" pitchFamily="34" charset="-122"/>
                <a:cs typeface="Menlo" pitchFamily="34" charset="-120"/>
              </a:rPr>
              <a:t>fixed contexts, shared module</a:t>
            </a:r>
            <a:endParaRPr lang="en-US" sz="1725" dirty="0"/>
          </a:p>
        </p:txBody>
      </p:sp>
      <p:sp>
        <p:nvSpPr>
          <p:cNvPr id="10" name="Text 8"/>
          <p:cNvSpPr/>
          <p:nvPr/>
        </p:nvSpPr>
        <p:spPr>
          <a:xfrm>
            <a:off x="1390650" y="4262289"/>
            <a:ext cx="7113240" cy="388590"/>
          </a:xfrm>
          <a:prstGeom prst="rect">
            <a:avLst/>
          </a:prstGeom>
          <a:noFill/>
          <a:ln/>
        </p:spPr>
        <p:txBody>
          <a:bodyPr wrap="square" lIns="25400" tIns="25400" rIns="25400" bIns="25400" rtlCol="0" anchor="t">
            <a:normAutofit/>
          </a:bodyPr>
          <a:lstStyle/>
          <a:p>
            <a:pPr algn="l" indent="0" marL="0">
              <a:lnSpc>
                <a:spcPct val="160000"/>
              </a:lnSpc>
              <a:buNone/>
            </a:pPr>
            <a:r>
              <a:rPr lang="en-US" sz="1725" dirty="0">
                <a:solidFill>
                  <a:srgbClr val="FDFDFB"/>
                </a:solidFill>
                <a:latin typeface="Menlo" pitchFamily="34" charset="0"/>
                <a:ea typeface="Menlo" pitchFamily="34" charset="-122"/>
                <a:cs typeface="Menlo" pitchFamily="34" charset="-120"/>
              </a:rPr>
              <a:t>signals/ </a:t>
            </a:r>
            <a:pPr algn="l" indent="0" marL="0">
              <a:lnSpc>
                <a:spcPct val="160000"/>
              </a:lnSpc>
              <a:buNone/>
            </a:pPr>
            <a:r>
              <a:rPr lang="en-US" sz="1725" dirty="0">
                <a:solidFill>
                  <a:srgbClr val="8A8A86"/>
                </a:solidFill>
                <a:latin typeface="Menlo" pitchFamily="34" charset="0"/>
                <a:ea typeface="Menlo" pitchFamily="34" charset="-122"/>
                <a:cs typeface="Menlo" pitchFamily="34" charset="-120"/>
              </a:rPr>
              <a:t>known_issues, prune_labels,</a:t>
            </a:r>
            <a:endParaRPr lang="en-US" sz="1725" dirty="0"/>
          </a:p>
        </p:txBody>
      </p:sp>
      <p:sp>
        <p:nvSpPr>
          <p:cNvPr id="11" name="Text 9"/>
          <p:cNvSpPr/>
          <p:nvPr/>
        </p:nvSpPr>
        <p:spPr>
          <a:xfrm>
            <a:off x="1390650" y="4612779"/>
            <a:ext cx="7113240" cy="388590"/>
          </a:xfrm>
          <a:prstGeom prst="rect">
            <a:avLst/>
          </a:prstGeom>
          <a:noFill/>
          <a:ln/>
        </p:spPr>
        <p:txBody>
          <a:bodyPr wrap="square" lIns="25400" tIns="25400" rIns="25400" bIns="25400" rtlCol="0" anchor="t">
            <a:normAutofit/>
          </a:bodyPr>
          <a:lstStyle/>
          <a:p>
            <a:pPr algn="l" indent="0" marL="0">
              <a:lnSpc>
                <a:spcPct val="160000"/>
              </a:lnSpc>
              <a:buNone/>
            </a:pPr>
            <a:r>
              <a:rPr lang="en-US" sz="1725" dirty="0">
                <a:solidFill>
                  <a:srgbClr val="8A8A86"/>
                </a:solidFill>
                <a:latin typeface="Menlo" pitchFamily="34" charset="0"/>
                <a:ea typeface="Menlo" pitchFamily="34" charset="-122"/>
                <a:cs typeface="Menlo" pitchFamily="34" charset="-120"/>
              </a:rPr>
              <a:t>clean_certificates, ground_truth</a:t>
            </a:r>
            <a:endParaRPr lang="en-US" sz="1725" dirty="0"/>
          </a:p>
        </p:txBody>
      </p:sp>
      <p:sp>
        <p:nvSpPr>
          <p:cNvPr id="12" name="Text 10"/>
          <p:cNvSpPr/>
          <p:nvPr/>
        </p:nvSpPr>
        <p:spPr>
          <a:xfrm>
            <a:off x="1390650" y="4963269"/>
            <a:ext cx="7113240" cy="388590"/>
          </a:xfrm>
          <a:prstGeom prst="rect">
            <a:avLst/>
          </a:prstGeom>
          <a:noFill/>
          <a:ln/>
        </p:spPr>
        <p:txBody>
          <a:bodyPr wrap="square" lIns="25400" tIns="25400" rIns="25400" bIns="25400" rtlCol="0" anchor="t">
            <a:normAutofit/>
          </a:bodyPr>
          <a:lstStyle/>
          <a:p>
            <a:pPr algn="l" indent="0" marL="0">
              <a:lnSpc>
                <a:spcPct val="160000"/>
              </a:lnSpc>
              <a:buNone/>
            </a:pPr>
            <a:r>
              <a:rPr lang="en-US" sz="1725" dirty="0">
                <a:solidFill>
                  <a:srgbClr val="FDFDFB"/>
                </a:solidFill>
                <a:latin typeface="Menlo" pitchFamily="34" charset="0"/>
                <a:ea typeface="Menlo" pitchFamily="34" charset="-122"/>
                <a:cs typeface="Menlo" pitchFamily="34" charset="-120"/>
              </a:rPr>
              <a:t>sandbox/</a:t>
            </a:r>
            <a:endParaRPr lang="en-US" sz="1725" dirty="0"/>
          </a:p>
        </p:txBody>
      </p:sp>
      <p:sp>
        <p:nvSpPr>
          <p:cNvPr id="13" name="Text 11"/>
          <p:cNvSpPr/>
          <p:nvPr/>
        </p:nvSpPr>
        <p:spPr>
          <a:xfrm>
            <a:off x="1390650" y="5313759"/>
            <a:ext cx="7113240" cy="388590"/>
          </a:xfrm>
          <a:prstGeom prst="rect">
            <a:avLst/>
          </a:prstGeom>
          <a:noFill/>
          <a:ln/>
        </p:spPr>
        <p:txBody>
          <a:bodyPr wrap="square" lIns="25400" tIns="25400" rIns="25400" bIns="25400" rtlCol="0" anchor="t">
            <a:normAutofit/>
          </a:bodyPr>
          <a:lstStyle/>
          <a:p>
            <a:pPr algn="l" indent="0" marL="0">
              <a:lnSpc>
                <a:spcPct val="160000"/>
              </a:lnSpc>
              <a:buNone/>
            </a:pPr>
            <a:r>
              <a:rPr lang="en-US" sz="1725" dirty="0">
                <a:solidFill>
                  <a:srgbClr val="FDFDFB"/>
                </a:solidFill>
                <a:latin typeface="Menlo" pitchFamily="34" charset="0"/>
                <a:ea typeface="Menlo" pitchFamily="34" charset="-122"/>
                <a:cs typeface="Menlo" pitchFamily="34" charset="-120"/>
              </a:rPr>
              <a:t>codesearch → git show base_sha:path</a:t>
            </a:r>
            <a:endParaRPr lang="en-US" sz="1725" dirty="0"/>
          </a:p>
        </p:txBody>
      </p:sp>
      <p:sp>
        <p:nvSpPr>
          <p:cNvPr id="14" name="Text 12"/>
          <p:cNvSpPr/>
          <p:nvPr/>
        </p:nvSpPr>
        <p:spPr>
          <a:xfrm>
            <a:off x="1390650" y="5664250"/>
            <a:ext cx="7113240" cy="388590"/>
          </a:xfrm>
          <a:prstGeom prst="rect">
            <a:avLst/>
          </a:prstGeom>
          <a:noFill/>
          <a:ln/>
        </p:spPr>
        <p:txBody>
          <a:bodyPr wrap="square" lIns="25400" tIns="25400" rIns="25400" bIns="25400" rtlCol="0" anchor="t">
            <a:normAutofit/>
          </a:bodyPr>
          <a:lstStyle/>
          <a:p>
            <a:pPr algn="l" indent="0" marL="0">
              <a:lnSpc>
                <a:spcPct val="160000"/>
              </a:lnSpc>
              <a:buNone/>
            </a:pPr>
            <a:r>
              <a:rPr lang="en-US" sz="1725" dirty="0">
                <a:solidFill>
                  <a:srgbClr val="FDFDFB"/>
                </a:solidFill>
                <a:latin typeface="Menlo" pitchFamily="34" charset="0"/>
                <a:ea typeface="Menlo" pitchFamily="34" charset="-122"/>
                <a:cs typeface="Menlo" pitchFamily="34" charset="-120"/>
              </a:rPr>
              <a:t>codegraph → per-sha graph snapshot</a:t>
            </a:r>
            <a:endParaRPr lang="en-US" sz="1725" dirty="0"/>
          </a:p>
        </p:txBody>
      </p:sp>
      <p:sp>
        <p:nvSpPr>
          <p:cNvPr id="15" name="Text 13"/>
          <p:cNvSpPr/>
          <p:nvPr/>
        </p:nvSpPr>
        <p:spPr>
          <a:xfrm>
            <a:off x="8657332" y="2574578"/>
            <a:ext cx="8840329"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141414"/>
                </a:solidFill>
                <a:latin typeface="Helvetica" pitchFamily="34" charset="0"/>
                <a:ea typeface="Helvetica" pitchFamily="34" charset="-122"/>
                <a:cs typeface="Helvetica" pitchFamily="34" charset="-120"/>
              </a:rPr>
              <a:t>The central ETL product: one replayable episode per usable historical PR, reconstructed at that PR's point in history (base_sha).</a:t>
            </a:r>
            <a:endParaRPr lang="en-US" sz="2100" dirty="0"/>
          </a:p>
        </p:txBody>
      </p:sp>
      <p:sp>
        <p:nvSpPr>
          <p:cNvPr id="16" name="Text 14"/>
          <p:cNvSpPr/>
          <p:nvPr/>
        </p:nvSpPr>
        <p:spPr>
          <a:xfrm>
            <a:off x="8657332" y="3622328"/>
            <a:ext cx="9441128" cy="423863"/>
          </a:xfrm>
          <a:prstGeom prst="rect">
            <a:avLst/>
          </a:prstGeom>
          <a:noFill/>
          <a:ln/>
        </p:spPr>
        <p:txBody>
          <a:bodyPr wrap="square" lIns="25400" tIns="25400" rIns="25400" bIns="25400" rtlCol="0" anchor="t">
            <a:normAutofit/>
          </a:bodyPr>
          <a:lstStyle/>
          <a:p>
            <a:pPr algn="l" indent="0" marL="0">
              <a:lnSpc>
                <a:spcPct val="150000"/>
              </a:lnSpc>
              <a:buNone/>
            </a:pPr>
            <a:r>
              <a:rPr lang="en-US" sz="2025" dirty="0">
                <a:solidFill>
                  <a:srgbClr val="141414"/>
                </a:solidFill>
                <a:latin typeface="Helvetica" pitchFamily="34" charset="0"/>
                <a:ea typeface="Helvetica" pitchFamily="34" charset="-122"/>
                <a:cs typeface="Helvetica" pitchFamily="34" charset="-120"/>
              </a:rPr>
              <a:t>Two properties carry the design:</a:t>
            </a:r>
            <a:endParaRPr lang="en-US" sz="2025" dirty="0"/>
          </a:p>
        </p:txBody>
      </p:sp>
      <p:sp>
        <p:nvSpPr>
          <p:cNvPr id="17" name="Text 15"/>
          <p:cNvSpPr/>
          <p:nvPr/>
        </p:nvSpPr>
        <p:spPr>
          <a:xfrm>
            <a:off x="8657332" y="4289078"/>
            <a:ext cx="495300"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1.</a:t>
            </a:r>
            <a:endParaRPr lang="en-US" sz="2025" dirty="0"/>
          </a:p>
        </p:txBody>
      </p:sp>
      <p:sp>
        <p:nvSpPr>
          <p:cNvPr id="18" name="Text 16"/>
          <p:cNvSpPr/>
          <p:nvPr/>
        </p:nvSpPr>
        <p:spPr>
          <a:xfrm>
            <a:off x="9285982" y="4255740"/>
            <a:ext cx="8192819"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Contexts are assembled by the same module as inference, so the policy trains on exactly what it will see in production.</a:t>
            </a:r>
            <a:endParaRPr lang="en-US" sz="1950" dirty="0"/>
          </a:p>
        </p:txBody>
      </p:sp>
      <p:sp>
        <p:nvSpPr>
          <p:cNvPr id="19" name="Text 17"/>
          <p:cNvSpPr/>
          <p:nvPr/>
        </p:nvSpPr>
        <p:spPr>
          <a:xfrm>
            <a:off x="8657332" y="5279678"/>
            <a:ext cx="495300"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2.</a:t>
            </a:r>
            <a:endParaRPr lang="en-US" sz="2025" dirty="0"/>
          </a:p>
        </p:txBody>
      </p:sp>
      <p:sp>
        <p:nvSpPr>
          <p:cNvPr id="20" name="Text 18"/>
          <p:cNvSpPr/>
          <p:nvPr/>
        </p:nvSpPr>
        <p:spPr>
          <a:xfrm>
            <a:off x="9285982" y="5246340"/>
            <a:ext cx="8192819"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The sandbox is the real repository at the historical sha, so tool-using rollouts and citation checks are exact, not simulated.</a:t>
            </a:r>
            <a:endParaRPr lang="en-US" sz="1950" dirty="0"/>
          </a:p>
        </p:txBody>
      </p:sp>
      <p:sp>
        <p:nvSpPr>
          <p:cNvPr id="21" name="Text 19"/>
          <p:cNvSpPr/>
          <p:nvPr/>
        </p:nvSpPr>
        <p:spPr>
          <a:xfrm>
            <a:off x="8657332" y="6236940"/>
            <a:ext cx="8840329" cy="18954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141414"/>
                </a:solidFill>
                <a:latin typeface="Helvetica" pitchFamily="34" charset="0"/>
                <a:ea typeface="Helvetica" pitchFamily="34" charset="-122"/>
                <a:cs typeface="Helvetica" pitchFamily="34" charset="-120"/>
              </a:rPr>
              <a:t>Synthetic convention episodes: </a:t>
            </a:r>
            <a:pPr algn="l" indent="0" marL="0">
              <a:lnSpc>
                <a:spcPct val="150000"/>
              </a:lnSpc>
              <a:buNone/>
            </a:pPr>
            <a:r>
              <a:rPr lang="en-US" sz="1950" dirty="0">
                <a:solidFill>
                  <a:srgbClr val="55554F"/>
                </a:solidFill>
                <a:latin typeface="Helvetica" pitchFamily="34" charset="0"/>
                <a:ea typeface="Helvetica" pitchFamily="34" charset="-122"/>
                <a:cs typeface="Helvetica" pitchFamily="34" charset="-120"/>
              </a:rPr>
              <a:t>for each mined decision point, a diff with a legal-but-non-conventional variant (expected finding: the convention issue) and a conventional variant (expected finding: none). Outcomes are rule-checkable, so these episodes have pure L0/L1 reward, needing no judge — used for early training and as a zero-label-noise eval slice.</a:t>
            </a:r>
            <a:endParaRPr lang="en-US" sz="1950" dirty="0"/>
          </a:p>
        </p:txBody>
      </p:sp>
      <p:sp>
        <p:nvSpPr>
          <p:cNvPr id="22" name="Text 20"/>
          <p:cNvSpPr/>
          <p:nvPr/>
        </p:nvSpPr>
        <p:spPr>
          <a:xfrm>
            <a:off x="8657332" y="8341965"/>
            <a:ext cx="8840329"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141414"/>
                </a:solidFill>
                <a:latin typeface="Helvetica" pitchFamily="34" charset="0"/>
                <a:ea typeface="Helvetica" pitchFamily="34" charset="-122"/>
                <a:cs typeface="Helvetica" pitchFamily="34" charset="-120"/>
              </a:rPr>
              <a:t>Lifecycle: </a:t>
            </a:r>
            <a:pPr algn="l" indent="0" marL="0">
              <a:lnSpc>
                <a:spcPct val="150000"/>
              </a:lnSpc>
              <a:buNone/>
            </a:pPr>
            <a:r>
              <a:rPr lang="en-US" sz="1950" dirty="0">
                <a:solidFill>
                  <a:srgbClr val="55554F"/>
                </a:solidFill>
                <a:latin typeface="Helvetica" pitchFamily="34" charset="0"/>
                <a:ea typeface="Helvetica" pitchFamily="34" charset="-122"/>
                <a:cs typeface="Helvetica" pitchFamily="34" charset="-120"/>
              </a:rPr>
              <a:t>append-only; each merged PR becomes an episode after its signals mature. Eval split held out by episode, balanced between has-issues and clean.</a:t>
            </a:r>
            <a:endParaRPr lang="en-US" sz="1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762000"/>
            <a:ext cx="2145432"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LEARNING · 4</a:t>
            </a:r>
            <a:endParaRPr lang="en-US" sz="1800" dirty="0"/>
          </a:p>
        </p:txBody>
      </p:sp>
      <p:sp>
        <p:nvSpPr>
          <p:cNvPr id="3" name="Text 1"/>
          <p:cNvSpPr/>
          <p:nvPr/>
        </p:nvSpPr>
        <p:spPr>
          <a:xfrm>
            <a:off x="1047750" y="1157288"/>
            <a:ext cx="9874798" cy="614139"/>
          </a:xfrm>
          <a:prstGeom prst="rect">
            <a:avLst/>
          </a:prstGeom>
          <a:noFill/>
          <a:ln/>
        </p:spPr>
        <p:txBody>
          <a:bodyPr wrap="square" lIns="25400" tIns="25400" rIns="25400" bIns="25400" rtlCol="0" anchor="t">
            <a:normAutofit/>
          </a:bodyPr>
          <a:lstStyle/>
          <a:p>
            <a:pPr algn="l" indent="0" marL="0">
              <a:lnSpc>
                <a:spcPct val="108000"/>
              </a:lnSpc>
              <a:buNone/>
            </a:pPr>
            <a:r>
              <a:rPr lang="en-US" sz="4200" b="1" spc="-63" kern="0" dirty="0">
                <a:solidFill>
                  <a:srgbClr val="141414"/>
                </a:solidFill>
                <a:latin typeface="Helvetica" pitchFamily="34" charset="0"/>
                <a:ea typeface="Helvetica" pitchFamily="34" charset="-122"/>
                <a:cs typeface="Helvetica" pitchFamily="34" charset="-120"/>
              </a:rPr>
              <a:t>Reward Design: a Three-Layer Stack</a:t>
            </a:r>
            <a:endParaRPr lang="en-US" sz="4200" dirty="0"/>
          </a:p>
        </p:txBody>
      </p:sp>
      <p:sp>
        <p:nvSpPr>
          <p:cNvPr id="4" name="Text 2"/>
          <p:cNvSpPr/>
          <p:nvPr/>
        </p:nvSpPr>
        <p:spPr>
          <a:xfrm>
            <a:off x="1047750" y="2266727"/>
            <a:ext cx="16187738"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Lower layers are cheap and mandatory; higher layers are expensive and evaluated only if lower layers pass. All judge calls are cached by prompt hash.</a:t>
            </a:r>
            <a:endParaRPr lang="en-US" sz="1950" dirty="0"/>
          </a:p>
        </p:txBody>
      </p:sp>
      <p:sp>
        <p:nvSpPr>
          <p:cNvPr id="5" name="Shape 3"/>
          <p:cNvSpPr/>
          <p:nvPr/>
        </p:nvSpPr>
        <p:spPr>
          <a:xfrm>
            <a:off x="1047750" y="3295427"/>
            <a:ext cx="16192500" cy="1885950"/>
          </a:xfrm>
          <a:prstGeom prst="rect">
            <a:avLst/>
          </a:prstGeom>
          <a:ln w="19050">
            <a:solidFill>
              <a:srgbClr val="141414"/>
            </a:solidFill>
            <a:prstDash val="solid"/>
          </a:ln>
        </p:spPr>
      </p:sp>
      <p:sp>
        <p:nvSpPr>
          <p:cNvPr id="6" name="Shape 4"/>
          <p:cNvSpPr/>
          <p:nvPr/>
        </p:nvSpPr>
        <p:spPr>
          <a:xfrm>
            <a:off x="1066800" y="3314477"/>
            <a:ext cx="2095500" cy="1847850"/>
          </a:xfrm>
          <a:prstGeom prst="rect">
            <a:avLst/>
          </a:prstGeom>
          <a:solidFill>
            <a:srgbClr val="141414"/>
          </a:solidFill>
          <a:ln/>
        </p:spPr>
      </p:sp>
      <p:sp>
        <p:nvSpPr>
          <p:cNvPr id="7" name="Text 5"/>
          <p:cNvSpPr/>
          <p:nvPr/>
        </p:nvSpPr>
        <p:spPr>
          <a:xfrm>
            <a:off x="1314450" y="3928839"/>
            <a:ext cx="1760220"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FDFDFB"/>
                </a:solidFill>
                <a:latin typeface="Helvetica" pitchFamily="34" charset="0"/>
                <a:ea typeface="Helvetica" pitchFamily="34" charset="-122"/>
                <a:cs typeface="Helvetica" pitchFamily="34" charset="-120"/>
              </a:rPr>
              <a:t>L0</a:t>
            </a:r>
            <a:endParaRPr lang="en-US" sz="2250" dirty="0"/>
          </a:p>
        </p:txBody>
      </p:sp>
      <p:sp>
        <p:nvSpPr>
          <p:cNvPr id="8" name="Text 6"/>
          <p:cNvSpPr/>
          <p:nvPr/>
        </p:nvSpPr>
        <p:spPr>
          <a:xfrm>
            <a:off x="1314450" y="4295552"/>
            <a:ext cx="1760220" cy="290513"/>
          </a:xfrm>
          <a:prstGeom prst="rect">
            <a:avLst/>
          </a:prstGeom>
          <a:noFill/>
          <a:ln/>
        </p:spPr>
        <p:txBody>
          <a:bodyPr wrap="square" lIns="25400" tIns="25400" rIns="25400" bIns="25400" rtlCol="0" anchor="t">
            <a:normAutofit/>
          </a:bodyPr>
          <a:lstStyle/>
          <a:p>
            <a:pPr algn="l" indent="0" marL="0">
              <a:buNone/>
            </a:pPr>
            <a:r>
              <a:rPr lang="en-US" sz="1725" dirty="0">
                <a:solidFill>
                  <a:srgbClr val="B9B8B2"/>
                </a:solidFill>
                <a:latin typeface="Helvetica" pitchFamily="34" charset="0"/>
                <a:ea typeface="Helvetica" pitchFamily="34" charset="-122"/>
                <a:cs typeface="Helvetica" pitchFamily="34" charset="-120"/>
              </a:rPr>
              <a:t>rules, free</a:t>
            </a:r>
            <a:endParaRPr lang="en-US" sz="1725" dirty="0"/>
          </a:p>
        </p:txBody>
      </p:sp>
      <p:sp>
        <p:nvSpPr>
          <p:cNvPr id="9" name="Text 7"/>
          <p:cNvSpPr/>
          <p:nvPr/>
        </p:nvSpPr>
        <p:spPr>
          <a:xfrm>
            <a:off x="3429000" y="3524027"/>
            <a:ext cx="13947267" cy="1466850"/>
          </a:xfrm>
          <a:prstGeom prst="rect">
            <a:avLst/>
          </a:prstGeom>
          <a:noFill/>
          <a:ln/>
        </p:spPr>
        <p:txBody>
          <a:bodyPr wrap="square" lIns="25400" tIns="25400" rIns="25400" bIns="25400" rtlCol="0" anchor="t">
            <a:normAutofit/>
          </a:bodyPr>
          <a:lstStyle/>
          <a:p>
            <a:pPr algn="l" indent="0" marL="0">
              <a:lnSpc>
                <a:spcPct val="150000"/>
              </a:lnSpc>
              <a:buNone/>
            </a:pPr>
            <a:r>
              <a:rPr lang="en-US" sz="1875" b="1" dirty="0">
                <a:solidFill>
                  <a:srgbClr val="141414"/>
                </a:solidFill>
                <a:latin typeface="Helvetica" pitchFamily="34" charset="0"/>
                <a:ea typeface="Helvetica" pitchFamily="34" charset="-122"/>
                <a:cs typeface="Helvetica" pitchFamily="34" charset="-120"/>
              </a:rPr>
              <a:t>Verifiable gates. </a:t>
            </a:r>
            <a:pPr algn="l" indent="0" marL="0">
              <a:lnSpc>
                <a:spcPct val="150000"/>
              </a:lnSpc>
              <a:buNone/>
            </a:pPr>
            <a:r>
              <a:rPr lang="en-US" sz="1875" dirty="0">
                <a:solidFill>
                  <a:srgbClr val="141414"/>
                </a:solidFill>
                <a:latin typeface="Helvetica" pitchFamily="34" charset="0"/>
                <a:ea typeface="Helvetica" pitchFamily="34" charset="-122"/>
                <a:cs typeface="Helvetica" pitchFamily="34" charset="-120"/>
              </a:rPr>
              <a:t>Schema-valid JSON; issue type within the closed 11-category taxonomy; every cited file/line exists at the episode's base_sha (checked via git show); issues anchored to a hunk; decision ∈ {keep, discard}; tool budget respected. Failure floors the reward and skips higher layers. This is also the first defense against reward hacking: a judge can be misled, git show cannot.</a:t>
            </a:r>
            <a:endParaRPr lang="en-US" sz="1875" dirty="0"/>
          </a:p>
        </p:txBody>
      </p:sp>
      <p:sp>
        <p:nvSpPr>
          <p:cNvPr id="10" name="Shape 8"/>
          <p:cNvSpPr/>
          <p:nvPr/>
        </p:nvSpPr>
        <p:spPr>
          <a:xfrm>
            <a:off x="1047750" y="5333777"/>
            <a:ext cx="16192500" cy="1885950"/>
          </a:xfrm>
          <a:prstGeom prst="rect">
            <a:avLst/>
          </a:prstGeom>
          <a:ln w="19050">
            <a:solidFill>
              <a:srgbClr val="141414"/>
            </a:solidFill>
            <a:prstDash val="solid"/>
          </a:ln>
        </p:spPr>
      </p:sp>
      <p:sp>
        <p:nvSpPr>
          <p:cNvPr id="11" name="Shape 9"/>
          <p:cNvSpPr/>
          <p:nvPr/>
        </p:nvSpPr>
        <p:spPr>
          <a:xfrm>
            <a:off x="1066800" y="5352827"/>
            <a:ext cx="2095500" cy="1847850"/>
          </a:xfrm>
          <a:prstGeom prst="rect">
            <a:avLst/>
          </a:prstGeom>
          <a:solidFill>
            <a:srgbClr val="141414"/>
          </a:solidFill>
          <a:ln/>
        </p:spPr>
      </p:sp>
      <p:sp>
        <p:nvSpPr>
          <p:cNvPr id="12" name="Text 10"/>
          <p:cNvSpPr/>
          <p:nvPr/>
        </p:nvSpPr>
        <p:spPr>
          <a:xfrm>
            <a:off x="1314450" y="5967189"/>
            <a:ext cx="1760220"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FDFDFB"/>
                </a:solidFill>
                <a:latin typeface="Helvetica" pitchFamily="34" charset="0"/>
                <a:ea typeface="Helvetica" pitchFamily="34" charset="-122"/>
                <a:cs typeface="Helvetica" pitchFamily="34" charset="-120"/>
              </a:rPr>
              <a:t>L1</a:t>
            </a:r>
            <a:endParaRPr lang="en-US" sz="2250" dirty="0"/>
          </a:p>
        </p:txBody>
      </p:sp>
      <p:sp>
        <p:nvSpPr>
          <p:cNvPr id="13" name="Text 11"/>
          <p:cNvSpPr/>
          <p:nvPr/>
        </p:nvSpPr>
        <p:spPr>
          <a:xfrm>
            <a:off x="1314450" y="6333902"/>
            <a:ext cx="1760220" cy="290513"/>
          </a:xfrm>
          <a:prstGeom prst="rect">
            <a:avLst/>
          </a:prstGeom>
          <a:noFill/>
          <a:ln/>
        </p:spPr>
        <p:txBody>
          <a:bodyPr wrap="square" lIns="25400" tIns="25400" rIns="25400" bIns="25400" rtlCol="0" anchor="t">
            <a:normAutofit/>
          </a:bodyPr>
          <a:lstStyle/>
          <a:p>
            <a:pPr algn="l" indent="0" marL="0">
              <a:buNone/>
            </a:pPr>
            <a:r>
              <a:rPr lang="en-US" sz="1725" dirty="0">
                <a:solidFill>
                  <a:srgbClr val="B9B8B2"/>
                </a:solidFill>
                <a:latin typeface="Helvetica" pitchFamily="34" charset="0"/>
                <a:ea typeface="Helvetica" pitchFamily="34" charset="-122"/>
                <a:cs typeface="Helvetica" pitchFamily="34" charset="-120"/>
              </a:rPr>
              <a:t>labels, cheap</a:t>
            </a:r>
            <a:endParaRPr lang="en-US" sz="1725" dirty="0"/>
          </a:p>
        </p:txBody>
      </p:sp>
      <p:sp>
        <p:nvSpPr>
          <p:cNvPr id="14" name="Text 12"/>
          <p:cNvSpPr/>
          <p:nvPr/>
        </p:nvSpPr>
        <p:spPr>
          <a:xfrm>
            <a:off x="3429000" y="5562377"/>
            <a:ext cx="13947267" cy="1466850"/>
          </a:xfrm>
          <a:prstGeom prst="rect">
            <a:avLst/>
          </a:prstGeom>
          <a:noFill/>
          <a:ln/>
        </p:spPr>
        <p:txBody>
          <a:bodyPr wrap="square" lIns="25400" tIns="25400" rIns="25400" bIns="25400" rtlCol="0" anchor="t">
            <a:normAutofit/>
          </a:bodyPr>
          <a:lstStyle/>
          <a:p>
            <a:pPr algn="l" indent="0" marL="0">
              <a:lnSpc>
                <a:spcPct val="150000"/>
              </a:lnSpc>
              <a:buNone/>
            </a:pPr>
            <a:r>
              <a:rPr lang="en-US" sz="1875" b="1" dirty="0">
                <a:solidFill>
                  <a:srgbClr val="141414"/>
                </a:solidFill>
                <a:latin typeface="Helvetica" pitchFamily="34" charset="0"/>
                <a:ea typeface="Helvetica" pitchFamily="34" charset="-122"/>
                <a:cs typeface="Helvetica" pitchFamily="34" charset="-120"/>
              </a:rPr>
              <a:t>Historical behaviour agreement. </a:t>
            </a:r>
            <a:pPr algn="l" indent="0" marL="0">
              <a:lnSpc>
                <a:spcPct val="150000"/>
              </a:lnSpc>
              <a:buNone/>
            </a:pPr>
            <a:r>
              <a:rPr lang="en-US" sz="1875" dirty="0">
                <a:solidFill>
                  <a:srgbClr val="141414"/>
                </a:solidFill>
                <a:latin typeface="Helvetica" pitchFamily="34" charset="0"/>
                <a:ea typeface="Helvetica" pitchFamily="34" charset="-122"/>
                <a:cs typeface="Helvetica" pitchFamily="34" charset="-120"/>
              </a:rPr>
              <a:t>Drafting: matching a known issue (type + hunk overlap) scores positive; an empty list on a clean-certificate episode scores positive; synthetic convention episodes are scored exactly by rule. Pruning: agreement with the maintainer outcome (keep validated / discard dismissed), ±1. Recall emerges group-relatively: rollouts that find the known issue outrank those that miss it.</a:t>
            </a:r>
            <a:endParaRPr lang="en-US" sz="1875" dirty="0"/>
          </a:p>
        </p:txBody>
      </p:sp>
      <p:sp>
        <p:nvSpPr>
          <p:cNvPr id="15" name="Shape 13"/>
          <p:cNvSpPr/>
          <p:nvPr/>
        </p:nvSpPr>
        <p:spPr>
          <a:xfrm>
            <a:off x="1047750" y="7372127"/>
            <a:ext cx="16192500" cy="1885950"/>
          </a:xfrm>
          <a:prstGeom prst="rect">
            <a:avLst/>
          </a:prstGeom>
          <a:ln w="19050">
            <a:solidFill>
              <a:srgbClr val="141414"/>
            </a:solidFill>
            <a:prstDash val="solid"/>
          </a:ln>
        </p:spPr>
      </p:sp>
      <p:sp>
        <p:nvSpPr>
          <p:cNvPr id="16" name="Shape 14"/>
          <p:cNvSpPr/>
          <p:nvPr/>
        </p:nvSpPr>
        <p:spPr>
          <a:xfrm>
            <a:off x="1066800" y="7391177"/>
            <a:ext cx="2095500" cy="1847850"/>
          </a:xfrm>
          <a:prstGeom prst="rect">
            <a:avLst/>
          </a:prstGeom>
          <a:solidFill>
            <a:srgbClr val="141414"/>
          </a:solidFill>
          <a:ln/>
        </p:spPr>
      </p:sp>
      <p:sp>
        <p:nvSpPr>
          <p:cNvPr id="17" name="Text 15"/>
          <p:cNvSpPr/>
          <p:nvPr/>
        </p:nvSpPr>
        <p:spPr>
          <a:xfrm>
            <a:off x="1314450" y="7879333"/>
            <a:ext cx="1760220"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FDFDFB"/>
                </a:solidFill>
                <a:latin typeface="Helvetica" pitchFamily="34" charset="0"/>
                <a:ea typeface="Helvetica" pitchFamily="34" charset="-122"/>
                <a:cs typeface="Helvetica" pitchFamily="34" charset="-120"/>
              </a:rPr>
              <a:t>L2</a:t>
            </a:r>
            <a:endParaRPr lang="en-US" sz="2250" dirty="0"/>
          </a:p>
        </p:txBody>
      </p:sp>
      <p:sp>
        <p:nvSpPr>
          <p:cNvPr id="18" name="Text 16"/>
          <p:cNvSpPr/>
          <p:nvPr/>
        </p:nvSpPr>
        <p:spPr>
          <a:xfrm>
            <a:off x="1314450" y="8246046"/>
            <a:ext cx="1676400" cy="542925"/>
          </a:xfrm>
          <a:prstGeom prst="rect">
            <a:avLst/>
          </a:prstGeom>
          <a:noFill/>
          <a:ln/>
        </p:spPr>
        <p:txBody>
          <a:bodyPr wrap="square" lIns="25400" tIns="25400" rIns="25400" bIns="25400" rtlCol="0" anchor="t">
            <a:normAutofit/>
          </a:bodyPr>
          <a:lstStyle/>
          <a:p>
            <a:pPr algn="l" indent="0" marL="0">
              <a:buNone/>
            </a:pPr>
            <a:r>
              <a:rPr lang="en-US" sz="1725" dirty="0">
                <a:solidFill>
                  <a:srgbClr val="B9B8B2"/>
                </a:solidFill>
                <a:latin typeface="Helvetica" pitchFamily="34" charset="0"/>
                <a:ea typeface="Helvetica" pitchFamily="34" charset="-122"/>
                <a:cs typeface="Helvetica" pitchFamily="34" charset="-120"/>
              </a:rPr>
              <a:t>AI judge, cached</a:t>
            </a:r>
            <a:endParaRPr lang="en-US" sz="1725" dirty="0"/>
          </a:p>
        </p:txBody>
      </p:sp>
      <p:sp>
        <p:nvSpPr>
          <p:cNvPr id="19" name="Text 17"/>
          <p:cNvSpPr/>
          <p:nvPr/>
        </p:nvSpPr>
        <p:spPr>
          <a:xfrm>
            <a:off x="3429000" y="7600727"/>
            <a:ext cx="13947267" cy="1466850"/>
          </a:xfrm>
          <a:prstGeom prst="rect">
            <a:avLst/>
          </a:prstGeom>
          <a:noFill/>
          <a:ln/>
        </p:spPr>
        <p:txBody>
          <a:bodyPr wrap="square" lIns="25400" tIns="25400" rIns="25400" bIns="25400" rtlCol="0" anchor="t">
            <a:normAutofit/>
          </a:bodyPr>
          <a:lstStyle/>
          <a:p>
            <a:pPr algn="l" indent="0" marL="0">
              <a:lnSpc>
                <a:spcPct val="150000"/>
              </a:lnSpc>
              <a:buNone/>
            </a:pPr>
            <a:r>
              <a:rPr lang="en-US" sz="1875" b="1" dirty="0">
                <a:solidFill>
                  <a:srgbClr val="141414"/>
                </a:solidFill>
                <a:latin typeface="Helvetica" pitchFamily="34" charset="0"/>
                <a:ea typeface="Helvetica" pitchFamily="34" charset="-122"/>
                <a:cs typeface="Helvetica" pitchFamily="34" charset="-120"/>
              </a:rPr>
              <a:t>Grounded AI judge. </a:t>
            </a:r>
            <a:pPr algn="l" indent="0" marL="0">
              <a:lnSpc>
                <a:spcPct val="150000"/>
              </a:lnSpc>
              <a:buNone/>
            </a:pPr>
            <a:r>
              <a:rPr lang="en-US" sz="1875" dirty="0">
                <a:solidFill>
                  <a:srgbClr val="141414"/>
                </a:solidFill>
                <a:latin typeface="Helvetica" pitchFamily="34" charset="0"/>
                <a:ea typeface="Helvetica" pitchFamily="34" charset="-122"/>
                <a:cs typeface="Helvetica" pitchFamily="34" charset="-120"/>
              </a:rPr>
              <a:t>A frontier model with the guideline rubric, the episode context, and retrieval access to convention statistics and ADRs. Scores what history cannot: unmatched extra findings (fabricated → strong negative; dubious → 0; plausible and grounded → small positive, preserving recall); reason quality, ranked pairwise within a rollout group; Pruning reason faithfulness to the returned tool results.</a:t>
            </a:r>
            <a:endParaRPr lang="en-US" sz="1875" dirty="0"/>
          </a:p>
        </p:txBody>
      </p:sp>
      <p:sp>
        <p:nvSpPr>
          <p:cNvPr id="20" name="Text 18"/>
          <p:cNvSpPr/>
          <p:nvPr/>
        </p:nvSpPr>
        <p:spPr>
          <a:xfrm>
            <a:off x="1047750" y="9505727"/>
            <a:ext cx="16678275"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5554F"/>
                </a:solidFill>
                <a:latin typeface="Helvetica" pitchFamily="34" charset="0"/>
                <a:ea typeface="Helvetica" pitchFamily="34" charset="-122"/>
                <a:cs typeface="Helvetica" pitchFamily="34" charset="-120"/>
              </a:rPr>
              <a:t>Additional terms: a length penalty beyond the issue-count cap (Drafting) and a small per-tool-call cost (Pruning), so lookup is learned as targeted rather than reflexive.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145432"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LEARNING · 5</a:t>
            </a:r>
            <a:endParaRPr lang="en-US" sz="1800" dirty="0"/>
          </a:p>
        </p:txBody>
      </p:sp>
      <p:sp>
        <p:nvSpPr>
          <p:cNvPr id="3" name="Text 1"/>
          <p:cNvSpPr/>
          <p:nvPr/>
        </p:nvSpPr>
        <p:spPr>
          <a:xfrm>
            <a:off x="1047750" y="1252538"/>
            <a:ext cx="14247681"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Judge Calibration and Reward-Hacking Defenses</a:t>
            </a:r>
            <a:endParaRPr lang="en-US" sz="4500" dirty="0"/>
          </a:p>
        </p:txBody>
      </p:sp>
      <p:sp>
        <p:nvSpPr>
          <p:cNvPr id="4" name="Shape 2"/>
          <p:cNvSpPr/>
          <p:nvPr/>
        </p:nvSpPr>
        <p:spPr>
          <a:xfrm>
            <a:off x="1047750" y="2155478"/>
            <a:ext cx="16192500" cy="19050"/>
          </a:xfrm>
          <a:prstGeom prst="rect">
            <a:avLst/>
          </a:prstGeom>
          <a:solidFill>
            <a:srgbClr val="141414"/>
          </a:solidFill>
          <a:ln/>
        </p:spPr>
      </p:sp>
      <p:sp>
        <p:nvSpPr>
          <p:cNvPr id="5" name="Text 3"/>
          <p:cNvSpPr/>
          <p:nvPr/>
        </p:nvSpPr>
        <p:spPr>
          <a:xfrm>
            <a:off x="1047750" y="2593628"/>
            <a:ext cx="8654415"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141414"/>
                </a:solidFill>
                <a:latin typeface="Helvetica" pitchFamily="34" charset="0"/>
                <a:ea typeface="Helvetica" pitchFamily="34" charset="-122"/>
                <a:cs typeface="Helvetica" pitchFamily="34" charset="-120"/>
              </a:rPr>
              <a:t>The judge is validated before it is trusted</a:t>
            </a:r>
            <a:endParaRPr lang="en-US" sz="2175" dirty="0"/>
          </a:p>
        </p:txBody>
      </p:sp>
      <p:sp>
        <p:nvSpPr>
          <p:cNvPr id="6" name="Text 4"/>
          <p:cNvSpPr/>
          <p:nvPr/>
        </p:nvSpPr>
        <p:spPr>
          <a:xfrm>
            <a:off x="1047750" y="3174653"/>
            <a:ext cx="495300"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1.</a:t>
            </a:r>
            <a:endParaRPr lang="en-US" sz="2025" dirty="0"/>
          </a:p>
        </p:txBody>
      </p:sp>
      <p:sp>
        <p:nvSpPr>
          <p:cNvPr id="7" name="Text 5"/>
          <p:cNvSpPr/>
          <p:nvPr/>
        </p:nvSpPr>
        <p:spPr>
          <a:xfrm>
            <a:off x="1676400" y="3141315"/>
            <a:ext cx="7456170"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141414"/>
                </a:solidFill>
                <a:latin typeface="Helvetica" pitchFamily="34" charset="0"/>
                <a:ea typeface="Helvetica" pitchFamily="34" charset="-122"/>
                <a:cs typeface="Helvetica" pitchFamily="34" charset="-120"/>
              </a:rPr>
              <a:t>Rubric compile: </a:t>
            </a:r>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the 45 guideline rules (11 categories) plus reason-quality criteria distilled into a fixed scoring prompt with anchored examples.</a:t>
            </a:r>
            <a:endParaRPr lang="en-US" sz="1950" dirty="0"/>
          </a:p>
        </p:txBody>
      </p:sp>
      <p:sp>
        <p:nvSpPr>
          <p:cNvPr id="8" name="Text 6"/>
          <p:cNvSpPr/>
          <p:nvPr/>
        </p:nvSpPr>
        <p:spPr>
          <a:xfrm>
            <a:off x="1047750" y="4517678"/>
            <a:ext cx="495300"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2.</a:t>
            </a:r>
            <a:endParaRPr lang="en-US" sz="2025" dirty="0"/>
          </a:p>
        </p:txBody>
      </p:sp>
      <p:sp>
        <p:nvSpPr>
          <p:cNvPr id="9" name="Text 7"/>
          <p:cNvSpPr/>
          <p:nvPr/>
        </p:nvSpPr>
        <p:spPr>
          <a:xfrm>
            <a:off x="1676400" y="4484340"/>
            <a:ext cx="7456170" cy="18954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141414"/>
                </a:solidFill>
                <a:latin typeface="Helvetica" pitchFamily="34" charset="0"/>
                <a:ea typeface="Helvetica" pitchFamily="34" charset="-122"/>
                <a:cs typeface="Helvetica" pitchFamily="34" charset="-120"/>
              </a:rPr>
              <a:t>Calibration harness: </a:t>
            </a:r>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the judge scores cases with verified labels it never sees (issues that provably existed and were fixed; dismissed nits). Its scores carry weight only if agreement passes a gate (candidate: κ ≥ 0.7); below it, the rubric is revised, not the weights.</a:t>
            </a:r>
            <a:endParaRPr lang="en-US" sz="1950" dirty="0"/>
          </a:p>
        </p:txBody>
      </p:sp>
      <p:sp>
        <p:nvSpPr>
          <p:cNvPr id="10" name="Text 8"/>
          <p:cNvSpPr/>
          <p:nvPr/>
        </p:nvSpPr>
        <p:spPr>
          <a:xfrm>
            <a:off x="1047750" y="6603653"/>
            <a:ext cx="495300"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3.</a:t>
            </a:r>
            <a:endParaRPr lang="en-US" sz="2025" dirty="0"/>
          </a:p>
        </p:txBody>
      </p:sp>
      <p:sp>
        <p:nvSpPr>
          <p:cNvPr id="11" name="Text 9"/>
          <p:cNvSpPr/>
          <p:nvPr/>
        </p:nvSpPr>
        <p:spPr>
          <a:xfrm>
            <a:off x="1676400" y="6570315"/>
            <a:ext cx="7456170"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141414"/>
                </a:solidFill>
                <a:latin typeface="Helvetica" pitchFamily="34" charset="0"/>
                <a:ea typeface="Helvetica" pitchFamily="34" charset="-122"/>
                <a:cs typeface="Helvetica" pitchFamily="34" charset="-120"/>
              </a:rPr>
              <a:t>Drift watch: </a:t>
            </a:r>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a frozen calibration slice is re-scored every training iteration; a drop in agreement halts the loop.</a:t>
            </a:r>
            <a:endParaRPr lang="en-US" sz="1950" dirty="0"/>
          </a:p>
        </p:txBody>
      </p:sp>
      <p:sp>
        <p:nvSpPr>
          <p:cNvPr id="12" name="Text 10"/>
          <p:cNvSpPr/>
          <p:nvPr/>
        </p:nvSpPr>
        <p:spPr>
          <a:xfrm>
            <a:off x="9372600" y="2593628"/>
            <a:ext cx="8654415"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141414"/>
                </a:solidFill>
                <a:latin typeface="Helvetica" pitchFamily="34" charset="0"/>
                <a:ea typeface="Helvetica" pitchFamily="34" charset="-122"/>
                <a:cs typeface="Helvetica" pitchFamily="34" charset="-120"/>
              </a:rPr>
              <a:t>Defenses against reward hacking</a:t>
            </a:r>
            <a:endParaRPr lang="en-US" sz="2175" dirty="0"/>
          </a:p>
        </p:txBody>
      </p:sp>
      <p:sp>
        <p:nvSpPr>
          <p:cNvPr id="13" name="Shape 11"/>
          <p:cNvSpPr/>
          <p:nvPr/>
        </p:nvSpPr>
        <p:spPr>
          <a:xfrm>
            <a:off x="9372600" y="3141315"/>
            <a:ext cx="28575" cy="742950"/>
          </a:xfrm>
          <a:prstGeom prst="rect">
            <a:avLst/>
          </a:prstGeom>
          <a:solidFill>
            <a:srgbClr val="141414"/>
          </a:solidFill>
          <a:ln/>
        </p:spPr>
      </p:sp>
      <p:sp>
        <p:nvSpPr>
          <p:cNvPr id="14" name="Text 12"/>
          <p:cNvSpPr/>
          <p:nvPr/>
        </p:nvSpPr>
        <p:spPr>
          <a:xfrm>
            <a:off x="9629775" y="3141315"/>
            <a:ext cx="7846504"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Hard L0 gates are not judge-overridable; citation existence is checked against git, not asserted.</a:t>
            </a:r>
            <a:endParaRPr lang="en-US" sz="1950" dirty="0"/>
          </a:p>
        </p:txBody>
      </p:sp>
      <p:sp>
        <p:nvSpPr>
          <p:cNvPr id="15" name="Shape 13"/>
          <p:cNvSpPr/>
          <p:nvPr/>
        </p:nvSpPr>
        <p:spPr>
          <a:xfrm>
            <a:off x="9372600" y="4036665"/>
            <a:ext cx="28575" cy="742950"/>
          </a:xfrm>
          <a:prstGeom prst="rect">
            <a:avLst/>
          </a:prstGeom>
          <a:solidFill>
            <a:srgbClr val="141414"/>
          </a:solidFill>
          <a:ln/>
        </p:spPr>
      </p:sp>
      <p:sp>
        <p:nvSpPr>
          <p:cNvPr id="16" name="Text 14"/>
          <p:cNvSpPr/>
          <p:nvPr/>
        </p:nvSpPr>
        <p:spPr>
          <a:xfrm>
            <a:off x="9629775" y="4036665"/>
            <a:ext cx="7846504"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KL anchor to the seed policy bounds drift; length penalties remove verbosity as a reward strategy.</a:t>
            </a:r>
            <a:endParaRPr lang="en-US" sz="1950" dirty="0"/>
          </a:p>
        </p:txBody>
      </p:sp>
      <p:sp>
        <p:nvSpPr>
          <p:cNvPr id="17" name="Shape 15"/>
          <p:cNvSpPr/>
          <p:nvPr/>
        </p:nvSpPr>
        <p:spPr>
          <a:xfrm>
            <a:off x="9372600" y="4932015"/>
            <a:ext cx="28575" cy="742950"/>
          </a:xfrm>
          <a:prstGeom prst="rect">
            <a:avLst/>
          </a:prstGeom>
          <a:solidFill>
            <a:srgbClr val="141414"/>
          </a:solidFill>
          <a:ln/>
        </p:spPr>
      </p:sp>
      <p:sp>
        <p:nvSpPr>
          <p:cNvPr id="18" name="Text 16"/>
          <p:cNvSpPr/>
          <p:nvPr/>
        </p:nvSpPr>
        <p:spPr>
          <a:xfrm>
            <a:off x="9629775" y="4932015"/>
            <a:ext cx="7846504"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The judge scores blind (no rollout-ordering cues), rubric-anchored, as an ensemble of 2–3 rubric phrasings averaged.</a:t>
            </a:r>
            <a:endParaRPr lang="en-US" sz="1950" dirty="0"/>
          </a:p>
        </p:txBody>
      </p:sp>
      <p:sp>
        <p:nvSpPr>
          <p:cNvPr id="19" name="Shape 17"/>
          <p:cNvSpPr/>
          <p:nvPr/>
        </p:nvSpPr>
        <p:spPr>
          <a:xfrm>
            <a:off x="9372600" y="5827365"/>
            <a:ext cx="28575" cy="1485900"/>
          </a:xfrm>
          <a:prstGeom prst="rect">
            <a:avLst/>
          </a:prstGeom>
          <a:solidFill>
            <a:srgbClr val="141414"/>
          </a:solidFill>
          <a:ln/>
        </p:spPr>
      </p:sp>
      <p:sp>
        <p:nvSpPr>
          <p:cNvPr id="20" name="Text 18"/>
          <p:cNvSpPr/>
          <p:nvPr/>
        </p:nvSpPr>
        <p:spPr>
          <a:xfrm>
            <a:off x="9629775" y="5827365"/>
            <a:ext cx="7846504" cy="152400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The default loop is offline-iterated, so every scored batch is inspectable before it updates weights; each iteration a sample of top-decile-reward rollouts receives a human spot-audit (periodic QA, not a pipeline gate — retraining stays automatic).</a:t>
            </a:r>
            <a:endParaRPr lang="en-US" sz="1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762000"/>
            <a:ext cx="2145432"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LEARNING · 6</a:t>
            </a:r>
            <a:endParaRPr lang="en-US" sz="1800" dirty="0"/>
          </a:p>
        </p:txBody>
      </p:sp>
      <p:sp>
        <p:nvSpPr>
          <p:cNvPr id="3" name="Text 1"/>
          <p:cNvSpPr/>
          <p:nvPr/>
        </p:nvSpPr>
        <p:spPr>
          <a:xfrm>
            <a:off x="1047750" y="1157288"/>
            <a:ext cx="3764451" cy="614139"/>
          </a:xfrm>
          <a:prstGeom prst="rect">
            <a:avLst/>
          </a:prstGeom>
          <a:noFill/>
          <a:ln/>
        </p:spPr>
        <p:txBody>
          <a:bodyPr wrap="square" lIns="25400" tIns="25400" rIns="25400" bIns="25400" rtlCol="0" anchor="t">
            <a:normAutofit/>
          </a:bodyPr>
          <a:lstStyle/>
          <a:p>
            <a:pPr algn="l" indent="0" marL="0">
              <a:lnSpc>
                <a:spcPct val="108000"/>
              </a:lnSpc>
              <a:buNone/>
            </a:pPr>
            <a:r>
              <a:rPr lang="en-US" sz="4200" b="1" spc="-63" kern="0" dirty="0">
                <a:solidFill>
                  <a:srgbClr val="141414"/>
                </a:solidFill>
                <a:latin typeface="Helvetica" pitchFamily="34" charset="0"/>
                <a:ea typeface="Helvetica" pitchFamily="34" charset="-122"/>
                <a:cs typeface="Helvetica" pitchFamily="34" charset="-120"/>
              </a:rPr>
              <a:t>Training Loop</a:t>
            </a:r>
            <a:endParaRPr lang="en-US" sz="4200" dirty="0"/>
          </a:p>
        </p:txBody>
      </p:sp>
      <p:sp>
        <p:nvSpPr>
          <p:cNvPr id="4" name="Shape 2"/>
          <p:cNvSpPr/>
          <p:nvPr/>
        </p:nvSpPr>
        <p:spPr>
          <a:xfrm>
            <a:off x="1047750" y="1980977"/>
            <a:ext cx="16192500" cy="19050"/>
          </a:xfrm>
          <a:prstGeom prst="rect">
            <a:avLst/>
          </a:prstGeom>
          <a:solidFill>
            <a:srgbClr val="141414"/>
          </a:solidFill>
          <a:ln/>
        </p:spPr>
      </p:sp>
      <p:sp>
        <p:nvSpPr>
          <p:cNvPr id="5" name="Shape 3"/>
          <p:cNvSpPr/>
          <p:nvPr/>
        </p:nvSpPr>
        <p:spPr>
          <a:xfrm>
            <a:off x="1047750" y="2304827"/>
            <a:ext cx="4191000" cy="3148757"/>
          </a:xfrm>
          <a:prstGeom prst="rect">
            <a:avLst/>
          </a:prstGeom>
          <a:ln w="19050">
            <a:solidFill>
              <a:srgbClr val="141414"/>
            </a:solidFill>
            <a:prstDash val="solid"/>
          </a:ln>
        </p:spPr>
      </p:sp>
      <p:sp>
        <p:nvSpPr>
          <p:cNvPr id="6" name="Text 4"/>
          <p:cNvSpPr/>
          <p:nvPr/>
        </p:nvSpPr>
        <p:spPr>
          <a:xfrm>
            <a:off x="1314450" y="2533427"/>
            <a:ext cx="4023360"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T0 · Seed SFT</a:t>
            </a:r>
            <a:endParaRPr lang="en-US" sz="2025" dirty="0"/>
          </a:p>
        </p:txBody>
      </p:sp>
      <p:sp>
        <p:nvSpPr>
          <p:cNvPr id="7" name="Text 5"/>
          <p:cNvSpPr/>
          <p:nvPr/>
        </p:nvSpPr>
        <p:spPr>
          <a:xfrm>
            <a:off x="1314450" y="2904902"/>
            <a:ext cx="3767328" cy="169530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55554F"/>
                </a:solidFill>
                <a:latin typeface="Helvetica" pitchFamily="34" charset="0"/>
                <a:ea typeface="Helvetica" pitchFamily="34" charset="-122"/>
                <a:cs typeface="Helvetica" pitchFamily="34" charset="-120"/>
              </a:rPr>
              <a:t>~200 exemplars, 1–2 epochs, low LR, QLoRA on the 8B. Teaches the output schema only; success criterion is parseability under guided decoding, not review quality.</a:t>
            </a:r>
            <a:endParaRPr lang="en-US" sz="1800" dirty="0"/>
          </a:p>
        </p:txBody>
      </p:sp>
      <p:sp>
        <p:nvSpPr>
          <p:cNvPr id="8" name="Text 6"/>
          <p:cNvSpPr/>
          <p:nvPr/>
        </p:nvSpPr>
        <p:spPr>
          <a:xfrm>
            <a:off x="5391150" y="2304827"/>
            <a:ext cx="361950" cy="3186857"/>
          </a:xfrm>
          <a:prstGeom prst="rect">
            <a:avLst/>
          </a:prstGeom>
          <a:noFill/>
          <a:ln/>
        </p:spPr>
        <p:txBody>
          <a:bodyPr wrap="square" lIns="25400" tIns="25400" rIns="25400" bIns="25400" rtlCol="0" anchor="ctr">
            <a:normAutofit/>
          </a:bodyPr>
          <a:lstStyle/>
          <a:p>
            <a:pPr algn="l" indent="0" marL="0">
              <a:buNone/>
            </a:pPr>
            <a:r>
              <a:rPr lang="en-US" sz="2250" dirty="0">
                <a:solidFill>
                  <a:srgbClr val="8A8A86"/>
                </a:solidFill>
                <a:latin typeface="Helvetica" pitchFamily="34" charset="0"/>
                <a:ea typeface="Helvetica" pitchFamily="34" charset="-122"/>
                <a:cs typeface="Helvetica" pitchFamily="34" charset="-120"/>
              </a:rPr>
              <a:t>→</a:t>
            </a:r>
            <a:endParaRPr lang="en-US" sz="2250" dirty="0"/>
          </a:p>
        </p:txBody>
      </p:sp>
      <p:sp>
        <p:nvSpPr>
          <p:cNvPr id="9" name="Shape 7"/>
          <p:cNvSpPr/>
          <p:nvPr/>
        </p:nvSpPr>
        <p:spPr>
          <a:xfrm>
            <a:off x="5829300" y="2304827"/>
            <a:ext cx="6629400" cy="3148757"/>
          </a:xfrm>
          <a:prstGeom prst="rect">
            <a:avLst/>
          </a:prstGeom>
          <a:solidFill>
            <a:srgbClr val="141414"/>
          </a:solidFill>
          <a:ln w="19050">
            <a:solidFill>
              <a:srgbClr val="141414"/>
            </a:solidFill>
            <a:prstDash val="solid"/>
          </a:ln>
        </p:spPr>
      </p:sp>
      <p:sp>
        <p:nvSpPr>
          <p:cNvPr id="10" name="Text 8"/>
          <p:cNvSpPr/>
          <p:nvPr/>
        </p:nvSpPr>
        <p:spPr>
          <a:xfrm>
            <a:off x="6096000" y="2533427"/>
            <a:ext cx="6705600"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FDFDFB"/>
                </a:solidFill>
                <a:latin typeface="Helvetica" pitchFamily="34" charset="0"/>
                <a:ea typeface="Helvetica" pitchFamily="34" charset="-122"/>
                <a:cs typeface="Helvetica" pitchFamily="34" charset="-120"/>
              </a:rPr>
              <a:t>T1 · Iterated offline RLAIF (default)</a:t>
            </a:r>
            <a:endParaRPr lang="en-US" sz="2025" dirty="0"/>
          </a:p>
        </p:txBody>
      </p:sp>
      <p:sp>
        <p:nvSpPr>
          <p:cNvPr id="11" name="Text 9"/>
          <p:cNvSpPr/>
          <p:nvPr/>
        </p:nvSpPr>
        <p:spPr>
          <a:xfrm>
            <a:off x="6096000" y="2904902"/>
            <a:ext cx="6278880" cy="2358182"/>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B9B8B2"/>
                </a:solidFill>
                <a:latin typeface="Helvetica" pitchFamily="34" charset="0"/>
                <a:ea typeface="Helvetica" pitchFamily="34" charset="-122"/>
                <a:cs typeface="Helvetica" pitchFamily="34" charset="-120"/>
              </a:rPr>
              <a:t>per iteration: (1) rollout — K≈8 samples per Drafting step / Pruning issue via vLLM, real sandbox tool calls; (2) score with the L0→L1→L2 stack; (3) build preference pairs within each rollout group above a score margin; (4) DPO update, one multi-task adapter, KL-anchored; (5) gate on held-out episodes + judge-drift check + spot audit. 3–5 iterations or until plateau.</a:t>
            </a:r>
            <a:endParaRPr lang="en-US" sz="1800" dirty="0"/>
          </a:p>
        </p:txBody>
      </p:sp>
      <p:sp>
        <p:nvSpPr>
          <p:cNvPr id="12" name="Text 10"/>
          <p:cNvSpPr/>
          <p:nvPr/>
        </p:nvSpPr>
        <p:spPr>
          <a:xfrm>
            <a:off x="12611100" y="2304827"/>
            <a:ext cx="361950" cy="3186857"/>
          </a:xfrm>
          <a:prstGeom prst="rect">
            <a:avLst/>
          </a:prstGeom>
          <a:noFill/>
          <a:ln/>
        </p:spPr>
        <p:txBody>
          <a:bodyPr wrap="square" lIns="25400" tIns="25400" rIns="25400" bIns="25400" rtlCol="0" anchor="ctr">
            <a:normAutofit/>
          </a:bodyPr>
          <a:lstStyle/>
          <a:p>
            <a:pPr algn="l" indent="0" marL="0">
              <a:buNone/>
            </a:pPr>
            <a:r>
              <a:rPr lang="en-US" sz="2250" dirty="0">
                <a:solidFill>
                  <a:srgbClr val="8A8A86"/>
                </a:solidFill>
                <a:latin typeface="Helvetica" pitchFamily="34" charset="0"/>
                <a:ea typeface="Helvetica" pitchFamily="34" charset="-122"/>
                <a:cs typeface="Helvetica" pitchFamily="34" charset="-120"/>
              </a:rPr>
              <a:t>→</a:t>
            </a:r>
            <a:endParaRPr lang="en-US" sz="2250" dirty="0"/>
          </a:p>
        </p:txBody>
      </p:sp>
      <p:sp>
        <p:nvSpPr>
          <p:cNvPr id="13" name="Shape 11"/>
          <p:cNvSpPr/>
          <p:nvPr/>
        </p:nvSpPr>
        <p:spPr>
          <a:xfrm>
            <a:off x="13049250" y="2304827"/>
            <a:ext cx="4191000" cy="3148757"/>
          </a:xfrm>
          <a:prstGeom prst="rect">
            <a:avLst/>
          </a:prstGeom>
          <a:ln w="19050">
            <a:solidFill>
              <a:srgbClr val="8A8A86"/>
            </a:solidFill>
            <a:prstDash val="dash"/>
          </a:ln>
        </p:spPr>
      </p:sp>
      <p:sp>
        <p:nvSpPr>
          <p:cNvPr id="14" name="Text 12"/>
          <p:cNvSpPr/>
          <p:nvPr/>
        </p:nvSpPr>
        <p:spPr>
          <a:xfrm>
            <a:off x="13315950" y="2533427"/>
            <a:ext cx="4023360"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T2 · Online GRPO </a:t>
            </a:r>
            <a:pPr algn="l" indent="0" marL="0">
              <a:buNone/>
            </a:pPr>
            <a:r>
              <a:rPr lang="en-US" sz="1725" dirty="0">
                <a:solidFill>
                  <a:srgbClr val="8A8A86"/>
                </a:solidFill>
                <a:latin typeface="Helvetica" pitchFamily="34" charset="0"/>
                <a:ea typeface="Helvetica" pitchFamily="34" charset="-122"/>
                <a:cs typeface="Helvetica" pitchFamily="34" charset="-120"/>
              </a:rPr>
              <a:t>(upgrade path)</a:t>
            </a:r>
            <a:endParaRPr lang="en-US" sz="2025" dirty="0"/>
          </a:p>
        </p:txBody>
      </p:sp>
      <p:sp>
        <p:nvSpPr>
          <p:cNvPr id="15" name="Text 13"/>
          <p:cNvSpPr/>
          <p:nvPr/>
        </p:nvSpPr>
        <p:spPr>
          <a:xfrm>
            <a:off x="13315950" y="2904902"/>
            <a:ext cx="3767328" cy="169530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55554F"/>
                </a:solidFill>
                <a:latin typeface="Helvetica" pitchFamily="34" charset="0"/>
                <a:ea typeface="Helvetica" pitchFamily="34" charset="-122"/>
                <a:cs typeface="Helvetica" pitchFamily="34" charset="-120"/>
              </a:rPr>
              <a:t>Same rewards, group-relative advantage, no value network. Triggered only if the offline loop plateaus while eval headroom demonstrably remains.</a:t>
            </a:r>
            <a:endParaRPr lang="en-US" sz="1800" dirty="0"/>
          </a:p>
        </p:txBody>
      </p:sp>
      <p:sp>
        <p:nvSpPr>
          <p:cNvPr id="16" name="Text 14"/>
          <p:cNvSpPr/>
          <p:nvPr/>
        </p:nvSpPr>
        <p:spPr>
          <a:xfrm>
            <a:off x="1047750" y="5777433"/>
            <a:ext cx="178117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41414"/>
                </a:solidFill>
                <a:latin typeface="Helvetica" pitchFamily="34" charset="0"/>
                <a:ea typeface="Helvetica" pitchFamily="34" charset="-122"/>
                <a:cs typeface="Helvetica" pitchFamily="34" charset="-120"/>
              </a:rPr>
              <a:t>Co-training order: the pipeline is trained inside-out</a:t>
            </a:r>
            <a:endParaRPr lang="en-US" sz="2100" dirty="0"/>
          </a:p>
        </p:txBody>
      </p:sp>
      <p:sp>
        <p:nvSpPr>
          <p:cNvPr id="17" name="Text 15"/>
          <p:cNvSpPr/>
          <p:nvPr/>
        </p:nvSpPr>
        <p:spPr>
          <a:xfrm>
            <a:off x="1047750" y="6296546"/>
            <a:ext cx="49530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141414"/>
                </a:solidFill>
                <a:latin typeface="Helvetica" pitchFamily="34" charset="0"/>
                <a:ea typeface="Helvetica" pitchFamily="34" charset="-122"/>
                <a:cs typeface="Helvetica" pitchFamily="34" charset="-120"/>
              </a:rPr>
              <a:t>1.</a:t>
            </a:r>
            <a:endParaRPr lang="en-US" sz="1950" dirty="0"/>
          </a:p>
        </p:txBody>
      </p:sp>
      <p:sp>
        <p:nvSpPr>
          <p:cNvPr id="18" name="Text 16"/>
          <p:cNvSpPr/>
          <p:nvPr/>
        </p:nvSpPr>
        <p:spPr>
          <a:xfrm>
            <a:off x="1676400" y="6253683"/>
            <a:ext cx="16030766"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Drafting first. Early iterations use synthetic convention episodes (purely verifiable reward), then mix in historical episodes as the policy stabilizes.</a:t>
            </a:r>
            <a:endParaRPr lang="en-US" sz="1950" dirty="0"/>
          </a:p>
        </p:txBody>
      </p:sp>
      <p:sp>
        <p:nvSpPr>
          <p:cNvPr id="19" name="Text 17"/>
          <p:cNvSpPr/>
          <p:nvPr/>
        </p:nvSpPr>
        <p:spPr>
          <a:xfrm>
            <a:off x="1047750" y="7210946"/>
            <a:ext cx="49530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141414"/>
                </a:solidFill>
                <a:latin typeface="Helvetica" pitchFamily="34" charset="0"/>
                <a:ea typeface="Helvetica" pitchFamily="34" charset="-122"/>
                <a:cs typeface="Helvetica" pitchFamily="34" charset="-120"/>
              </a:rPr>
              <a:t>2.</a:t>
            </a:r>
            <a:endParaRPr lang="en-US" sz="1950" dirty="0"/>
          </a:p>
        </p:txBody>
      </p:sp>
      <p:sp>
        <p:nvSpPr>
          <p:cNvPr id="20" name="Text 18"/>
          <p:cNvSpPr/>
          <p:nvPr/>
        </p:nvSpPr>
        <p:spPr>
          <a:xfrm>
            <a:off x="1676400" y="7168083"/>
            <a:ext cx="16030766"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Then Pruning, on a mixture reflecting its actual task: historical validated issues (keep), historical dismissed/nit comments (discard), and the current Drafting policy's own fabricated findings (discard, labeled by the judge). The mixture is refreshed each iteration, so Pruning tracks Drafting's shifting failure distribution — a coupling supervised data cannot express.</a:t>
            </a:r>
            <a:endParaRPr lang="en-US" sz="1950" dirty="0"/>
          </a:p>
        </p:txBody>
      </p:sp>
      <p:sp>
        <p:nvSpPr>
          <p:cNvPr id="21" name="Text 19"/>
          <p:cNvSpPr/>
          <p:nvPr/>
        </p:nvSpPr>
        <p:spPr>
          <a:xfrm>
            <a:off x="1047750" y="8496821"/>
            <a:ext cx="49530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141414"/>
                </a:solidFill>
                <a:latin typeface="Helvetica" pitchFamily="34" charset="0"/>
                <a:ea typeface="Helvetica" pitchFamily="34" charset="-122"/>
                <a:cs typeface="Helvetica" pitchFamily="34" charset="-120"/>
              </a:rPr>
              <a:t>3.</a:t>
            </a:r>
            <a:endParaRPr lang="en-US" sz="1950" dirty="0"/>
          </a:p>
        </p:txBody>
      </p:sp>
      <p:sp>
        <p:nvSpPr>
          <p:cNvPr id="22" name="Text 20"/>
          <p:cNvSpPr/>
          <p:nvPr/>
        </p:nvSpPr>
        <p:spPr>
          <a:xfrm>
            <a:off x="1676400" y="8453958"/>
            <a:ext cx="16030766"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Optionally, alternate one Drafting and one Pruning iteration to convergence. The full RLAIF loop re-runs periodically as new episodes accumulate; no human gate sits inside the loop.</a:t>
            </a:r>
            <a:endParaRPr lang="en-US" sz="1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073872"/>
            <a:ext cx="2229170" cy="323850"/>
          </a:xfrm>
          <a:prstGeom prst="rect">
            <a:avLst/>
          </a:prstGeom>
          <a:noFill/>
          <a:ln/>
        </p:spPr>
        <p:txBody>
          <a:bodyPr wrap="square" lIns="25400" tIns="25400" rIns="25400" bIns="25400" rtlCol="0" anchor="t">
            <a:normAutofit/>
          </a:bodyPr>
          <a:lstStyle/>
          <a:p>
            <a:pPr algn="l" indent="0" marL="0">
              <a:buNone/>
            </a:pPr>
            <a:r>
              <a:rPr lang="en-US" sz="1950" b="1" spc="390" kern="0" dirty="0">
                <a:solidFill>
                  <a:srgbClr val="8A8A86"/>
                </a:solidFill>
                <a:latin typeface="Helvetica" pitchFamily="34" charset="0"/>
                <a:ea typeface="Helvetica" pitchFamily="34" charset="-122"/>
                <a:cs typeface="Helvetica" pitchFamily="34" charset="-120"/>
              </a:rPr>
              <a:t>PART 4 OF 4</a:t>
            </a:r>
            <a:endParaRPr lang="en-US" sz="1950" dirty="0"/>
          </a:p>
        </p:txBody>
      </p:sp>
      <p:sp>
        <p:nvSpPr>
          <p:cNvPr id="3" name="Text 1"/>
          <p:cNvSpPr/>
          <p:nvPr/>
        </p:nvSpPr>
        <p:spPr>
          <a:xfrm>
            <a:off x="1143000" y="4645372"/>
            <a:ext cx="11715728" cy="878160"/>
          </a:xfrm>
          <a:prstGeom prst="rect">
            <a:avLst/>
          </a:prstGeom>
          <a:noFill/>
          <a:ln/>
        </p:spPr>
        <p:txBody>
          <a:bodyPr wrap="square" lIns="25400" tIns="25400" rIns="25400" bIns="25400" rtlCol="0" anchor="t">
            <a:normAutofit/>
          </a:bodyPr>
          <a:lstStyle/>
          <a:p>
            <a:pPr algn="l" indent="0" marL="0">
              <a:lnSpc>
                <a:spcPct val="105000"/>
              </a:lnSpc>
              <a:buNone/>
            </a:pPr>
            <a:r>
              <a:rPr lang="en-US" sz="6300" b="1" spc="-126" kern="0" dirty="0">
                <a:solidFill>
                  <a:srgbClr val="FDFDFB"/>
                </a:solidFill>
                <a:latin typeface="Helvetica" pitchFamily="34" charset="0"/>
                <a:ea typeface="Helvetica" pitchFamily="34" charset="-122"/>
                <a:cs typeface="Helvetica" pitchFamily="34" charset="-120"/>
              </a:rPr>
              <a:t>Evaluation and Infrastructure</a:t>
            </a:r>
            <a:endParaRPr lang="en-US" sz="6300" dirty="0"/>
          </a:p>
        </p:txBody>
      </p:sp>
      <p:sp>
        <p:nvSpPr>
          <p:cNvPr id="4" name="Text 2"/>
          <p:cNvSpPr/>
          <p:nvPr/>
        </p:nvSpPr>
        <p:spPr>
          <a:xfrm>
            <a:off x="1143000" y="5771183"/>
            <a:ext cx="9839355" cy="480045"/>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B9B8B2"/>
                </a:solidFill>
                <a:latin typeface="Helvetica" pitchFamily="34" charset="0"/>
                <a:ea typeface="Helvetica" pitchFamily="34" charset="-122"/>
                <a:cs typeface="Helvetica" pitchFamily="34" charset="-120"/>
              </a:rPr>
              <a:t>Metrics, guardrails, retrieval design, and the implementation stack.</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51018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EVALUATION · 1</a:t>
            </a:r>
            <a:endParaRPr lang="en-US" sz="1800" dirty="0"/>
          </a:p>
        </p:txBody>
      </p:sp>
      <p:sp>
        <p:nvSpPr>
          <p:cNvPr id="3" name="Text 1"/>
          <p:cNvSpPr/>
          <p:nvPr/>
        </p:nvSpPr>
        <p:spPr>
          <a:xfrm>
            <a:off x="1047750" y="1252538"/>
            <a:ext cx="7554605"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Evaluation and Guardrails</a:t>
            </a:r>
            <a:endParaRPr lang="en-US" sz="4500" dirty="0"/>
          </a:p>
        </p:txBody>
      </p:sp>
      <p:sp>
        <p:nvSpPr>
          <p:cNvPr id="4" name="Shape 2"/>
          <p:cNvSpPr/>
          <p:nvPr/>
        </p:nvSpPr>
        <p:spPr>
          <a:xfrm>
            <a:off x="1047750" y="2155478"/>
            <a:ext cx="16192500" cy="19050"/>
          </a:xfrm>
          <a:prstGeom prst="rect">
            <a:avLst/>
          </a:prstGeom>
          <a:solidFill>
            <a:srgbClr val="141414"/>
          </a:solidFill>
          <a:ln/>
        </p:spPr>
      </p:sp>
      <p:sp>
        <p:nvSpPr>
          <p:cNvPr id="5" name="Text 3"/>
          <p:cNvSpPr/>
          <p:nvPr/>
        </p:nvSpPr>
        <p:spPr>
          <a:xfrm>
            <a:off x="1047750" y="2555528"/>
            <a:ext cx="16187738"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All metrics are computed on splits held out by episode (all steps and rollouts of one PR on the same side), balanced between has-issues and clean episodes.</a:t>
            </a:r>
            <a:endParaRPr lang="en-US" sz="1950" dirty="0"/>
          </a:p>
        </p:txBody>
      </p:sp>
      <p:sp>
        <p:nvSpPr>
          <p:cNvPr id="6" name="Shape 4"/>
          <p:cNvSpPr/>
          <p:nvPr/>
        </p:nvSpPr>
        <p:spPr>
          <a:xfrm>
            <a:off x="1047750" y="3622328"/>
            <a:ext cx="7972425" cy="2352675"/>
          </a:xfrm>
          <a:prstGeom prst="rect">
            <a:avLst/>
          </a:prstGeom>
          <a:ln w="14288">
            <a:solidFill>
              <a:srgbClr val="141414"/>
            </a:solidFill>
            <a:prstDash val="solid"/>
          </a:ln>
        </p:spPr>
      </p:sp>
      <p:sp>
        <p:nvSpPr>
          <p:cNvPr id="7" name="Text 5"/>
          <p:cNvSpPr/>
          <p:nvPr/>
        </p:nvSpPr>
        <p:spPr>
          <a:xfrm>
            <a:off x="1347788" y="3865215"/>
            <a:ext cx="810958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Drafting</a:t>
            </a:r>
            <a:endParaRPr lang="en-US" sz="2025" dirty="0"/>
          </a:p>
        </p:txBody>
      </p:sp>
      <p:sp>
        <p:nvSpPr>
          <p:cNvPr id="8" name="Text 6"/>
          <p:cNvSpPr/>
          <p:nvPr/>
        </p:nvSpPr>
        <p:spPr>
          <a:xfrm>
            <a:off x="1347788" y="4255740"/>
            <a:ext cx="7593521" cy="1514475"/>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3B3B37"/>
                </a:solidFill>
                <a:latin typeface="Helvetica" pitchFamily="34" charset="0"/>
                <a:ea typeface="Helvetica" pitchFamily="34" charset="-122"/>
                <a:cs typeface="Helvetica" pitchFamily="34" charset="-120"/>
              </a:rPr>
              <a:t>Known-issue recall · fabrication rate (judge-scored, with a fixed-size human audit sample per release) · exact accuracy on the synthetic convention slice (zero label noise — the canary metric) · empty-list correctness on clean certificates.</a:t>
            </a:r>
            <a:endParaRPr lang="en-US" sz="1875" dirty="0"/>
          </a:p>
        </p:txBody>
      </p:sp>
      <p:sp>
        <p:nvSpPr>
          <p:cNvPr id="9" name="Shape 7"/>
          <p:cNvSpPr/>
          <p:nvPr/>
        </p:nvSpPr>
        <p:spPr>
          <a:xfrm>
            <a:off x="9267825" y="3622328"/>
            <a:ext cx="7972425" cy="2352675"/>
          </a:xfrm>
          <a:prstGeom prst="rect">
            <a:avLst/>
          </a:prstGeom>
          <a:ln w="14288">
            <a:solidFill>
              <a:srgbClr val="141414"/>
            </a:solidFill>
            <a:prstDash val="solid"/>
          </a:ln>
        </p:spPr>
      </p:sp>
      <p:sp>
        <p:nvSpPr>
          <p:cNvPr id="10" name="Text 8"/>
          <p:cNvSpPr/>
          <p:nvPr/>
        </p:nvSpPr>
        <p:spPr>
          <a:xfrm>
            <a:off x="9567863" y="3865215"/>
            <a:ext cx="810958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Pruning</a:t>
            </a:r>
            <a:endParaRPr lang="en-US" sz="2025" dirty="0"/>
          </a:p>
        </p:txBody>
      </p:sp>
      <p:sp>
        <p:nvSpPr>
          <p:cNvPr id="11" name="Text 9"/>
          <p:cNvSpPr/>
          <p:nvPr/>
        </p:nvSpPr>
        <p:spPr>
          <a:xfrm>
            <a:off x="9567863" y="4255740"/>
            <a:ext cx="7593521" cy="1145381"/>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3B3B37"/>
                </a:solidFill>
                <a:latin typeface="Helvetica" pitchFamily="34" charset="0"/>
                <a:ea typeface="Helvetica" pitchFamily="34" charset="-122"/>
                <a:cs typeface="Helvetica" pitchFamily="34" charset="-120"/>
              </a:rPr>
              <a:t>Agreement (κ) with maintainer keep/discard labels · false-positive passthrough rate against Drafting's live output · tool-call efficiency (calls per correct decision).</a:t>
            </a:r>
            <a:endParaRPr lang="en-US" sz="1875" dirty="0"/>
          </a:p>
        </p:txBody>
      </p:sp>
      <p:sp>
        <p:nvSpPr>
          <p:cNvPr id="12" name="Shape 10"/>
          <p:cNvSpPr/>
          <p:nvPr/>
        </p:nvSpPr>
        <p:spPr>
          <a:xfrm>
            <a:off x="1047750" y="6222653"/>
            <a:ext cx="7972425" cy="1983581"/>
          </a:xfrm>
          <a:prstGeom prst="rect">
            <a:avLst/>
          </a:prstGeom>
          <a:ln w="14288">
            <a:solidFill>
              <a:srgbClr val="141414"/>
            </a:solidFill>
            <a:prstDash val="solid"/>
          </a:ln>
        </p:spPr>
      </p:sp>
      <p:sp>
        <p:nvSpPr>
          <p:cNvPr id="13" name="Text 11"/>
          <p:cNvSpPr/>
          <p:nvPr/>
        </p:nvSpPr>
        <p:spPr>
          <a:xfrm>
            <a:off x="1347788" y="6465540"/>
            <a:ext cx="810958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End-to-end</a:t>
            </a:r>
            <a:endParaRPr lang="en-US" sz="2025" dirty="0"/>
          </a:p>
        </p:txBody>
      </p:sp>
      <p:sp>
        <p:nvSpPr>
          <p:cNvPr id="14" name="Text 12"/>
          <p:cNvSpPr/>
          <p:nvPr/>
        </p:nvSpPr>
        <p:spPr>
          <a:xfrm>
            <a:off x="1347788" y="6856065"/>
            <a:ext cx="7593521" cy="1145381"/>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3B3B37"/>
                </a:solidFill>
                <a:latin typeface="Helvetica" pitchFamily="34" charset="0"/>
                <a:ea typeface="Helvetica" pitchFamily="34" charset="-122"/>
                <a:cs typeface="Helvetica" pitchFamily="34" charset="-120"/>
              </a:rPr>
              <a:t>Final kept-issue set vs. the episode's known issues (precision/recall) · verdict-rule calibration against historical merge outcomes · CRScore and SWR-Bench as external benchmarks, never used in any reward.</a:t>
            </a:r>
            <a:endParaRPr lang="en-US" sz="1875" dirty="0"/>
          </a:p>
        </p:txBody>
      </p:sp>
      <p:sp>
        <p:nvSpPr>
          <p:cNvPr id="15" name="Shape 13"/>
          <p:cNvSpPr/>
          <p:nvPr/>
        </p:nvSpPr>
        <p:spPr>
          <a:xfrm>
            <a:off x="9267825" y="6222653"/>
            <a:ext cx="7972425" cy="1983581"/>
          </a:xfrm>
          <a:prstGeom prst="rect">
            <a:avLst/>
          </a:prstGeom>
          <a:ln w="14288">
            <a:solidFill>
              <a:srgbClr val="141414"/>
            </a:solidFill>
            <a:prstDash val="solid"/>
          </a:ln>
        </p:spPr>
      </p:sp>
      <p:sp>
        <p:nvSpPr>
          <p:cNvPr id="16" name="Text 14"/>
          <p:cNvSpPr/>
          <p:nvPr/>
        </p:nvSpPr>
        <p:spPr>
          <a:xfrm>
            <a:off x="9567863" y="6465540"/>
            <a:ext cx="810958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41414"/>
                </a:solidFill>
                <a:latin typeface="Helvetica" pitchFamily="34" charset="0"/>
                <a:ea typeface="Helvetica" pitchFamily="34" charset="-122"/>
                <a:cs typeface="Helvetica" pitchFamily="34" charset="-120"/>
              </a:rPr>
              <a:t>Reward integrity</a:t>
            </a:r>
            <a:endParaRPr lang="en-US" sz="2025" dirty="0"/>
          </a:p>
        </p:txBody>
      </p:sp>
      <p:sp>
        <p:nvSpPr>
          <p:cNvPr id="17" name="Text 15"/>
          <p:cNvSpPr/>
          <p:nvPr/>
        </p:nvSpPr>
        <p:spPr>
          <a:xfrm>
            <a:off x="9567863" y="6856065"/>
            <a:ext cx="7593521" cy="1145381"/>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3B3B37"/>
                </a:solidFill>
                <a:latin typeface="Helvetica" pitchFamily="34" charset="0"/>
                <a:ea typeface="Helvetica" pitchFamily="34" charset="-122"/>
                <a:cs typeface="Helvetica" pitchFamily="34" charset="-120"/>
              </a:rPr>
              <a:t>Judge–human agreement on the frozen calibration slice per iteration · distribution watch on reward components (a component drifting toward saturation is a standard symptom of reward hacking).</a:t>
            </a:r>
            <a:endParaRPr lang="en-US" sz="1875" dirty="0"/>
          </a:p>
        </p:txBody>
      </p:sp>
      <p:sp>
        <p:nvSpPr>
          <p:cNvPr id="18" name="Shape 16"/>
          <p:cNvSpPr/>
          <p:nvPr/>
        </p:nvSpPr>
        <p:spPr>
          <a:xfrm>
            <a:off x="1047750" y="8530084"/>
            <a:ext cx="11852821" cy="828675"/>
          </a:xfrm>
          <a:prstGeom prst="rect">
            <a:avLst/>
          </a:prstGeom>
          <a:ln w="19050">
            <a:solidFill>
              <a:srgbClr val="141414"/>
            </a:solidFill>
            <a:prstDash val="solid"/>
          </a:ln>
        </p:spPr>
      </p:sp>
      <p:sp>
        <p:nvSpPr>
          <p:cNvPr id="19" name="Text 17"/>
          <p:cNvSpPr/>
          <p:nvPr/>
        </p:nvSpPr>
        <p:spPr>
          <a:xfrm>
            <a:off x="1371600" y="8758684"/>
            <a:ext cx="11560705"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141414"/>
                </a:solidFill>
                <a:latin typeface="Helvetica" pitchFamily="34" charset="0"/>
                <a:ea typeface="Helvetica" pitchFamily="34" charset="-122"/>
                <a:cs typeface="Helvetica" pitchFamily="34" charset="-120"/>
              </a:rPr>
              <a:t>Ship gate: </a:t>
            </a:r>
            <a:pPr algn="l" indent="0" marL="0">
              <a:lnSpc>
                <a:spcPct val="150000"/>
              </a:lnSpc>
              <a:buNone/>
            </a:pPr>
            <a:r>
              <a:rPr lang="en-US" sz="1950" dirty="0">
                <a:solidFill>
                  <a:srgbClr val="141414"/>
                </a:solidFill>
                <a:latin typeface="Helvetica" pitchFamily="34" charset="0"/>
                <a:ea typeface="Helvetica" pitchFamily="34" charset="-122"/>
                <a:cs typeface="Helvetica" pitchFamily="34" charset="-120"/>
              </a:rPr>
              <a:t>a new adapter deploys only if no evaluation metric regresses and the audit sample passes.</a:t>
            </a:r>
            <a:endParaRPr lang="en-US" sz="1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762000"/>
            <a:ext cx="251018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EVALUATION · 2</a:t>
            </a:r>
            <a:endParaRPr lang="en-US" sz="1800" dirty="0"/>
          </a:p>
        </p:txBody>
      </p:sp>
      <p:sp>
        <p:nvSpPr>
          <p:cNvPr id="3" name="Text 1"/>
          <p:cNvSpPr/>
          <p:nvPr/>
        </p:nvSpPr>
        <p:spPr>
          <a:xfrm>
            <a:off x="1047750" y="1157288"/>
            <a:ext cx="11617501" cy="614139"/>
          </a:xfrm>
          <a:prstGeom prst="rect">
            <a:avLst/>
          </a:prstGeom>
          <a:noFill/>
          <a:ln/>
        </p:spPr>
        <p:txBody>
          <a:bodyPr wrap="square" lIns="25400" tIns="25400" rIns="25400" bIns="25400" rtlCol="0" anchor="t">
            <a:normAutofit/>
          </a:bodyPr>
          <a:lstStyle/>
          <a:p>
            <a:pPr algn="l" indent="0" marL="0">
              <a:lnSpc>
                <a:spcPct val="108000"/>
              </a:lnSpc>
              <a:buNone/>
            </a:pPr>
            <a:r>
              <a:rPr lang="en-US" sz="4200" b="1" spc="-63" kern="0" dirty="0">
                <a:solidFill>
                  <a:srgbClr val="141414"/>
                </a:solidFill>
                <a:latin typeface="Helvetica" pitchFamily="34" charset="0"/>
                <a:ea typeface="Helvetica" pitchFamily="34" charset="-122"/>
                <a:cs typeface="Helvetica" pitchFamily="34" charset="-120"/>
              </a:rPr>
              <a:t>Retrieval Assets and Implementation Stack</a:t>
            </a:r>
            <a:endParaRPr lang="en-US" sz="4200" dirty="0"/>
          </a:p>
        </p:txBody>
      </p:sp>
      <p:sp>
        <p:nvSpPr>
          <p:cNvPr id="4" name="Shape 2"/>
          <p:cNvSpPr/>
          <p:nvPr/>
        </p:nvSpPr>
        <p:spPr>
          <a:xfrm>
            <a:off x="1047750" y="1980977"/>
            <a:ext cx="16192500" cy="19050"/>
          </a:xfrm>
          <a:prstGeom prst="rect">
            <a:avLst/>
          </a:prstGeom>
          <a:solidFill>
            <a:srgbClr val="141414"/>
          </a:solidFill>
          <a:ln/>
        </p:spPr>
      </p:sp>
      <p:sp>
        <p:nvSpPr>
          <p:cNvPr id="5" name="Shape 3"/>
          <p:cNvSpPr/>
          <p:nvPr/>
        </p:nvSpPr>
        <p:spPr>
          <a:xfrm>
            <a:off x="1047750" y="2640583"/>
            <a:ext cx="3562350" cy="23813"/>
          </a:xfrm>
          <a:prstGeom prst="rect">
            <a:avLst/>
          </a:prstGeom>
          <a:solidFill>
            <a:srgbClr val="141414"/>
          </a:solidFill>
          <a:ln/>
        </p:spPr>
      </p:sp>
      <p:sp>
        <p:nvSpPr>
          <p:cNvPr id="6" name="Text 4"/>
          <p:cNvSpPr/>
          <p:nvPr/>
        </p:nvSpPr>
        <p:spPr>
          <a:xfrm>
            <a:off x="1047750" y="2285777"/>
            <a:ext cx="3516821" cy="278606"/>
          </a:xfrm>
          <a:prstGeom prst="rect">
            <a:avLst/>
          </a:prstGeom>
          <a:noFill/>
          <a:ln/>
        </p:spPr>
        <p:txBody>
          <a:bodyPr wrap="square" lIns="25400" tIns="25400" rIns="25400" bIns="25400" rtlCol="0" anchor="ctr">
            <a:normAutofit/>
          </a:bodyPr>
          <a:lstStyle/>
          <a:p>
            <a:pPr algn="l" indent="0" marL="0">
              <a:buNone/>
            </a:pPr>
            <a:r>
              <a:rPr lang="en-US" sz="1725" b="1" spc="86" kern="0" dirty="0">
                <a:solidFill>
                  <a:srgbClr val="141414"/>
                </a:solidFill>
                <a:latin typeface="Helvetica" pitchFamily="34" charset="0"/>
                <a:ea typeface="Helvetica" pitchFamily="34" charset="-122"/>
                <a:cs typeface="Helvetica" pitchFamily="34" charset="-120"/>
              </a:rPr>
              <a:t>ASSET</a:t>
            </a:r>
            <a:endParaRPr lang="en-US" sz="1725" dirty="0"/>
          </a:p>
        </p:txBody>
      </p:sp>
      <p:sp>
        <p:nvSpPr>
          <p:cNvPr id="7" name="Shape 5"/>
          <p:cNvSpPr/>
          <p:nvPr/>
        </p:nvSpPr>
        <p:spPr>
          <a:xfrm>
            <a:off x="4610100" y="2640583"/>
            <a:ext cx="6477000" cy="23813"/>
          </a:xfrm>
          <a:prstGeom prst="rect">
            <a:avLst/>
          </a:prstGeom>
          <a:solidFill>
            <a:srgbClr val="141414"/>
          </a:solidFill>
          <a:ln/>
        </p:spPr>
      </p:sp>
      <p:sp>
        <p:nvSpPr>
          <p:cNvPr id="8" name="Text 6"/>
          <p:cNvSpPr/>
          <p:nvPr/>
        </p:nvSpPr>
        <p:spPr>
          <a:xfrm>
            <a:off x="4762500" y="2285777"/>
            <a:ext cx="6366510" cy="278606"/>
          </a:xfrm>
          <a:prstGeom prst="rect">
            <a:avLst/>
          </a:prstGeom>
          <a:noFill/>
          <a:ln/>
        </p:spPr>
        <p:txBody>
          <a:bodyPr wrap="square" lIns="25400" tIns="25400" rIns="25400" bIns="25400" rtlCol="0" anchor="ctr">
            <a:normAutofit/>
          </a:bodyPr>
          <a:lstStyle/>
          <a:p>
            <a:pPr algn="l" indent="0" marL="0">
              <a:buNone/>
            </a:pPr>
            <a:r>
              <a:rPr lang="en-US" sz="1725" b="1" spc="86" kern="0" dirty="0">
                <a:solidFill>
                  <a:srgbClr val="141414"/>
                </a:solidFill>
                <a:latin typeface="Helvetica" pitchFamily="34" charset="0"/>
                <a:ea typeface="Helvetica" pitchFamily="34" charset="-122"/>
                <a:cs typeface="Helvetica" pitchFamily="34" charset="-120"/>
              </a:rPr>
              <a:t>IMPLEMENTATION</a:t>
            </a:r>
            <a:endParaRPr lang="en-US" sz="1725" dirty="0"/>
          </a:p>
        </p:txBody>
      </p:sp>
      <p:sp>
        <p:nvSpPr>
          <p:cNvPr id="9" name="Shape 7"/>
          <p:cNvSpPr/>
          <p:nvPr/>
        </p:nvSpPr>
        <p:spPr>
          <a:xfrm>
            <a:off x="11087100" y="2640583"/>
            <a:ext cx="6153150" cy="23813"/>
          </a:xfrm>
          <a:prstGeom prst="rect">
            <a:avLst/>
          </a:prstGeom>
          <a:solidFill>
            <a:srgbClr val="141414"/>
          </a:solidFill>
          <a:ln/>
        </p:spPr>
      </p:sp>
      <p:sp>
        <p:nvSpPr>
          <p:cNvPr id="10" name="Text 8"/>
          <p:cNvSpPr/>
          <p:nvPr/>
        </p:nvSpPr>
        <p:spPr>
          <a:xfrm>
            <a:off x="11239500" y="2285777"/>
            <a:ext cx="6185345" cy="278606"/>
          </a:xfrm>
          <a:prstGeom prst="rect">
            <a:avLst/>
          </a:prstGeom>
          <a:noFill/>
          <a:ln/>
        </p:spPr>
        <p:txBody>
          <a:bodyPr wrap="square" lIns="25400" tIns="25400" rIns="25400" bIns="25400" rtlCol="0" anchor="ctr">
            <a:normAutofit/>
          </a:bodyPr>
          <a:lstStyle/>
          <a:p>
            <a:pPr algn="l" indent="0" marL="0">
              <a:buNone/>
            </a:pPr>
            <a:r>
              <a:rPr lang="en-US" sz="1725" b="1" spc="86" kern="0" dirty="0">
                <a:solidFill>
                  <a:srgbClr val="141414"/>
                </a:solidFill>
                <a:latin typeface="Helvetica" pitchFamily="34" charset="0"/>
                <a:ea typeface="Helvetica" pitchFamily="34" charset="-122"/>
                <a:cs typeface="Helvetica" pitchFamily="34" charset="-120"/>
              </a:rPr>
              <a:t>CONSUMERS</a:t>
            </a:r>
            <a:endParaRPr lang="en-US" sz="1725" dirty="0"/>
          </a:p>
        </p:txBody>
      </p:sp>
      <p:sp>
        <p:nvSpPr>
          <p:cNvPr id="11" name="Shape 9"/>
          <p:cNvSpPr/>
          <p:nvPr/>
        </p:nvSpPr>
        <p:spPr>
          <a:xfrm>
            <a:off x="1047750" y="3530129"/>
            <a:ext cx="3562350" cy="14288"/>
          </a:xfrm>
          <a:prstGeom prst="rect">
            <a:avLst/>
          </a:prstGeom>
          <a:solidFill>
            <a:srgbClr val="DAD9D4"/>
          </a:solidFill>
          <a:ln/>
        </p:spPr>
      </p:sp>
      <p:sp>
        <p:nvSpPr>
          <p:cNvPr id="12" name="Text 10"/>
          <p:cNvSpPr/>
          <p:nvPr/>
        </p:nvSpPr>
        <p:spPr>
          <a:xfrm>
            <a:off x="1047750" y="2788221"/>
            <a:ext cx="3516821" cy="656183"/>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Code Graph</a:t>
            </a:r>
            <a:endParaRPr lang="en-US" sz="1800" dirty="0"/>
          </a:p>
        </p:txBody>
      </p:sp>
      <p:sp>
        <p:nvSpPr>
          <p:cNvPr id="13" name="Shape 11"/>
          <p:cNvSpPr/>
          <p:nvPr/>
        </p:nvSpPr>
        <p:spPr>
          <a:xfrm>
            <a:off x="4610100" y="3530129"/>
            <a:ext cx="6477000" cy="14288"/>
          </a:xfrm>
          <a:prstGeom prst="rect">
            <a:avLst/>
          </a:prstGeom>
          <a:solidFill>
            <a:srgbClr val="DAD9D4"/>
          </a:solidFill>
          <a:ln/>
        </p:spPr>
      </p:sp>
      <p:sp>
        <p:nvSpPr>
          <p:cNvPr id="14" name="Text 12"/>
          <p:cNvSpPr/>
          <p:nvPr/>
        </p:nvSpPr>
        <p:spPr>
          <a:xfrm>
            <a:off x="4762500" y="2788221"/>
            <a:ext cx="6366510" cy="656183"/>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41414"/>
                </a:solidFill>
                <a:latin typeface="Helvetica" pitchFamily="34" charset="0"/>
                <a:ea typeface="Helvetica" pitchFamily="34" charset="-122"/>
                <a:cs typeface="Helvetica" pitchFamily="34" charset="-120"/>
              </a:rPr>
              <a:t>codegraph CLI (tree-sitter, Java), per-commit snapshots; exact traversal only, never embeddings</a:t>
            </a:r>
            <a:endParaRPr lang="en-US" sz="1725" dirty="0"/>
          </a:p>
        </p:txBody>
      </p:sp>
      <p:sp>
        <p:nvSpPr>
          <p:cNvPr id="15" name="Shape 13"/>
          <p:cNvSpPr/>
          <p:nvPr/>
        </p:nvSpPr>
        <p:spPr>
          <a:xfrm>
            <a:off x="11087100" y="3530129"/>
            <a:ext cx="6153150" cy="14288"/>
          </a:xfrm>
          <a:prstGeom prst="rect">
            <a:avLst/>
          </a:prstGeom>
          <a:solidFill>
            <a:srgbClr val="DAD9D4"/>
          </a:solidFill>
          <a:ln/>
        </p:spPr>
      </p:sp>
      <p:sp>
        <p:nvSpPr>
          <p:cNvPr id="16" name="Text 14"/>
          <p:cNvSpPr/>
          <p:nvPr/>
        </p:nvSpPr>
        <p:spPr>
          <a:xfrm>
            <a:off x="11239500" y="2788221"/>
            <a:ext cx="6185345" cy="656183"/>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41414"/>
                </a:solidFill>
                <a:latin typeface="Helvetica" pitchFamily="34" charset="0"/>
                <a:ea typeface="Helvetica" pitchFamily="34" charset="-122"/>
                <a:cs typeface="Helvetica" pitchFamily="34" charset="-120"/>
              </a:rPr>
              <a:t>context assembly, Planning, Pruning tool, expectancies, L0 citation checks</a:t>
            </a:r>
            <a:endParaRPr lang="en-US" sz="1725" dirty="0"/>
          </a:p>
        </p:txBody>
      </p:sp>
      <p:sp>
        <p:nvSpPr>
          <p:cNvPr id="17" name="Shape 15"/>
          <p:cNvSpPr/>
          <p:nvPr/>
        </p:nvSpPr>
        <p:spPr>
          <a:xfrm>
            <a:off x="1047750" y="4405387"/>
            <a:ext cx="3562350" cy="14288"/>
          </a:xfrm>
          <a:prstGeom prst="rect">
            <a:avLst/>
          </a:prstGeom>
          <a:solidFill>
            <a:srgbClr val="DAD9D4"/>
          </a:solidFill>
          <a:ln/>
        </p:spPr>
      </p:sp>
      <p:sp>
        <p:nvSpPr>
          <p:cNvPr id="18" name="Text 16"/>
          <p:cNvSpPr/>
          <p:nvPr/>
        </p:nvSpPr>
        <p:spPr>
          <a:xfrm>
            <a:off x="1047750" y="3668241"/>
            <a:ext cx="3516821" cy="651421"/>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codesearch</a:t>
            </a:r>
            <a:endParaRPr lang="en-US" sz="1800" dirty="0"/>
          </a:p>
        </p:txBody>
      </p:sp>
      <p:sp>
        <p:nvSpPr>
          <p:cNvPr id="19" name="Shape 17"/>
          <p:cNvSpPr/>
          <p:nvPr/>
        </p:nvSpPr>
        <p:spPr>
          <a:xfrm>
            <a:off x="4610100" y="4405387"/>
            <a:ext cx="6477000" cy="14288"/>
          </a:xfrm>
          <a:prstGeom prst="rect">
            <a:avLst/>
          </a:prstGeom>
          <a:solidFill>
            <a:srgbClr val="DAD9D4"/>
          </a:solidFill>
          <a:ln/>
        </p:spPr>
      </p:sp>
      <p:sp>
        <p:nvSpPr>
          <p:cNvPr id="20" name="Text 18"/>
          <p:cNvSpPr/>
          <p:nvPr/>
        </p:nvSpPr>
        <p:spPr>
          <a:xfrm>
            <a:off x="4762500" y="3668241"/>
            <a:ext cx="6366510" cy="651421"/>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41414"/>
                </a:solidFill>
                <a:latin typeface="Helvetica" pitchFamily="34" charset="0"/>
                <a:ea typeface="Helvetica" pitchFamily="34" charset="-122"/>
                <a:cs typeface="Helvetica" pitchFamily="34" charset="-120"/>
              </a:rPr>
              <a:t>git show &lt;sha&gt;:&lt;path&gt; — git itself is the index</a:t>
            </a:r>
            <a:endParaRPr lang="en-US" sz="1725" dirty="0"/>
          </a:p>
        </p:txBody>
      </p:sp>
      <p:sp>
        <p:nvSpPr>
          <p:cNvPr id="21" name="Shape 19"/>
          <p:cNvSpPr/>
          <p:nvPr/>
        </p:nvSpPr>
        <p:spPr>
          <a:xfrm>
            <a:off x="11087100" y="4405387"/>
            <a:ext cx="6153150" cy="14288"/>
          </a:xfrm>
          <a:prstGeom prst="rect">
            <a:avLst/>
          </a:prstGeom>
          <a:solidFill>
            <a:srgbClr val="DAD9D4"/>
          </a:solidFill>
          <a:ln/>
        </p:spPr>
      </p:sp>
      <p:sp>
        <p:nvSpPr>
          <p:cNvPr id="22" name="Text 20"/>
          <p:cNvSpPr/>
          <p:nvPr/>
        </p:nvSpPr>
        <p:spPr>
          <a:xfrm>
            <a:off x="11239500" y="3668241"/>
            <a:ext cx="6185345" cy="651421"/>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41414"/>
                </a:solidFill>
                <a:latin typeface="Helvetica" pitchFamily="34" charset="0"/>
                <a:ea typeface="Helvetica" pitchFamily="34" charset="-122"/>
                <a:cs typeface="Helvetica" pitchFamily="34" charset="-120"/>
              </a:rPr>
              <a:t>Interpretation and Pruning lookups; episode sandbox; L0 gates</a:t>
            </a:r>
            <a:endParaRPr lang="en-US" sz="1725" dirty="0"/>
          </a:p>
        </p:txBody>
      </p:sp>
      <p:sp>
        <p:nvSpPr>
          <p:cNvPr id="23" name="Shape 21"/>
          <p:cNvSpPr/>
          <p:nvPr/>
        </p:nvSpPr>
        <p:spPr>
          <a:xfrm>
            <a:off x="1047750" y="5280645"/>
            <a:ext cx="3562350" cy="14288"/>
          </a:xfrm>
          <a:prstGeom prst="rect">
            <a:avLst/>
          </a:prstGeom>
          <a:solidFill>
            <a:srgbClr val="DAD9D4"/>
          </a:solidFill>
          <a:ln/>
        </p:spPr>
      </p:sp>
      <p:sp>
        <p:nvSpPr>
          <p:cNvPr id="24" name="Text 22"/>
          <p:cNvSpPr/>
          <p:nvPr/>
        </p:nvSpPr>
        <p:spPr>
          <a:xfrm>
            <a:off x="1047750" y="4543499"/>
            <a:ext cx="3516821" cy="651421"/>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docsearch / issuesearch</a:t>
            </a:r>
            <a:endParaRPr lang="en-US" sz="1800" dirty="0"/>
          </a:p>
        </p:txBody>
      </p:sp>
      <p:sp>
        <p:nvSpPr>
          <p:cNvPr id="25" name="Shape 23"/>
          <p:cNvSpPr/>
          <p:nvPr/>
        </p:nvSpPr>
        <p:spPr>
          <a:xfrm>
            <a:off x="4610100" y="5280645"/>
            <a:ext cx="6477000" cy="14288"/>
          </a:xfrm>
          <a:prstGeom prst="rect">
            <a:avLst/>
          </a:prstGeom>
          <a:solidFill>
            <a:srgbClr val="DAD9D4"/>
          </a:solidFill>
          <a:ln/>
        </p:spPr>
      </p:sp>
      <p:sp>
        <p:nvSpPr>
          <p:cNvPr id="26" name="Text 24"/>
          <p:cNvSpPr/>
          <p:nvPr/>
        </p:nvSpPr>
        <p:spPr>
          <a:xfrm>
            <a:off x="4762500" y="4543499"/>
            <a:ext cx="6366510" cy="651421"/>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41414"/>
                </a:solidFill>
                <a:latin typeface="Helvetica" pitchFamily="34" charset="0"/>
                <a:ea typeface="Helvetica" pitchFamily="34" charset="-122"/>
                <a:cs typeface="Helvetica" pitchFamily="34" charset="-120"/>
              </a:rPr>
              <a:t>SQLite FTS5 (BM25) + precomputed embeddings (bge-m3), RRF fusion; ADR extraction is human-gated</a:t>
            </a:r>
            <a:endParaRPr lang="en-US" sz="1725" dirty="0"/>
          </a:p>
        </p:txBody>
      </p:sp>
      <p:sp>
        <p:nvSpPr>
          <p:cNvPr id="27" name="Shape 25"/>
          <p:cNvSpPr/>
          <p:nvPr/>
        </p:nvSpPr>
        <p:spPr>
          <a:xfrm>
            <a:off x="11087100" y="5280645"/>
            <a:ext cx="6153150" cy="14288"/>
          </a:xfrm>
          <a:prstGeom prst="rect">
            <a:avLst/>
          </a:prstGeom>
          <a:solidFill>
            <a:srgbClr val="DAD9D4"/>
          </a:solidFill>
          <a:ln/>
        </p:spPr>
      </p:sp>
      <p:sp>
        <p:nvSpPr>
          <p:cNvPr id="28" name="Text 26"/>
          <p:cNvSpPr/>
          <p:nvPr/>
        </p:nvSpPr>
        <p:spPr>
          <a:xfrm>
            <a:off x="11239500" y="4543499"/>
            <a:ext cx="6185345" cy="651421"/>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41414"/>
                </a:solidFill>
                <a:latin typeface="Helvetica" pitchFamily="34" charset="0"/>
                <a:ea typeface="Helvetica" pitchFamily="34" charset="-122"/>
                <a:cs typeface="Helvetica" pitchFamily="34" charset="-120"/>
              </a:rPr>
              <a:t>Interpretation retrieval; judge evidence for design-level findings</a:t>
            </a:r>
            <a:endParaRPr lang="en-US" sz="1725" dirty="0"/>
          </a:p>
        </p:txBody>
      </p:sp>
      <p:sp>
        <p:nvSpPr>
          <p:cNvPr id="29" name="Shape 27"/>
          <p:cNvSpPr/>
          <p:nvPr/>
        </p:nvSpPr>
        <p:spPr>
          <a:xfrm>
            <a:off x="1047750" y="6155903"/>
            <a:ext cx="3562350" cy="14288"/>
          </a:xfrm>
          <a:prstGeom prst="rect">
            <a:avLst/>
          </a:prstGeom>
          <a:solidFill>
            <a:srgbClr val="DAD9D4"/>
          </a:solidFill>
          <a:ln/>
        </p:spPr>
      </p:sp>
      <p:sp>
        <p:nvSpPr>
          <p:cNvPr id="30" name="Text 28"/>
          <p:cNvSpPr/>
          <p:nvPr/>
        </p:nvSpPr>
        <p:spPr>
          <a:xfrm>
            <a:off x="1047750" y="5418758"/>
            <a:ext cx="3516821" cy="651421"/>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Training</a:t>
            </a:r>
            <a:endParaRPr lang="en-US" sz="1800" dirty="0"/>
          </a:p>
        </p:txBody>
      </p:sp>
      <p:sp>
        <p:nvSpPr>
          <p:cNvPr id="31" name="Shape 29"/>
          <p:cNvSpPr/>
          <p:nvPr/>
        </p:nvSpPr>
        <p:spPr>
          <a:xfrm>
            <a:off x="4610100" y="6155903"/>
            <a:ext cx="6477000" cy="14288"/>
          </a:xfrm>
          <a:prstGeom prst="rect">
            <a:avLst/>
          </a:prstGeom>
          <a:solidFill>
            <a:srgbClr val="DAD9D4"/>
          </a:solidFill>
          <a:ln/>
        </p:spPr>
      </p:sp>
      <p:sp>
        <p:nvSpPr>
          <p:cNvPr id="32" name="Text 30"/>
          <p:cNvSpPr/>
          <p:nvPr/>
        </p:nvSpPr>
        <p:spPr>
          <a:xfrm>
            <a:off x="4762500" y="5418758"/>
            <a:ext cx="6366510" cy="651421"/>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41414"/>
                </a:solidFill>
                <a:latin typeface="Helvetica" pitchFamily="34" charset="0"/>
                <a:ea typeface="Helvetica" pitchFamily="34" charset="-122"/>
                <a:cs typeface="Helvetica" pitchFamily="34" charset="-120"/>
              </a:rPr>
              <a:t>vLLM rollouts (guided decoding, same serving path as inference); Unsloth QLoRA for seed SFT + DPO; single GPU</a:t>
            </a:r>
            <a:endParaRPr lang="en-US" sz="1725" dirty="0"/>
          </a:p>
        </p:txBody>
      </p:sp>
      <p:sp>
        <p:nvSpPr>
          <p:cNvPr id="33" name="Shape 31"/>
          <p:cNvSpPr/>
          <p:nvPr/>
        </p:nvSpPr>
        <p:spPr>
          <a:xfrm>
            <a:off x="11087100" y="6155903"/>
            <a:ext cx="6153150" cy="14288"/>
          </a:xfrm>
          <a:prstGeom prst="rect">
            <a:avLst/>
          </a:prstGeom>
          <a:solidFill>
            <a:srgbClr val="DAD9D4"/>
          </a:solidFill>
          <a:ln/>
        </p:spPr>
      </p:sp>
      <p:sp>
        <p:nvSpPr>
          <p:cNvPr id="34" name="Text 32"/>
          <p:cNvSpPr/>
          <p:nvPr/>
        </p:nvSpPr>
        <p:spPr>
          <a:xfrm>
            <a:off x="11239500" y="5418758"/>
            <a:ext cx="6185345" cy="651421"/>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41414"/>
                </a:solidFill>
                <a:latin typeface="Helvetica" pitchFamily="34" charset="0"/>
                <a:ea typeface="Helvetica" pitchFamily="34" charset="-122"/>
                <a:cs typeface="Helvetica" pitchFamily="34" charset="-120"/>
              </a:rPr>
              <a:t>T0 / T1 (T2: Unsloth GRPO)</a:t>
            </a:r>
            <a:endParaRPr lang="en-US" sz="1725" dirty="0"/>
          </a:p>
        </p:txBody>
      </p:sp>
      <p:sp>
        <p:nvSpPr>
          <p:cNvPr id="35" name="Text 33"/>
          <p:cNvSpPr/>
          <p:nvPr/>
        </p:nvSpPr>
        <p:spPr>
          <a:xfrm>
            <a:off x="1047750" y="6294016"/>
            <a:ext cx="3516821" cy="965225"/>
          </a:xfrm>
          <a:prstGeom prst="rect">
            <a:avLst/>
          </a:prstGeom>
          <a:noFill/>
          <a:ln/>
        </p:spPr>
        <p:txBody>
          <a:bodyPr wrap="square" lIns="25400" tIns="25400" rIns="25400" bIns="25400" rtlCol="0" anchor="t">
            <a:normAutofit/>
          </a:bodyPr>
          <a:lstStyle/>
          <a:p>
            <a:pPr algn="l" indent="0" marL="0">
              <a:buNone/>
            </a:pPr>
            <a:r>
              <a:rPr lang="en-US" sz="1800" b="1" dirty="0">
                <a:solidFill>
                  <a:srgbClr val="141414"/>
                </a:solidFill>
                <a:latin typeface="Helvetica" pitchFamily="34" charset="0"/>
                <a:ea typeface="Helvetica" pitchFamily="34" charset="-122"/>
                <a:cs typeface="Helvetica" pitchFamily="34" charset="-120"/>
              </a:rPr>
              <a:t>ETL + pipeline</a:t>
            </a:r>
            <a:endParaRPr lang="en-US" sz="1800" dirty="0"/>
          </a:p>
        </p:txBody>
      </p:sp>
      <p:sp>
        <p:nvSpPr>
          <p:cNvPr id="36" name="Text 34"/>
          <p:cNvSpPr/>
          <p:nvPr/>
        </p:nvSpPr>
        <p:spPr>
          <a:xfrm>
            <a:off x="4762500" y="6294016"/>
            <a:ext cx="6366510" cy="965225"/>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41414"/>
                </a:solidFill>
                <a:latin typeface="Helvetica" pitchFamily="34" charset="0"/>
                <a:ea typeface="Helvetica" pitchFamily="34" charset="-122"/>
                <a:cs typeface="Helvetica" pitchFamily="34" charset="-120"/>
              </a:rPr>
              <a:t>Python + JSONL + Makefile; every stage idempotent; all LLM calls cached in SQLite by prompt hash; agent pipeline in plain Python + Pydantic, no agent framework</a:t>
            </a:r>
            <a:endParaRPr lang="en-US" sz="1725" dirty="0"/>
          </a:p>
        </p:txBody>
      </p:sp>
      <p:sp>
        <p:nvSpPr>
          <p:cNvPr id="37" name="Text 35"/>
          <p:cNvSpPr/>
          <p:nvPr/>
        </p:nvSpPr>
        <p:spPr>
          <a:xfrm>
            <a:off x="11239500" y="6294016"/>
            <a:ext cx="6185345" cy="965225"/>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41414"/>
                </a:solidFill>
                <a:latin typeface="Helvetica" pitchFamily="34" charset="0"/>
                <a:ea typeface="Helvetica" pitchFamily="34" charset="-122"/>
                <a:cs typeface="Helvetica" pitchFamily="34" charset="-120"/>
              </a:rPr>
              <a:t>episode building (s1–s8), inference DAG</a:t>
            </a:r>
            <a:endParaRPr lang="en-US" sz="1725" dirty="0"/>
          </a:p>
        </p:txBody>
      </p:sp>
      <p:sp>
        <p:nvSpPr>
          <p:cNvPr id="38" name="Text 36"/>
          <p:cNvSpPr/>
          <p:nvPr/>
        </p:nvSpPr>
        <p:spPr>
          <a:xfrm>
            <a:off x="1047750" y="7630716"/>
            <a:ext cx="16678275"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55554F"/>
                </a:solidFill>
                <a:latin typeface="Helvetica" pitchFamily="34" charset="0"/>
                <a:ea typeface="Helvetica" pitchFamily="34" charset="-122"/>
                <a:cs typeface="Helvetica" pitchFamily="34" charset="-120"/>
              </a:rPr>
              <a:t>The knowledge/experience boundary of P2 holds under RLAIF: retrieval supplies the situation (fixed-context blocks, sandbox answers, judge evidence); the reward loop distills the judgment into weights.</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2092717"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CONCLUSION</a:t>
            </a:r>
            <a:endParaRPr lang="en-US" sz="1800" dirty="0"/>
          </a:p>
        </p:txBody>
      </p:sp>
      <p:sp>
        <p:nvSpPr>
          <p:cNvPr id="3" name="Text 1"/>
          <p:cNvSpPr/>
          <p:nvPr/>
        </p:nvSpPr>
        <p:spPr>
          <a:xfrm>
            <a:off x="1047750" y="1252538"/>
            <a:ext cx="2799211"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Summary</a:t>
            </a:r>
            <a:endParaRPr lang="en-US" sz="4500" dirty="0"/>
          </a:p>
        </p:txBody>
      </p:sp>
      <p:sp>
        <p:nvSpPr>
          <p:cNvPr id="4" name="Shape 2"/>
          <p:cNvSpPr/>
          <p:nvPr/>
        </p:nvSpPr>
        <p:spPr>
          <a:xfrm>
            <a:off x="1047750" y="2155478"/>
            <a:ext cx="16192500" cy="19050"/>
          </a:xfrm>
          <a:prstGeom prst="rect">
            <a:avLst/>
          </a:prstGeom>
          <a:solidFill>
            <a:srgbClr val="141414"/>
          </a:solidFill>
          <a:ln/>
        </p:spPr>
      </p:sp>
      <p:sp>
        <p:nvSpPr>
          <p:cNvPr id="5" name="Text 3"/>
          <p:cNvSpPr/>
          <p:nvPr/>
        </p:nvSpPr>
        <p:spPr>
          <a:xfrm>
            <a:off x="1047750" y="2660303"/>
            <a:ext cx="49530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41414"/>
                </a:solidFill>
                <a:latin typeface="Helvetica" pitchFamily="34" charset="0"/>
                <a:ea typeface="Helvetica" pitchFamily="34" charset="-122"/>
                <a:cs typeface="Helvetica" pitchFamily="34" charset="-120"/>
              </a:rPr>
              <a:t>1.</a:t>
            </a:r>
            <a:endParaRPr lang="en-US" sz="2100" dirty="0"/>
          </a:p>
        </p:txBody>
      </p:sp>
      <p:sp>
        <p:nvSpPr>
          <p:cNvPr id="6" name="Text 4"/>
          <p:cNvSpPr/>
          <p:nvPr/>
        </p:nvSpPr>
        <p:spPr>
          <a:xfrm>
            <a:off x="1714500" y="2593628"/>
            <a:ext cx="15500985" cy="1750516"/>
          </a:xfrm>
          <a:prstGeom prst="rect">
            <a:avLst/>
          </a:prstGeom>
          <a:noFill/>
          <a:ln/>
        </p:spPr>
        <p:txBody>
          <a:bodyPr wrap="square" lIns="25400" tIns="25400" rIns="25400" bIns="25400" rtlCol="0" anchor="t">
            <a:normAutofit/>
          </a:bodyPr>
          <a:lstStyle/>
          <a:p>
            <a:pPr algn="l" indent="0" marL="0">
              <a:lnSpc>
                <a:spcPct val="155000"/>
              </a:lnSpc>
              <a:buNone/>
            </a:pPr>
            <a:r>
              <a:rPr lang="en-US" sz="2175" dirty="0">
                <a:solidFill>
                  <a:srgbClr val="141414"/>
                </a:solidFill>
                <a:latin typeface="Helvetica" pitchFamily="34" charset="0"/>
                <a:ea typeface="Helvetica" pitchFamily="34" charset="-122"/>
                <a:cs typeface="Helvetica" pitchFamily="34" charset="-120"/>
              </a:rPr>
              <a:t>Review expertise is not one capability. Following CRDM/RPD, it decomposes into knowledge (current project facts), experience (the pattern index that fires during recognition and verification), and procedure (the review process). The system injects each through the mechanism suited to its properties: retrieval, trained weights, and fixed program logic respectively.</a:t>
            </a:r>
            <a:endParaRPr lang="en-US" sz="2175" dirty="0"/>
          </a:p>
        </p:txBody>
      </p:sp>
      <p:sp>
        <p:nvSpPr>
          <p:cNvPr id="7" name="Text 5"/>
          <p:cNvSpPr/>
          <p:nvPr/>
        </p:nvSpPr>
        <p:spPr>
          <a:xfrm>
            <a:off x="1047750" y="4677519"/>
            <a:ext cx="49530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41414"/>
                </a:solidFill>
                <a:latin typeface="Helvetica" pitchFamily="34" charset="0"/>
                <a:ea typeface="Helvetica" pitchFamily="34" charset="-122"/>
                <a:cs typeface="Helvetica" pitchFamily="34" charset="-120"/>
              </a:rPr>
              <a:t>2.</a:t>
            </a:r>
            <a:endParaRPr lang="en-US" sz="2100" dirty="0"/>
          </a:p>
        </p:txBody>
      </p:sp>
      <p:sp>
        <p:nvSpPr>
          <p:cNvPr id="8" name="Text 6"/>
          <p:cNvSpPr/>
          <p:nvPr/>
        </p:nvSpPr>
        <p:spPr>
          <a:xfrm>
            <a:off x="1714500" y="4610844"/>
            <a:ext cx="15500985" cy="1322412"/>
          </a:xfrm>
          <a:prstGeom prst="rect">
            <a:avLst/>
          </a:prstGeom>
          <a:noFill/>
          <a:ln/>
        </p:spPr>
        <p:txBody>
          <a:bodyPr wrap="square" lIns="25400" tIns="25400" rIns="25400" bIns="25400" rtlCol="0" anchor="t">
            <a:normAutofit/>
          </a:bodyPr>
          <a:lstStyle/>
          <a:p>
            <a:pPr algn="l" indent="0" marL="0">
              <a:lnSpc>
                <a:spcPct val="155000"/>
              </a:lnSpc>
              <a:buNone/>
            </a:pPr>
            <a:r>
              <a:rPr lang="en-US" sz="2175" dirty="0">
                <a:solidFill>
                  <a:srgbClr val="141414"/>
                </a:solidFill>
                <a:latin typeface="Helvetica" pitchFamily="34" charset="0"/>
                <a:ea typeface="Helvetica" pitchFamily="34" charset="-122"/>
                <a:cs typeface="Helvetica" pitchFamily="34" charset="-120"/>
              </a:rPr>
              <a:t>The architecture mirrors the observed decision process: one orientation pass producing an interpretation and expectancies, then an unrolled analytical loop in which a no-tool Drafting agent implements recognition and a bounded-tool Pruning agent implements mental simulation.</a:t>
            </a:r>
            <a:endParaRPr lang="en-US" sz="2175" dirty="0"/>
          </a:p>
        </p:txBody>
      </p:sp>
      <p:sp>
        <p:nvSpPr>
          <p:cNvPr id="9" name="Text 7"/>
          <p:cNvSpPr/>
          <p:nvPr/>
        </p:nvSpPr>
        <p:spPr>
          <a:xfrm>
            <a:off x="1047750" y="6266631"/>
            <a:ext cx="49530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41414"/>
                </a:solidFill>
                <a:latin typeface="Helvetica" pitchFamily="34" charset="0"/>
                <a:ea typeface="Helvetica" pitchFamily="34" charset="-122"/>
                <a:cs typeface="Helvetica" pitchFamily="34" charset="-120"/>
              </a:rPr>
              <a:t>3.</a:t>
            </a:r>
            <a:endParaRPr lang="en-US" sz="2100" dirty="0"/>
          </a:p>
        </p:txBody>
      </p:sp>
      <p:sp>
        <p:nvSpPr>
          <p:cNvPr id="10" name="Text 8"/>
          <p:cNvSpPr/>
          <p:nvPr/>
        </p:nvSpPr>
        <p:spPr>
          <a:xfrm>
            <a:off x="1714500" y="6199956"/>
            <a:ext cx="15500985" cy="1750516"/>
          </a:xfrm>
          <a:prstGeom prst="rect">
            <a:avLst/>
          </a:prstGeom>
          <a:noFill/>
          <a:ln/>
        </p:spPr>
        <p:txBody>
          <a:bodyPr wrap="square" lIns="25400" tIns="25400" rIns="25400" bIns="25400" rtlCol="0" anchor="t">
            <a:normAutofit/>
          </a:bodyPr>
          <a:lstStyle/>
          <a:p>
            <a:pPr algn="l" indent="0" marL="0">
              <a:lnSpc>
                <a:spcPct val="155000"/>
              </a:lnSpc>
              <a:buNone/>
            </a:pPr>
            <a:r>
              <a:rPr lang="en-US" sz="2175" dirty="0">
                <a:solidFill>
                  <a:srgbClr val="141414"/>
                </a:solidFill>
                <a:latin typeface="Helvetica" pitchFamily="34" charset="0"/>
                <a:ea typeface="Helvetica" pitchFamily="34" charset="-122"/>
                <a:cs typeface="Helvetica" pitchFamily="34" charset="-120"/>
              </a:rPr>
              <a:t>Experience is acquired the way RPD says humans acquire it: by acting and receiving feedback. The Review Gym replays the project's review history as an environment; a three-layer reward (verifiable gates, historical agreement, calibrated grounded judge) scores rollouts; iterated offline DPO distills the result into a per-project LoRA — with measurable guardrails at every layer.</a:t>
            </a:r>
            <a:endParaRPr lang="en-US" sz="2175" dirty="0"/>
          </a:p>
        </p:txBody>
      </p:sp>
      <p:sp>
        <p:nvSpPr>
          <p:cNvPr id="11" name="Text 9"/>
          <p:cNvSpPr/>
          <p:nvPr/>
        </p:nvSpPr>
        <p:spPr>
          <a:xfrm>
            <a:off x="1047750" y="8369573"/>
            <a:ext cx="16187738"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55554F"/>
                </a:solidFill>
                <a:latin typeface="Helvetica" pitchFamily="34" charset="0"/>
                <a:ea typeface="Helvetica" pitchFamily="34" charset="-122"/>
                <a:cs typeface="Helvetica" pitchFamily="34" charset="-120"/>
              </a:rPr>
              <a:t>Open questions (design doc, Appendix A) include reward weights and DPO margins, the judge agreement threshold, the precision of the fuzzy known-issue matcher, and Pruning mixture ratios; contingency plans exist for RLAIF instability and codegraph precision.</a:t>
            </a:r>
            <a:endParaRPr lang="en-US" sz="1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1047750" y="838200"/>
            <a:ext cx="1607478"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8A8A86"/>
                </a:solidFill>
                <a:latin typeface="Helvetica" pitchFamily="34" charset="0"/>
                <a:ea typeface="Helvetica" pitchFamily="34" charset="-122"/>
                <a:cs typeface="Helvetica" pitchFamily="34" charset="-120"/>
              </a:rPr>
              <a:t>APPENDIX</a:t>
            </a:r>
            <a:endParaRPr lang="en-US" sz="1800" dirty="0"/>
          </a:p>
        </p:txBody>
      </p:sp>
      <p:sp>
        <p:nvSpPr>
          <p:cNvPr id="3" name="Text 1"/>
          <p:cNvSpPr/>
          <p:nvPr/>
        </p:nvSpPr>
        <p:spPr>
          <a:xfrm>
            <a:off x="1047750" y="1252538"/>
            <a:ext cx="3295501" cy="655290"/>
          </a:xfrm>
          <a:prstGeom prst="rect">
            <a:avLst/>
          </a:prstGeom>
          <a:noFill/>
          <a:ln/>
        </p:spPr>
        <p:txBody>
          <a:bodyPr wrap="square" lIns="25400" tIns="25400" rIns="25400" bIns="25400" rtlCol="0" anchor="t">
            <a:normAutofit/>
          </a:bodyPr>
          <a:lstStyle/>
          <a:p>
            <a:pPr algn="l" indent="0" marL="0">
              <a:lnSpc>
                <a:spcPct val="108000"/>
              </a:lnSpc>
              <a:buNone/>
            </a:pPr>
            <a:r>
              <a:rPr lang="en-US" sz="4500" b="1" spc="-67" kern="0" dirty="0">
                <a:solidFill>
                  <a:srgbClr val="141414"/>
                </a:solidFill>
                <a:latin typeface="Helvetica" pitchFamily="34" charset="0"/>
                <a:ea typeface="Helvetica" pitchFamily="34" charset="-122"/>
                <a:cs typeface="Helvetica" pitchFamily="34" charset="-120"/>
              </a:rPr>
              <a:t>References</a:t>
            </a:r>
            <a:endParaRPr lang="en-US" sz="4500" dirty="0"/>
          </a:p>
        </p:txBody>
      </p:sp>
      <p:sp>
        <p:nvSpPr>
          <p:cNvPr id="4" name="Shape 2"/>
          <p:cNvSpPr/>
          <p:nvPr/>
        </p:nvSpPr>
        <p:spPr>
          <a:xfrm>
            <a:off x="1047750" y="2155478"/>
            <a:ext cx="16192500" cy="19050"/>
          </a:xfrm>
          <a:prstGeom prst="rect">
            <a:avLst/>
          </a:prstGeom>
          <a:solidFill>
            <a:srgbClr val="141414"/>
          </a:solidFill>
          <a:ln/>
        </p:spPr>
      </p:sp>
      <p:sp>
        <p:nvSpPr>
          <p:cNvPr id="5" name="Text 3"/>
          <p:cNvSpPr/>
          <p:nvPr/>
        </p:nvSpPr>
        <p:spPr>
          <a:xfrm>
            <a:off x="1047750" y="2593628"/>
            <a:ext cx="609600" cy="776287"/>
          </a:xfrm>
          <a:prstGeom prst="rect">
            <a:avLst/>
          </a:prstGeom>
          <a:noFill/>
          <a:ln/>
        </p:spPr>
        <p:txBody>
          <a:bodyPr wrap="square" lIns="25400" tIns="25400" rIns="25400" bIns="25400" rtlCol="0" anchor="t">
            <a:normAutofit/>
          </a:bodyPr>
          <a:lstStyle/>
          <a:p>
            <a:pPr algn="l" indent="0" marL="0">
              <a:lnSpc>
                <a:spcPct val="155000"/>
              </a:lnSpc>
              <a:buNone/>
            </a:pPr>
            <a:r>
              <a:rPr lang="en-US" sz="1875" b="1" dirty="0">
                <a:solidFill>
                  <a:srgbClr val="141414"/>
                </a:solidFill>
                <a:latin typeface="Helvetica" pitchFamily="34" charset="0"/>
                <a:ea typeface="Helvetica" pitchFamily="34" charset="-122"/>
                <a:cs typeface="Helvetica" pitchFamily="34" charset="-120"/>
              </a:rPr>
              <a:t>[1]</a:t>
            </a:r>
            <a:endParaRPr lang="en-US" sz="1875" dirty="0"/>
          </a:p>
        </p:txBody>
      </p:sp>
      <p:sp>
        <p:nvSpPr>
          <p:cNvPr id="6" name="Text 4"/>
          <p:cNvSpPr/>
          <p:nvPr/>
        </p:nvSpPr>
        <p:spPr>
          <a:xfrm>
            <a:off x="1809750" y="2593628"/>
            <a:ext cx="15402878" cy="776287"/>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Heander, E., Söderberg, E., &amp; Rydenfält, C. (2025). </a:t>
            </a:r>
            <a:pPr algn="l" indent="0" marL="0">
              <a:lnSpc>
                <a:spcPct val="155000"/>
              </a:lnSpc>
              <a:buNone/>
            </a:pPr>
            <a:r>
              <a:rPr lang="en-US" sz="1875" i="1" dirty="0">
                <a:solidFill>
                  <a:srgbClr val="141414"/>
                </a:solidFill>
                <a:latin typeface="Helvetica" pitchFamily="34" charset="0"/>
                <a:ea typeface="Helvetica" pitchFamily="34" charset="-122"/>
                <a:cs typeface="Helvetica" pitchFamily="34" charset="-120"/>
              </a:rPr>
              <a:t>Understanding Code Review Decisions: A Recognition-Primed Decision Model Perspective (CRDM) </a:t>
            </a:r>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 arXiv:2507.09637.</a:t>
            </a:r>
            <a:endParaRPr lang="en-US" sz="1875" dirty="0"/>
          </a:p>
        </p:txBody>
      </p:sp>
      <p:sp>
        <p:nvSpPr>
          <p:cNvPr id="7" name="Text 5"/>
          <p:cNvSpPr/>
          <p:nvPr/>
        </p:nvSpPr>
        <p:spPr>
          <a:xfrm>
            <a:off x="1047750" y="3560415"/>
            <a:ext cx="609600" cy="776287"/>
          </a:xfrm>
          <a:prstGeom prst="rect">
            <a:avLst/>
          </a:prstGeom>
          <a:noFill/>
          <a:ln/>
        </p:spPr>
        <p:txBody>
          <a:bodyPr wrap="square" lIns="25400" tIns="25400" rIns="25400" bIns="25400" rtlCol="0" anchor="t">
            <a:normAutofit/>
          </a:bodyPr>
          <a:lstStyle/>
          <a:p>
            <a:pPr algn="l" indent="0" marL="0">
              <a:lnSpc>
                <a:spcPct val="155000"/>
              </a:lnSpc>
              <a:buNone/>
            </a:pPr>
            <a:r>
              <a:rPr lang="en-US" sz="1875" b="1" dirty="0">
                <a:solidFill>
                  <a:srgbClr val="141414"/>
                </a:solidFill>
                <a:latin typeface="Helvetica" pitchFamily="34" charset="0"/>
                <a:ea typeface="Helvetica" pitchFamily="34" charset="-122"/>
                <a:cs typeface="Helvetica" pitchFamily="34" charset="-120"/>
              </a:rPr>
              <a:t>[2]</a:t>
            </a:r>
            <a:endParaRPr lang="en-US" sz="1875" dirty="0"/>
          </a:p>
        </p:txBody>
      </p:sp>
      <p:sp>
        <p:nvSpPr>
          <p:cNvPr id="8" name="Text 6"/>
          <p:cNvSpPr/>
          <p:nvPr/>
        </p:nvSpPr>
        <p:spPr>
          <a:xfrm>
            <a:off x="1809750" y="3560415"/>
            <a:ext cx="15402878" cy="776287"/>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Klein, G. (1993). </a:t>
            </a:r>
            <a:pPr algn="l" indent="0" marL="0">
              <a:lnSpc>
                <a:spcPct val="155000"/>
              </a:lnSpc>
              <a:buNone/>
            </a:pPr>
            <a:r>
              <a:rPr lang="en-US" sz="1875" i="1" dirty="0">
                <a:solidFill>
                  <a:srgbClr val="141414"/>
                </a:solidFill>
                <a:latin typeface="Helvetica" pitchFamily="34" charset="0"/>
                <a:ea typeface="Helvetica" pitchFamily="34" charset="-122"/>
                <a:cs typeface="Helvetica" pitchFamily="34" charset="-120"/>
              </a:rPr>
              <a:t>A Recognition-Primed Decision (RPD) Model of Rapid Decision Making </a:t>
            </a:r>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 In Decision Making in Action: Models and Methods. Ablex.</a:t>
            </a:r>
            <a:endParaRPr lang="en-US" sz="1875" dirty="0"/>
          </a:p>
        </p:txBody>
      </p:sp>
      <p:sp>
        <p:nvSpPr>
          <p:cNvPr id="9" name="Text 7"/>
          <p:cNvSpPr/>
          <p:nvPr/>
        </p:nvSpPr>
        <p:spPr>
          <a:xfrm>
            <a:off x="1047750" y="4527203"/>
            <a:ext cx="609600" cy="407194"/>
          </a:xfrm>
          <a:prstGeom prst="rect">
            <a:avLst/>
          </a:prstGeom>
          <a:noFill/>
          <a:ln/>
        </p:spPr>
        <p:txBody>
          <a:bodyPr wrap="square" lIns="25400" tIns="25400" rIns="25400" bIns="25400" rtlCol="0" anchor="t">
            <a:normAutofit/>
          </a:bodyPr>
          <a:lstStyle/>
          <a:p>
            <a:pPr algn="l" indent="0" marL="0">
              <a:lnSpc>
                <a:spcPct val="155000"/>
              </a:lnSpc>
              <a:buNone/>
            </a:pPr>
            <a:r>
              <a:rPr lang="en-US" sz="1875" b="1" dirty="0">
                <a:solidFill>
                  <a:srgbClr val="141414"/>
                </a:solidFill>
                <a:latin typeface="Helvetica" pitchFamily="34" charset="0"/>
                <a:ea typeface="Helvetica" pitchFamily="34" charset="-122"/>
                <a:cs typeface="Helvetica" pitchFamily="34" charset="-120"/>
              </a:rPr>
              <a:t>[3]</a:t>
            </a:r>
            <a:endParaRPr lang="en-US" sz="1875" dirty="0"/>
          </a:p>
        </p:txBody>
      </p:sp>
      <p:sp>
        <p:nvSpPr>
          <p:cNvPr id="10" name="Text 8"/>
          <p:cNvSpPr/>
          <p:nvPr/>
        </p:nvSpPr>
        <p:spPr>
          <a:xfrm>
            <a:off x="1809750" y="4527203"/>
            <a:ext cx="14409346" cy="407194"/>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Rafailov, R., et al. (2023). </a:t>
            </a:r>
            <a:pPr algn="l" indent="0" marL="0">
              <a:lnSpc>
                <a:spcPct val="155000"/>
              </a:lnSpc>
              <a:buNone/>
            </a:pPr>
            <a:r>
              <a:rPr lang="en-US" sz="1875" i="1" dirty="0">
                <a:solidFill>
                  <a:srgbClr val="141414"/>
                </a:solidFill>
                <a:latin typeface="Helvetica" pitchFamily="34" charset="0"/>
                <a:ea typeface="Helvetica" pitchFamily="34" charset="-122"/>
                <a:cs typeface="Helvetica" pitchFamily="34" charset="-120"/>
              </a:rPr>
              <a:t>Direct Preference Optimization: Your Language Model is Secretly a Reward Model</a:t>
            </a:r>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 NeurIPS 2023.</a:t>
            </a:r>
            <a:endParaRPr lang="en-US" sz="1875" dirty="0"/>
          </a:p>
        </p:txBody>
      </p:sp>
      <p:sp>
        <p:nvSpPr>
          <p:cNvPr id="11" name="Text 9"/>
          <p:cNvSpPr/>
          <p:nvPr/>
        </p:nvSpPr>
        <p:spPr>
          <a:xfrm>
            <a:off x="1047750" y="5124896"/>
            <a:ext cx="609600" cy="407194"/>
          </a:xfrm>
          <a:prstGeom prst="rect">
            <a:avLst/>
          </a:prstGeom>
          <a:noFill/>
          <a:ln/>
        </p:spPr>
        <p:txBody>
          <a:bodyPr wrap="square" lIns="25400" tIns="25400" rIns="25400" bIns="25400" rtlCol="0" anchor="t">
            <a:normAutofit/>
          </a:bodyPr>
          <a:lstStyle/>
          <a:p>
            <a:pPr algn="l" indent="0" marL="0">
              <a:lnSpc>
                <a:spcPct val="155000"/>
              </a:lnSpc>
              <a:buNone/>
            </a:pPr>
            <a:r>
              <a:rPr lang="en-US" sz="1875" b="1" dirty="0">
                <a:solidFill>
                  <a:srgbClr val="141414"/>
                </a:solidFill>
                <a:latin typeface="Helvetica" pitchFamily="34" charset="0"/>
                <a:ea typeface="Helvetica" pitchFamily="34" charset="-122"/>
                <a:cs typeface="Helvetica" pitchFamily="34" charset="-120"/>
              </a:rPr>
              <a:t>[4]</a:t>
            </a:r>
            <a:endParaRPr lang="en-US" sz="1875" dirty="0"/>
          </a:p>
        </p:txBody>
      </p:sp>
      <p:sp>
        <p:nvSpPr>
          <p:cNvPr id="12" name="Text 10"/>
          <p:cNvSpPr/>
          <p:nvPr/>
        </p:nvSpPr>
        <p:spPr>
          <a:xfrm>
            <a:off x="1809750" y="5124896"/>
            <a:ext cx="14225171" cy="407194"/>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Lee, H., et al. (2023). </a:t>
            </a:r>
            <a:pPr algn="l" indent="0" marL="0">
              <a:lnSpc>
                <a:spcPct val="155000"/>
              </a:lnSpc>
              <a:buNone/>
            </a:pPr>
            <a:r>
              <a:rPr lang="en-US" sz="1875" i="1" dirty="0">
                <a:solidFill>
                  <a:srgbClr val="141414"/>
                </a:solidFill>
                <a:latin typeface="Helvetica" pitchFamily="34" charset="0"/>
                <a:ea typeface="Helvetica" pitchFamily="34" charset="-122"/>
                <a:cs typeface="Helvetica" pitchFamily="34" charset="-120"/>
              </a:rPr>
              <a:t>RLAIF: Scaling Reinforcement Learning from Human Feedback with AI Feedback</a:t>
            </a:r>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 arXiv:2309.00267.</a:t>
            </a:r>
            <a:endParaRPr lang="en-US" sz="1875" dirty="0"/>
          </a:p>
        </p:txBody>
      </p:sp>
      <p:sp>
        <p:nvSpPr>
          <p:cNvPr id="13" name="Text 11"/>
          <p:cNvSpPr/>
          <p:nvPr/>
        </p:nvSpPr>
        <p:spPr>
          <a:xfrm>
            <a:off x="1047750" y="5722590"/>
            <a:ext cx="609600" cy="776287"/>
          </a:xfrm>
          <a:prstGeom prst="rect">
            <a:avLst/>
          </a:prstGeom>
          <a:noFill/>
          <a:ln/>
        </p:spPr>
        <p:txBody>
          <a:bodyPr wrap="square" lIns="25400" tIns="25400" rIns="25400" bIns="25400" rtlCol="0" anchor="t">
            <a:normAutofit/>
          </a:bodyPr>
          <a:lstStyle/>
          <a:p>
            <a:pPr algn="l" indent="0" marL="0">
              <a:lnSpc>
                <a:spcPct val="155000"/>
              </a:lnSpc>
              <a:buNone/>
            </a:pPr>
            <a:r>
              <a:rPr lang="en-US" sz="1875" b="1" dirty="0">
                <a:solidFill>
                  <a:srgbClr val="141414"/>
                </a:solidFill>
                <a:latin typeface="Helvetica" pitchFamily="34" charset="0"/>
                <a:ea typeface="Helvetica" pitchFamily="34" charset="-122"/>
                <a:cs typeface="Helvetica" pitchFamily="34" charset="-120"/>
              </a:rPr>
              <a:t>[5]</a:t>
            </a:r>
            <a:endParaRPr lang="en-US" sz="1875" dirty="0"/>
          </a:p>
        </p:txBody>
      </p:sp>
      <p:sp>
        <p:nvSpPr>
          <p:cNvPr id="14" name="Text 12"/>
          <p:cNvSpPr/>
          <p:nvPr/>
        </p:nvSpPr>
        <p:spPr>
          <a:xfrm>
            <a:off x="1809750" y="5722590"/>
            <a:ext cx="15402878" cy="776287"/>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Shao, Z., et al. (2024). </a:t>
            </a:r>
            <a:pPr algn="l" indent="0" marL="0">
              <a:lnSpc>
                <a:spcPct val="155000"/>
              </a:lnSpc>
              <a:buNone/>
            </a:pPr>
            <a:r>
              <a:rPr lang="en-US" sz="1875" i="1" dirty="0">
                <a:solidFill>
                  <a:srgbClr val="141414"/>
                </a:solidFill>
                <a:latin typeface="Helvetica" pitchFamily="34" charset="0"/>
                <a:ea typeface="Helvetica" pitchFamily="34" charset="-122"/>
                <a:cs typeface="Helvetica" pitchFamily="34" charset="-120"/>
              </a:rPr>
              <a:t>DeepSeekMath: Pushing the Limits of Mathematical Reasoning in Open Language Models </a:t>
            </a:r>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(GRPO). arXiv:2402.03300.</a:t>
            </a:r>
            <a:endParaRPr lang="en-US" sz="1875" dirty="0"/>
          </a:p>
        </p:txBody>
      </p:sp>
      <p:sp>
        <p:nvSpPr>
          <p:cNvPr id="15" name="Text 13"/>
          <p:cNvSpPr/>
          <p:nvPr/>
        </p:nvSpPr>
        <p:spPr>
          <a:xfrm>
            <a:off x="1047750" y="6689378"/>
            <a:ext cx="609600" cy="407194"/>
          </a:xfrm>
          <a:prstGeom prst="rect">
            <a:avLst/>
          </a:prstGeom>
          <a:noFill/>
          <a:ln/>
        </p:spPr>
        <p:txBody>
          <a:bodyPr wrap="square" lIns="25400" tIns="25400" rIns="25400" bIns="25400" rtlCol="0" anchor="t">
            <a:normAutofit/>
          </a:bodyPr>
          <a:lstStyle/>
          <a:p>
            <a:pPr algn="l" indent="0" marL="0">
              <a:lnSpc>
                <a:spcPct val="155000"/>
              </a:lnSpc>
              <a:buNone/>
            </a:pPr>
            <a:r>
              <a:rPr lang="en-US" sz="1875" b="1" dirty="0">
                <a:solidFill>
                  <a:srgbClr val="141414"/>
                </a:solidFill>
                <a:latin typeface="Helvetica" pitchFamily="34" charset="0"/>
                <a:ea typeface="Helvetica" pitchFamily="34" charset="-122"/>
                <a:cs typeface="Helvetica" pitchFamily="34" charset="-120"/>
              </a:rPr>
              <a:t>[6]</a:t>
            </a:r>
            <a:endParaRPr lang="en-US" sz="1875" dirty="0"/>
          </a:p>
        </p:txBody>
      </p:sp>
      <p:sp>
        <p:nvSpPr>
          <p:cNvPr id="16" name="Text 14"/>
          <p:cNvSpPr/>
          <p:nvPr/>
        </p:nvSpPr>
        <p:spPr>
          <a:xfrm>
            <a:off x="1809750" y="6689378"/>
            <a:ext cx="11168933" cy="407194"/>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Hu, E., et al. (2021). </a:t>
            </a:r>
            <a:pPr algn="l" indent="0" marL="0">
              <a:lnSpc>
                <a:spcPct val="155000"/>
              </a:lnSpc>
              <a:buNone/>
            </a:pPr>
            <a:r>
              <a:rPr lang="en-US" sz="1875" i="1" dirty="0">
                <a:solidFill>
                  <a:srgbClr val="141414"/>
                </a:solidFill>
                <a:latin typeface="Helvetica" pitchFamily="34" charset="0"/>
                <a:ea typeface="Helvetica" pitchFamily="34" charset="-122"/>
                <a:cs typeface="Helvetica" pitchFamily="34" charset="-120"/>
              </a:rPr>
              <a:t>LoRA: Low-Rank Adaptation of Large Language Models</a:t>
            </a:r>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 arXiv:2106.09685.</a:t>
            </a:r>
            <a:endParaRPr lang="en-US" sz="1875" dirty="0"/>
          </a:p>
        </p:txBody>
      </p:sp>
      <p:sp>
        <p:nvSpPr>
          <p:cNvPr id="17" name="Text 15"/>
          <p:cNvSpPr/>
          <p:nvPr/>
        </p:nvSpPr>
        <p:spPr>
          <a:xfrm>
            <a:off x="1047750" y="7287071"/>
            <a:ext cx="609600" cy="407194"/>
          </a:xfrm>
          <a:prstGeom prst="rect">
            <a:avLst/>
          </a:prstGeom>
          <a:noFill/>
          <a:ln/>
        </p:spPr>
        <p:txBody>
          <a:bodyPr wrap="square" lIns="25400" tIns="25400" rIns="25400" bIns="25400" rtlCol="0" anchor="t">
            <a:normAutofit/>
          </a:bodyPr>
          <a:lstStyle/>
          <a:p>
            <a:pPr algn="l" indent="0" marL="0">
              <a:lnSpc>
                <a:spcPct val="155000"/>
              </a:lnSpc>
              <a:buNone/>
            </a:pPr>
            <a:r>
              <a:rPr lang="en-US" sz="1875" b="1" dirty="0">
                <a:solidFill>
                  <a:srgbClr val="141414"/>
                </a:solidFill>
                <a:latin typeface="Helvetica" pitchFamily="34" charset="0"/>
                <a:ea typeface="Helvetica" pitchFamily="34" charset="-122"/>
                <a:cs typeface="Helvetica" pitchFamily="34" charset="-120"/>
              </a:rPr>
              <a:t>[7]</a:t>
            </a:r>
            <a:endParaRPr lang="en-US" sz="1875" dirty="0"/>
          </a:p>
        </p:txBody>
      </p:sp>
      <p:sp>
        <p:nvSpPr>
          <p:cNvPr id="18" name="Text 16"/>
          <p:cNvSpPr/>
          <p:nvPr/>
        </p:nvSpPr>
        <p:spPr>
          <a:xfrm>
            <a:off x="1809750" y="7287071"/>
            <a:ext cx="10463503" cy="407194"/>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Dettmers, T., et al. (2023). </a:t>
            </a:r>
            <a:pPr algn="l" indent="0" marL="0">
              <a:lnSpc>
                <a:spcPct val="155000"/>
              </a:lnSpc>
              <a:buNone/>
            </a:pPr>
            <a:r>
              <a:rPr lang="en-US" sz="1875" i="1" dirty="0">
                <a:solidFill>
                  <a:srgbClr val="141414"/>
                </a:solidFill>
                <a:latin typeface="Helvetica" pitchFamily="34" charset="0"/>
                <a:ea typeface="Helvetica" pitchFamily="34" charset="-122"/>
                <a:cs typeface="Helvetica" pitchFamily="34" charset="-120"/>
              </a:rPr>
              <a:t>QLoRA: Efficient Finetuning of Quantized LLMs</a:t>
            </a:r>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 NeurIPS 2023.</a:t>
            </a:r>
            <a:endParaRPr lang="en-US" sz="1875" dirty="0"/>
          </a:p>
        </p:txBody>
      </p:sp>
      <p:sp>
        <p:nvSpPr>
          <p:cNvPr id="19" name="Text 17"/>
          <p:cNvSpPr/>
          <p:nvPr/>
        </p:nvSpPr>
        <p:spPr>
          <a:xfrm>
            <a:off x="1047750" y="7884765"/>
            <a:ext cx="609600" cy="407194"/>
          </a:xfrm>
          <a:prstGeom prst="rect">
            <a:avLst/>
          </a:prstGeom>
          <a:noFill/>
          <a:ln/>
        </p:spPr>
        <p:txBody>
          <a:bodyPr wrap="square" lIns="25400" tIns="25400" rIns="25400" bIns="25400" rtlCol="0" anchor="t">
            <a:normAutofit/>
          </a:bodyPr>
          <a:lstStyle/>
          <a:p>
            <a:pPr algn="l" indent="0" marL="0">
              <a:lnSpc>
                <a:spcPct val="155000"/>
              </a:lnSpc>
              <a:buNone/>
            </a:pPr>
            <a:r>
              <a:rPr lang="en-US" sz="1875" b="1" dirty="0">
                <a:solidFill>
                  <a:srgbClr val="141414"/>
                </a:solidFill>
                <a:latin typeface="Helvetica" pitchFamily="34" charset="0"/>
                <a:ea typeface="Helvetica" pitchFamily="34" charset="-122"/>
                <a:cs typeface="Helvetica" pitchFamily="34" charset="-120"/>
              </a:rPr>
              <a:t>[8]</a:t>
            </a:r>
            <a:endParaRPr lang="en-US" sz="1875" dirty="0"/>
          </a:p>
        </p:txBody>
      </p:sp>
      <p:sp>
        <p:nvSpPr>
          <p:cNvPr id="20" name="Text 18"/>
          <p:cNvSpPr/>
          <p:nvPr/>
        </p:nvSpPr>
        <p:spPr>
          <a:xfrm>
            <a:off x="1809750" y="7884765"/>
            <a:ext cx="14530001" cy="407194"/>
          </a:xfrm>
          <a:prstGeom prst="rect">
            <a:avLst/>
          </a:prstGeom>
          <a:noFill/>
          <a:ln/>
        </p:spPr>
        <p:txBody>
          <a:bodyPr wrap="square" lIns="25400" tIns="25400" rIns="25400" bIns="25400" rtlCol="0" anchor="t">
            <a:normAutofit/>
          </a:bodyPr>
          <a:lstStyle/>
          <a:p>
            <a:pPr algn="l" indent="0" marL="0">
              <a:lnSpc>
                <a:spcPct val="155000"/>
              </a:lnSpc>
              <a:buNone/>
            </a:pPr>
            <a:r>
              <a:rPr lang="en-US" sz="1875" dirty="0">
                <a:solidFill>
                  <a:srgbClr val="141414"/>
                </a:solidFill>
                <a:latin typeface="Helvetica" pitchFamily="34" charset="0"/>
                <a:ea typeface="Helvetica" pitchFamily="34" charset="-122"/>
                <a:cs typeface="Helvetica" pitchFamily="34" charset="-120"/>
              </a:rPr>
              <a:t>Cultivar v2.1 design document (this project): decision-model-grounded architecture, Review Gym, and RLAIF learning design.</a:t>
            </a:r>
            <a:endParaRPr lang="en-US" sz="18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2026-07-10T04:46:16Z</dcterms:created>
  <dcterms:modified xsi:type="dcterms:W3CDTF">2026-07-10T04:46:16Z</dcterms:modified>
</cp:coreProperties>
</file>